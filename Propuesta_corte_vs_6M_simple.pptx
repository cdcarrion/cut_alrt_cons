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uesta" id="{1791af27-67d9-17d3-6bb9-43dda090da22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Mismas filas, mismos meses y misma escala. La columna con borde dorado es diciembre.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celda es el valor con 6M menos el valor con corte, en veces la PI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4241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10424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</a:rPr>
              <a:t>Banco Pichincha · Riesgo de Crédito · Segmentación por saldo en cuentas del pasivo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Opción 1 · Corte frente a 6M, lado a lado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326880" y="36576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7E0"/>
          </a:solidFill>
          <a:ln w="15875">
            <a:solidFill>
              <a:srgbClr val="F2B0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326880" y="365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52"/>
                </a:solidFill>
              </a:rPr>
              <a:t>DATOS ILUSTRATIVOS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52"/>
                </a:solidFill>
              </a:rPr>
              <a:t>Saldo a la fecha de corte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52"/>
                </a:solidFill>
              </a:rPr>
              <a:t>Promedio de 6 meses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4406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· perfil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 · 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 ·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·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8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274820" y="1645920"/>
            <a:ext cx="342900" cy="3200400"/>
          </a:xfrm>
          <a:prstGeom prst="rect">
            <a:avLst/>
          </a:prstGeom>
          <a:ln w="31750">
            <a:solidFill>
              <a:srgbClr val="F2B01E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45920"/>
          <a:ext cx="54406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· perfil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 · 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 ·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·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8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9989820" y="1645920"/>
            <a:ext cx="342900" cy="3200400"/>
          </a:xfrm>
          <a:prstGeom prst="rect">
            <a:avLst/>
          </a:prstGeom>
          <a:ln w="31750">
            <a:solidFill>
              <a:srgbClr val="F2B01E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48640" y="5029200"/>
            <a:ext cx="1188720" cy="365760"/>
          </a:xfrm>
          <a:prstGeom prst="rect">
            <a:avLst/>
          </a:prstGeom>
          <a:solidFill>
            <a:srgbClr val="E4F2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&lt; 1×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828800" y="5029200"/>
            <a:ext cx="1188720" cy="365760"/>
          </a:xfrm>
          <a:prstGeom prst="rect">
            <a:avLst/>
          </a:prstGeom>
          <a:solidFill>
            <a:srgbClr val="FFF1C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1× a 2×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108960" y="5029200"/>
            <a:ext cx="1188720" cy="365760"/>
          </a:xfrm>
          <a:prstGeom prst="rect">
            <a:avLst/>
          </a:prstGeom>
          <a:solidFill>
            <a:srgbClr val="F8C9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2× a 3×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389120" y="5029200"/>
            <a:ext cx="1188720" cy="365760"/>
          </a:xfrm>
          <a:prstGeom prst="rect">
            <a:avLst/>
          </a:prstGeom>
          <a:solidFill>
            <a:srgbClr val="E5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≥ 3×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852160" y="5029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0"/>
                </a:solidFill>
              </a:rPr>
              <a:t>Valor = pérdida incurrida de la celda ÷ PI global del perfil.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solidFill>
            <a:srgbClr val="F2F4F9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Qué mirar: </a:t>
            </a:r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</a:rPr>
              <a:t>en el corte, diciembre cae en todas las filas (saldo inflado, menos malos observados). Con 6M esa columna se parece más a las vecinas.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Opción 2 · Diferencia entre 6M y corte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326880" y="36576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7E0"/>
          </a:solidFill>
          <a:ln w="15875">
            <a:solidFill>
              <a:srgbClr val="F2B0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326880" y="365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52"/>
                </a:solidFill>
              </a:rPr>
              <a:t>DATOS ILUSTRATIVOS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· perfil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 · 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 ·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·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8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26680" y="1280160"/>
            <a:ext cx="777240" cy="3200400"/>
          </a:xfrm>
          <a:prstGeom prst="rect">
            <a:avLst/>
          </a:prstGeom>
          <a:ln w="31750">
            <a:solidFill>
              <a:srgbClr val="F2B01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663440"/>
            <a:ext cx="1188720" cy="365760"/>
          </a:xfrm>
          <a:prstGeom prst="rect">
            <a:avLst/>
          </a:prstGeom>
          <a:solidFill>
            <a:srgbClr val="5B8F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≤ −1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828800" y="4663440"/>
            <a:ext cx="1188720" cy="365760"/>
          </a:xfrm>
          <a:prstGeom prst="rect">
            <a:avLst/>
          </a:prstGeom>
          <a:solidFill>
            <a:srgbClr val="BCD3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−1 a −0.3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108960" y="4663440"/>
            <a:ext cx="1188720" cy="365760"/>
          </a:xfrm>
          <a:prstGeom prst="rect">
            <a:avLst/>
          </a:prstGeom>
          <a:solidFill>
            <a:srgbClr val="F4F5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≈ 0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389120" y="4663440"/>
            <a:ext cx="1188720" cy="365760"/>
          </a:xfrm>
          <a:prstGeom prst="rect">
            <a:avLst/>
          </a:prstGeom>
          <a:solidFill>
            <a:srgbClr val="F8C9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+0.3 a +1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4663440"/>
            <a:ext cx="1188720" cy="365760"/>
          </a:xfrm>
          <a:prstGeom prst="rect">
            <a:avLst/>
          </a:prstGeom>
          <a:solidFill>
            <a:srgbClr val="E5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≥ +1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4663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0"/>
                </a:solidFill>
              </a:rPr>
              <a:t>Azul: el 6M marca menos riesgo que el corte. Rojo: marca más.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solidFill>
            <a:srgbClr val="F2F4F9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Qué mirar: </a:t>
            </a:r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</a:rPr>
              <a:t>la columna de diciembre concentra las diferencias grandes, que es donde el promedio corrige al corte. Una diferencia mezcla el riesgo de la celda y los clientes que cambian de nivel; se complementa con la matriz de migración.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corte frente a 6M</dc:title>
  <dc:subject>Maqueta</dc:subject>
  <dc:creator>Riesgo de Crédito</dc:creator>
  <cp:lastModifiedBy>Riesgo de Crédito</cp:lastModifiedBy>
  <cp:revision>1</cp:revision>
  <dcterms:created xsi:type="dcterms:W3CDTF">2026-10-16T04:43:19Z</dcterms:created>
  <dcterms:modified xsi:type="dcterms:W3CDTF">2026-10-16T04:43:19Z</dcterms:modified>
</cp:coreProperties>
</file>