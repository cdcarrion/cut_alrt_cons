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16dc4ba6-4d45-2a9c-a8b2-e3206ec92446}">
          <p14:sldIdLst>
            <p14:sldId id="256"/>
          </p14:sldIdLst>
        </p14:section>
        <p14:section name="Contexto" id="{8439c3e0-1308-4769-0903-3853d9dd9d80}">
          <p14:sldIdLst>
            <p14:sldId id="257"/>
            <p14:sldId id="258"/>
            <p14:sldId id="259"/>
          </p14:sldIdLst>
        </p14:section>
        <p14:section name="Selección de variable" id="{dfa169b6-ab4c-33b9-4957-462cc628cb79}">
          <p14:sldIdLst>
            <p14:sldId id="260"/>
            <p14:sldId id="261"/>
            <p14:sldId id="262"/>
          </p14:sldIdLst>
        </p14:section>
        <p14:section name="Árboles 6M" id="{3ac0c803-bbb0-6e92-461b-4a4225e7515c}">
          <p14:sldIdLst>
            <p14:sldId id="263"/>
            <p14:sldId id="264"/>
            <p14:sldId id="265"/>
            <p14:sldId id="266"/>
          </p14:sldIdLst>
        </p14:section>
        <p14:section name="Validación" id="{a98110ba-5899-b49b-9ca9-33b14b6d54ad}">
          <p14:sldIdLst>
            <p14:sldId id="267"/>
            <p14:sldId id="268"/>
            <p14:sldId id="269"/>
            <p14:sldId id="270"/>
            <p14:sldId id="271"/>
            <p14:sldId id="272"/>
          </p14:sldIdLst>
        </p14:section>
        <p14:section name="Conclusiones" id="{3384eca7-c6b8-14bd-b464-c4c2ade57576}">
          <p14:sldIdLst>
            <p14:sldId id="273"/>
            <p14:sldId id="274"/>
          </p14:sldIdLst>
        </p14:section>
        <p14:section name="Anexos" id="{a6bd469c-7b11-8e08-9b4f-bd3956f3c62f}">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Con experiencia (CE)</a:t>
            </a:r>
          </a:p>
        </c:rich>
      </c:tx>
      <c:layout/>
      <c:overlay val="0"/>
    </c:title>
    <c:autoTitleDeleted val="0"/>
    <c:plotArea>
      <c:layout/>
      <c:barChart>
        <c:barDir val="bar"/>
        <c:grouping val="clustered"/>
        <c:varyColors val="0"/>
        <c:ser>
          <c:idx val="0"/>
          <c:order val="0"/>
          <c:tx>
            <c:strRef>
              <c:f>Sheet1!$B$1</c:f>
              <c:strCache>
                <c:ptCount val="1"/>
                <c:pt idx="0">
                  <c:v>IV</c:v>
                </c:pt>
              </c:strCache>
            </c:strRef>
          </c:tx>
          <c:spPr>
            <a:solidFill>
              <a:srgbClr val="B7BDCC"/>
            </a:solidFill>
            <a:effectLst/>
          </c:spPr>
          <c:invertIfNegative val="0"/>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B7BDCC"/>
              </a:solidFill>
              <a:effectLst/>
            </c:spPr>
          </c:dPt>
          <c:dPt>
            <c:idx val="1"/>
            <c:invertIfNegative val="0"/>
            <c:bubble3D val="0"/>
            <c:spPr>
              <a:solidFill>
                <a:srgbClr val="1F2A52"/>
              </a:solidFill>
              <a:effectLst/>
            </c:spPr>
          </c:dPt>
          <c:dPt>
            <c:idx val="2"/>
            <c:invertIfNegative val="0"/>
            <c:bubble3D val="0"/>
            <c:spPr>
              <a:solidFill>
                <a:srgbClr val="8E9AAF"/>
              </a:solidFill>
              <a:effectLst/>
            </c:spPr>
          </c:dPt>
          <c:dPt>
            <c:idx val="3"/>
            <c:invertIfNegative val="0"/>
            <c:bubble3D val="0"/>
            <c:spPr>
              <a:solidFill>
                <a:srgbClr val="1F2A52"/>
              </a:solidFill>
              <a:effectLst/>
            </c:spPr>
          </c:dPt>
          <c:dPt>
            <c:idx val="4"/>
            <c:invertIfNegative val="0"/>
            <c:bubble3D val="0"/>
            <c:spPr>
              <a:solidFill>
                <a:srgbClr val="1F2A52"/>
              </a:solidFill>
              <a:effectLst/>
            </c:spPr>
          </c:dPt>
          <c:dPt>
            <c:idx val="5"/>
            <c:invertIfNegative val="0"/>
            <c:bubble3D val="0"/>
            <c:spPr>
              <a:solidFill>
                <a:srgbClr val="8E9AAF"/>
              </a:solidFill>
              <a:effectLst/>
            </c:spPr>
          </c:dPt>
          <c:cat>
            <c:multiLvlStrRef>
              <c:f>Sheet1!$A$2:$A$7</c:f>
              <c:multiLvlStrCache>
                <c:ptCount val="6"/>
                <c:lvl>
                  <c:pt idx="0">
                    <c:v>avgSaldoCuentasU12M</c:v>
                  </c:pt>
                  <c:pt idx="1">
                    <c:v>avgSaldoCuentasU6M</c:v>
                  </c:pt>
                  <c:pt idx="2">
                    <c:v>antiguedadBuroSBS</c:v>
                  </c:pt>
                  <c:pt idx="3">
                    <c:v>avgSaldoCuentasU3M</c:v>
                  </c:pt>
                  <c:pt idx="4">
                    <c:v>saldoCuentas (corte)</c:v>
                  </c:pt>
                  <c:pt idx="5">
                    <c:v>scoreBuro</c:v>
                  </c:pt>
                </c:lvl>
              </c:multiLvlStrCache>
            </c:multiLvlStrRef>
          </c:cat>
          <c:val>
            <c:numRef>
              <c:f>Sheet1!$B$2:$B$7</c:f>
              <c:numCache>
                <c:formatCode>General</c:formatCode>
                <c:ptCount val="6"/>
                <c:pt idx="0">
                  <c:v>0.043</c:v>
                </c:pt>
                <c:pt idx="1">
                  <c:v>0.071</c:v>
                </c:pt>
                <c:pt idx="2">
                  <c:v>0.072</c:v>
                </c:pt>
                <c:pt idx="3">
                  <c:v>0.122</c:v>
                </c:pt>
                <c:pt idx="4">
                  <c:v>0.165</c:v>
                </c:pt>
                <c:pt idx="5">
                  <c:v>0.281</c:v>
                </c:pt>
              </c:numCache>
            </c:numRef>
          </c:val>
        </c:ser>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35"/>
        </c:scaling>
        <c:delete val="0"/>
        <c:axPos val="b"/>
        <c:majorGridlines>
          <c:spPr>
            <a:ln w="6350" cap="flat">
              <a:solidFill>
                <a:srgbClr val="D5DA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Sin experiencia (SE)</a:t>
            </a:r>
          </a:p>
        </c:rich>
      </c:tx>
      <c:layout/>
      <c:overlay val="0"/>
    </c:title>
    <c:autoTitleDeleted val="0"/>
    <c:plotArea>
      <c:layout/>
      <c:barChart>
        <c:barDir val="bar"/>
        <c:grouping val="clustered"/>
        <c:varyColors val="0"/>
        <c:ser>
          <c:idx val="0"/>
          <c:order val="0"/>
          <c:tx>
            <c:strRef>
              <c:f>Sheet1!$B$1</c:f>
              <c:strCache>
                <c:ptCount val="1"/>
                <c:pt idx="0">
                  <c:v>IV</c:v>
                </c:pt>
              </c:strCache>
            </c:strRef>
          </c:tx>
          <c:spPr>
            <a:solidFill>
              <a:srgbClr val="8E9AAF"/>
            </a:solidFill>
            <a:effectLst/>
          </c:spPr>
          <c:invertIfNegative val="0"/>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8E9AAF"/>
              </a:solidFill>
              <a:effectLst/>
            </c:spPr>
          </c:dPt>
          <c:dPt>
            <c:idx val="1"/>
            <c:invertIfNegative val="0"/>
            <c:bubble3D val="0"/>
            <c:spPr>
              <a:solidFill>
                <a:srgbClr val="8E9AAF"/>
              </a:solidFill>
              <a:effectLst/>
            </c:spPr>
          </c:dPt>
          <c:dPt>
            <c:idx val="2"/>
            <c:invertIfNegative val="0"/>
            <c:bubble3D val="0"/>
            <c:spPr>
              <a:solidFill>
                <a:srgbClr val="B7BDCC"/>
              </a:solidFill>
              <a:effectLst/>
            </c:spPr>
          </c:dPt>
          <c:dPt>
            <c:idx val="3"/>
            <c:invertIfNegative val="0"/>
            <c:bubble3D val="0"/>
            <c:spPr>
              <a:solidFill>
                <a:srgbClr val="1F2A52"/>
              </a:solidFill>
              <a:effectLst/>
            </c:spPr>
          </c:dPt>
          <c:dPt>
            <c:idx val="4"/>
            <c:invertIfNegative val="0"/>
            <c:bubble3D val="0"/>
            <c:spPr>
              <a:solidFill>
                <a:srgbClr val="1F2A52"/>
              </a:solidFill>
              <a:effectLst/>
            </c:spPr>
          </c:dPt>
          <c:dPt>
            <c:idx val="5"/>
            <c:invertIfNegative val="0"/>
            <c:bubble3D val="0"/>
            <c:spPr>
              <a:solidFill>
                <a:srgbClr val="1F2A52"/>
              </a:solidFill>
              <a:effectLst/>
            </c:spPr>
          </c:dPt>
          <c:cat>
            <c:multiLvlStrRef>
              <c:f>Sheet1!$A$2:$A$7</c:f>
              <c:multiLvlStrCache>
                <c:ptCount val="6"/>
                <c:lvl>
                  <c:pt idx="0">
                    <c:v>antiguedadBuroSBS</c:v>
                  </c:pt>
                  <c:pt idx="1">
                    <c:v>scoreBuro</c:v>
                  </c:pt>
                  <c:pt idx="2">
                    <c:v>avgSaldoCuentasU12M</c:v>
                  </c:pt>
                  <c:pt idx="3">
                    <c:v>avgSaldoCuentasU6M</c:v>
                  </c:pt>
                  <c:pt idx="4">
                    <c:v>avgSaldoCuentasU3M</c:v>
                  </c:pt>
                  <c:pt idx="5">
                    <c:v>saldoCuentas (corte)</c:v>
                  </c:pt>
                </c:lvl>
              </c:multiLvlStrCache>
            </c:multiLvlStrRef>
          </c:cat>
          <c:val>
            <c:numRef>
              <c:f>Sheet1!$B$2:$B$7</c:f>
              <c:numCache>
                <c:formatCode>General</c:formatCode>
                <c:ptCount val="6"/>
                <c:pt idx="0">
                  <c:v>0.039</c:v>
                </c:pt>
                <c:pt idx="1">
                  <c:v>0.177</c:v>
                </c:pt>
                <c:pt idx="2">
                  <c:v>0.235</c:v>
                </c:pt>
                <c:pt idx="3">
                  <c:v>0.248</c:v>
                </c:pt>
                <c:pt idx="4">
                  <c:v>0.267</c:v>
                </c:pt>
                <c:pt idx="5">
                  <c:v>0.287</c:v>
                </c:pt>
              </c:numCache>
            </c:numRef>
          </c:val>
        </c:ser>
        <c:dLbls>
          <c:numFmt formatCode="0.000"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35"/>
        </c:scaling>
        <c:delete val="0"/>
        <c:axPos val="b"/>
        <c:majorGridlines>
          <c:spPr>
            <a:ln w="6350" cap="flat">
              <a:solidFill>
                <a:srgbClr val="D5DA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evento por bin</a:t>
            </a:r>
          </a:p>
        </c:rich>
      </c:tx>
      <c:layout/>
      <c:overlay val="0"/>
    </c:title>
    <c:autoTitleDeleted val="0"/>
    <c:plotArea>
      <c:layout/>
      <c:barChart>
        <c:barDir val="col"/>
        <c:grouping val="clustered"/>
        <c:varyColors val="0"/>
        <c:ser>
          <c:idx val="0"/>
          <c:order val="0"/>
          <c:tx>
            <c:strRef>
              <c:f>Sheet1!$B$1</c:f>
              <c:strCache>
                <c:ptCount val="1"/>
                <c:pt idx="0">
                  <c:v>Tasa de evento</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Sheet1!$A$2:$A$7</c:f>
              <c:multiLvlStrCache>
                <c:ptCount val="6"/>
                <c:lvl>
                  <c:pt idx="0">
                    <c:v>&lt; 67.44</c:v>
                  </c:pt>
                  <c:pt idx="1">
                    <c:v>67.44 – 275.64</c:v>
                  </c:pt>
                  <c:pt idx="2">
                    <c:v>275.64 – 495</c:v>
                  </c:pt>
                  <c:pt idx="3">
                    <c:v>495 – 1,119.13</c:v>
                  </c:pt>
                  <c:pt idx="4">
                    <c:v>≥ 1,119.13</c:v>
                  </c:pt>
                  <c:pt idx="5">
                    <c:v>Missing</c:v>
                  </c:pt>
                </c:lvl>
              </c:multiLvlStrCache>
            </c:multiLvlStrRef>
          </c:cat>
          <c:val>
            <c:numRef>
              <c:f>Sheet1!$B$2:$B$7</c:f>
              <c:numCache>
                <c:formatCode>General</c:formatCode>
                <c:ptCount val="6"/>
                <c:pt idx="0">
                  <c:v>4.72</c:v>
                </c:pt>
                <c:pt idx="1">
                  <c:v>3.48</c:v>
                </c:pt>
                <c:pt idx="2">
                  <c:v>2.98</c:v>
                </c:pt>
                <c:pt idx="3">
                  <c:v>2.47</c:v>
                </c:pt>
                <c:pt idx="4">
                  <c:v>2.26</c:v>
                </c:pt>
                <c:pt idx="5">
                  <c:v>3.02</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evento por bin</a:t>
            </a:r>
          </a:p>
        </c:rich>
      </c:tx>
      <c:layout/>
      <c:overlay val="0"/>
    </c:title>
    <c:autoTitleDeleted val="0"/>
    <c:plotArea>
      <c:layout/>
      <c:barChart>
        <c:barDir val="col"/>
        <c:grouping val="clustered"/>
        <c:varyColors val="0"/>
        <c:ser>
          <c:idx val="0"/>
          <c:order val="0"/>
          <c:tx>
            <c:strRef>
              <c:f>Sheet1!$B$1</c:f>
              <c:strCache>
                <c:ptCount val="1"/>
                <c:pt idx="0">
                  <c:v>Tasa de evento</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Sheet1!$A$2:$A$7</c:f>
              <c:multiLvlStrCache>
                <c:ptCount val="6"/>
                <c:lvl>
                  <c:pt idx="0">
                    <c:v>&lt; 53.10</c:v>
                  </c:pt>
                  <c:pt idx="1">
                    <c:v>53.10 – 166.43</c:v>
                  </c:pt>
                  <c:pt idx="2">
                    <c:v>166.43 – 302.54</c:v>
                  </c:pt>
                  <c:pt idx="3">
                    <c:v>302.54 – 865.21</c:v>
                  </c:pt>
                  <c:pt idx="4">
                    <c:v>≥ 865.21</c:v>
                  </c:pt>
                  <c:pt idx="5">
                    <c:v>Missing</c:v>
                  </c:pt>
                </c:lvl>
              </c:multiLvlStrCache>
            </c:multiLvlStrRef>
          </c:cat>
          <c:val>
            <c:numRef>
              <c:f>Sheet1!$B$2:$B$7</c:f>
              <c:numCache>
                <c:formatCode>General</c:formatCode>
                <c:ptCount val="6"/>
                <c:pt idx="0">
                  <c:v>7.87</c:v>
                </c:pt>
                <c:pt idx="1">
                  <c:v>4.34</c:v>
                </c:pt>
                <c:pt idx="2">
                  <c:v>3.6</c:v>
                </c:pt>
                <c:pt idx="3">
                  <c:v>2.74</c:v>
                </c:pt>
                <c:pt idx="4">
                  <c:v>2.12</c:v>
                </c:pt>
                <c:pt idx="5">
                  <c:v>9.37</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malo</a:t>
            </a:r>
          </a:p>
        </c:rich>
      </c:tx>
      <c:layout/>
      <c:overlay val="0"/>
    </c:title>
    <c:autoTitleDeleted val="0"/>
    <c:plotArea>
      <c:layout/>
      <c:barChart>
        <c:barDir val="bar"/>
        <c:grouping val="clustered"/>
        <c:varyColors val="0"/>
        <c:ser>
          <c:idx val="0"/>
          <c:order val="0"/>
          <c:tx>
            <c:strRef>
              <c:f>Sheet1!$B$1</c:f>
              <c:strCache>
                <c:ptCount val="1"/>
                <c:pt idx="0">
                  <c:v>Tasa de malo</c:v>
                </c:pt>
              </c:strCache>
            </c:strRef>
          </c:tx>
          <c:spPr>
            <a:solidFill>
              <a:srgbClr val="D64545"/>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EE8A4B"/>
              </a:solidFill>
              <a:effectLst/>
            </c:spPr>
          </c:dPt>
          <c:dPt>
            <c:idx val="2"/>
            <c:invertIfNegative val="0"/>
            <c:bubble3D val="0"/>
            <c:spPr>
              <a:solidFill>
                <a:srgbClr val="D64545"/>
              </a:solidFill>
              <a:effectLst/>
            </c:spPr>
          </c:dPt>
          <c:dPt>
            <c:idx val="3"/>
            <c:invertIfNegative val="0"/>
            <c:bubble3D val="0"/>
            <c:spPr>
              <a:solidFill>
                <a:srgbClr val="EE8A4B"/>
              </a:solidFill>
              <a:effectLst/>
            </c:spPr>
          </c:dPt>
          <c:dPt>
            <c:idx val="4"/>
            <c:invertIfNegative val="0"/>
            <c:bubble3D val="0"/>
            <c:spPr>
              <a:solidFill>
                <a:srgbClr val="F2CF4E"/>
              </a:solidFill>
              <a:effectLst/>
            </c:spPr>
          </c:dPt>
          <c:dPt>
            <c:idx val="5"/>
            <c:invertIfNegative val="0"/>
            <c:bubble3D val="0"/>
            <c:spPr>
              <a:solidFill>
                <a:srgbClr val="9CC55B"/>
              </a:solidFill>
              <a:effectLst/>
            </c:spPr>
          </c:dPt>
          <c:dPt>
            <c:idx val="6"/>
            <c:invertIfNegative val="0"/>
            <c:bubble3D val="0"/>
            <c:spPr>
              <a:solidFill>
                <a:srgbClr val="F2CF4E"/>
              </a:solidFill>
              <a:effectLst/>
            </c:spPr>
          </c:dPt>
          <c:dPt>
            <c:idx val="7"/>
            <c:invertIfNegative val="0"/>
            <c:bubble3D val="0"/>
            <c:spPr>
              <a:solidFill>
                <a:srgbClr val="9CC55B"/>
              </a:solidFill>
              <a:effectLst/>
            </c:spPr>
          </c:dPt>
          <c:dPt>
            <c:idx val="8"/>
            <c:invertIfNegative val="0"/>
            <c:bubble3D val="0"/>
            <c:spPr>
              <a:solidFill>
                <a:srgbClr val="3FA34D"/>
              </a:solidFill>
              <a:effectLst/>
            </c:spPr>
          </c:dPt>
          <c:dPt>
            <c:idx val="9"/>
            <c:invertIfNegative val="0"/>
            <c:bubble3D val="0"/>
            <c:spPr>
              <a:solidFill>
                <a:srgbClr val="3FA34D"/>
              </a:solidFill>
              <a:effectLst/>
            </c:spPr>
          </c:dPt>
          <c:dPt>
            <c:idx val="10"/>
            <c:invertIfNegative val="0"/>
            <c:bubble3D val="0"/>
            <c:spPr>
              <a:solidFill>
                <a:srgbClr val="3FA34D"/>
              </a:solidFill>
              <a:effectLst/>
            </c:spPr>
          </c:dPt>
          <c:cat>
            <c:multiLvlStrRef>
              <c:f>Sheet1!$A$2:$A$12</c:f>
              <c:multiLvlStrCache>
                <c:ptCount val="11"/>
                <c:lvl>
                  <c:pt idx="0">
                    <c:v>C_1</c:v>
                  </c:pt>
                  <c:pt idx="1">
                    <c:v>C_3</c:v>
                  </c:pt>
                  <c:pt idx="2">
                    <c:v>C_2</c:v>
                  </c:pt>
                  <c:pt idx="3">
                    <c:v>C_4</c:v>
                  </c:pt>
                  <c:pt idx="4">
                    <c:v>C_5</c:v>
                  </c:pt>
                  <c:pt idx="5">
                    <c:v>C_6</c:v>
                  </c:pt>
                  <c:pt idx="6">
                    <c:v>C_7</c:v>
                  </c:pt>
                  <c:pt idx="7">
                    <c:v>C_8</c:v>
                  </c:pt>
                  <c:pt idx="8">
                    <c:v>C_9</c:v>
                  </c:pt>
                  <c:pt idx="9">
                    <c:v>C_10</c:v>
                  </c:pt>
                  <c:pt idx="10">
                    <c:v>C_11</c:v>
                  </c:pt>
                </c:lvl>
              </c:multiLvlStrCache>
            </c:multiLvlStrRef>
          </c:cat>
          <c:val>
            <c:numRef>
              <c:f>Sheet1!$B$2:$B$12</c:f>
              <c:numCache>
                <c:formatCode>General</c:formatCode>
                <c:ptCount val="11"/>
                <c:pt idx="0">
                  <c:v>7.3</c:v>
                </c:pt>
                <c:pt idx="1">
                  <c:v>5.05</c:v>
                </c:pt>
                <c:pt idx="2">
                  <c:v>4.93</c:v>
                </c:pt>
                <c:pt idx="3">
                  <c:v>3.65</c:v>
                </c:pt>
                <c:pt idx="4">
                  <c:v>2.85</c:v>
                </c:pt>
                <c:pt idx="5">
                  <c:v>2.7</c:v>
                </c:pt>
                <c:pt idx="6">
                  <c:v>2.4</c:v>
                </c:pt>
                <c:pt idx="7">
                  <c:v>1.97</c:v>
                </c:pt>
                <c:pt idx="8">
                  <c:v>1.63</c:v>
                </c:pt>
                <c:pt idx="9">
                  <c:v>1.27</c:v>
                </c:pt>
                <c:pt idx="10">
                  <c:v>0.8</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9"/>
        </c:scaling>
        <c:delete val="0"/>
        <c:axPos val="b"/>
        <c:majorGridlines>
          <c:spPr>
            <a:ln w="6350" cap="flat">
              <a:solidFill>
                <a:srgbClr val="D5DAE6"/>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Tasa de malo</a:t>
            </a:r>
          </a:p>
        </c:rich>
      </c:tx>
      <c:layout/>
      <c:overlay val="0"/>
    </c:title>
    <c:autoTitleDeleted val="0"/>
    <c:plotArea>
      <c:layout/>
      <c:barChart>
        <c:barDir val="bar"/>
        <c:grouping val="clustered"/>
        <c:varyColors val="0"/>
        <c:ser>
          <c:idx val="0"/>
          <c:order val="0"/>
          <c:tx>
            <c:strRef>
              <c:f>Sheet1!$B$1</c:f>
              <c:strCache>
                <c:ptCount val="1"/>
                <c:pt idx="0">
                  <c:v>Tasa de malo</c:v>
                </c:pt>
              </c:strCache>
            </c:strRef>
          </c:tx>
          <c:spPr>
            <a:solidFill>
              <a:srgbClr val="D64545"/>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EE8A4B"/>
              </a:solidFill>
              <a:effectLst/>
            </c:spPr>
          </c:dPt>
          <c:dPt>
            <c:idx val="2"/>
            <c:invertIfNegative val="0"/>
            <c:bubble3D val="0"/>
            <c:spPr>
              <a:solidFill>
                <a:srgbClr val="F2CF4E"/>
              </a:solidFill>
              <a:effectLst/>
            </c:spPr>
          </c:dPt>
          <c:dPt>
            <c:idx val="3"/>
            <c:invertIfNegative val="0"/>
            <c:bubble3D val="0"/>
            <c:spPr>
              <a:solidFill>
                <a:srgbClr val="F2CF4E"/>
              </a:solidFill>
              <a:effectLst/>
            </c:spPr>
          </c:dPt>
          <c:dPt>
            <c:idx val="4"/>
            <c:invertIfNegative val="0"/>
            <c:bubble3D val="0"/>
            <c:spPr>
              <a:solidFill>
                <a:srgbClr val="9CC55B"/>
              </a:solidFill>
              <a:effectLst/>
            </c:spPr>
          </c:dPt>
          <c:dPt>
            <c:idx val="5"/>
            <c:invertIfNegative val="0"/>
            <c:bubble3D val="0"/>
            <c:spPr>
              <a:solidFill>
                <a:srgbClr val="9CC55B"/>
              </a:solidFill>
              <a:effectLst/>
            </c:spPr>
          </c:dPt>
          <c:dPt>
            <c:idx val="6"/>
            <c:invertIfNegative val="0"/>
            <c:bubble3D val="0"/>
            <c:spPr>
              <a:solidFill>
                <a:srgbClr val="9CC55B"/>
              </a:solidFill>
              <a:effectLst/>
            </c:spPr>
          </c:dPt>
          <c:dPt>
            <c:idx val="7"/>
            <c:invertIfNegative val="0"/>
            <c:bubble3D val="0"/>
            <c:spPr>
              <a:solidFill>
                <a:srgbClr val="9CC55B"/>
              </a:solidFill>
              <a:effectLst/>
            </c:spPr>
          </c:dPt>
          <c:dPt>
            <c:idx val="8"/>
            <c:invertIfNegative val="0"/>
            <c:bubble3D val="0"/>
            <c:spPr>
              <a:solidFill>
                <a:srgbClr val="3FA34D"/>
              </a:solidFill>
              <a:effectLst/>
            </c:spPr>
          </c:dPt>
          <c:cat>
            <c:multiLvlStrRef>
              <c:f>Sheet1!$A$2:$A$10</c:f>
              <c:multiLvlStrCache>
                <c:ptCount val="9"/>
                <c:lvl>
                  <c:pt idx="0">
                    <c:v>C_1</c:v>
                  </c:pt>
                  <c:pt idx="1">
                    <c:v>C_2</c:v>
                  </c:pt>
                  <c:pt idx="2">
                    <c:v>C_3</c:v>
                  </c:pt>
                  <c:pt idx="3">
                    <c:v>C_4</c:v>
                  </c:pt>
                  <c:pt idx="4">
                    <c:v>C_5</c:v>
                  </c:pt>
                  <c:pt idx="5">
                    <c:v>C_7</c:v>
                  </c:pt>
                  <c:pt idx="6">
                    <c:v>C_6</c:v>
                  </c:pt>
                  <c:pt idx="7">
                    <c:v>C_8</c:v>
                  </c:pt>
                  <c:pt idx="8">
                    <c:v>C_9</c:v>
                  </c:pt>
                </c:lvl>
              </c:multiLvlStrCache>
            </c:multiLvlStrRef>
          </c:cat>
          <c:val>
            <c:numRef>
              <c:f>Sheet1!$B$2:$B$10</c:f>
              <c:numCache>
                <c:formatCode>General</c:formatCode>
                <c:ptCount val="9"/>
                <c:pt idx="0">
                  <c:v>10.33</c:v>
                </c:pt>
                <c:pt idx="1">
                  <c:v>5.63</c:v>
                </c:pt>
                <c:pt idx="2">
                  <c:v>4.34</c:v>
                </c:pt>
                <c:pt idx="3">
                  <c:v>4.03</c:v>
                </c:pt>
                <c:pt idx="4">
                  <c:v>3.19</c:v>
                </c:pt>
                <c:pt idx="5">
                  <c:v>2.42</c:v>
                </c:pt>
                <c:pt idx="6">
                  <c:v>2.36</c:v>
                </c:pt>
                <c:pt idx="7">
                  <c:v>1.66</c:v>
                </c:pt>
                <c:pt idx="8">
                  <c:v>0.92</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12"/>
        </c:scaling>
        <c:delete val="0"/>
        <c:axPos val="b"/>
        <c:majorGridlines>
          <c:spPr>
            <a:ln w="6350" cap="flat">
              <a:solidFill>
                <a:srgbClr val="D5DAE6"/>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Con experiencia (CE)</a:t>
            </a:r>
          </a:p>
        </c:rich>
      </c:tx>
      <c:layout/>
      <c:overlay val="0"/>
    </c:title>
    <c:autoTitleDeleted val="0"/>
    <c:plotArea>
      <c:layout/>
      <c:lineChart>
        <c:varyColors val="0"/>
        <c:ser>
          <c:idx val="0"/>
          <c:order val="0"/>
          <c:tx>
            <c:strRef>
              <c:f>Sheet1!$B$1</c:f>
              <c:strCache>
                <c:ptCount val="1"/>
                <c:pt idx="0">
                  <c:v>Saldo al corte</c:v>
                </c:pt>
              </c:strCache>
            </c:strRef>
          </c:tx>
          <c:spPr>
            <a:solidFill>
              <a:srgbClr val="1F2A52"/>
            </a:solidFill>
            <a:ln w="38100" cap="flat">
              <a:solidFill>
                <a:srgbClr val="1F2A52"/>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1F2A52"/>
              </a:solidFill>
              <a:ln w="9525" cap="flat">
                <a:solidFill>
                  <a:srgbClr val="1F2A52"/>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Sheet1!$B$2:$B$13</c:f>
              <c:numCache>
                <c:formatCode>General</c:formatCode>
                <c:ptCount val="12"/>
                <c:pt idx="0">
                  <c:v>0.349</c:v>
                </c:pt>
                <c:pt idx="1">
                  <c:v>0.316</c:v>
                </c:pt>
                <c:pt idx="2">
                  <c:v>0.336</c:v>
                </c:pt>
                <c:pt idx="3">
                  <c:v>0.314</c:v>
                </c:pt>
                <c:pt idx="4">
                  <c:v>0.28</c:v>
                </c:pt>
                <c:pt idx="5">
                  <c:v>0.29</c:v>
                </c:pt>
                <c:pt idx="6">
                  <c:v>0.372</c:v>
                </c:pt>
                <c:pt idx="7">
                  <c:v>0.314</c:v>
                </c:pt>
                <c:pt idx="8">
                  <c:v>0.361</c:v>
                </c:pt>
                <c:pt idx="9">
                  <c:v>0.319</c:v>
                </c:pt>
                <c:pt idx="10">
                  <c:v>0.384</c:v>
                </c:pt>
                <c:pt idx="11">
                  <c:v>0.346</c:v>
                </c:pt>
              </c:numCache>
            </c:numRef>
          </c:val>
          <c:smooth val="0"/>
        </c:ser>
        <c:ser>
          <c:idx val="1"/>
          <c:order val="1"/>
          <c:tx>
            <c:strRef>
              <c:f>Sheet1!$C$1</c:f>
              <c:strCache>
                <c:ptCount val="1"/>
                <c:pt idx="0">
                  <c:v>Promedio 6M</c:v>
                </c:pt>
              </c:strCache>
            </c:strRef>
          </c:tx>
          <c:spPr>
            <a:solidFill>
              <a:srgbClr val="F2B01E"/>
            </a:solidFill>
            <a:ln w="38100" cap="flat">
              <a:solidFill>
                <a:srgbClr val="F2B01E"/>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F2B01E"/>
              </a:solidFill>
              <a:ln w="9525" cap="flat">
                <a:solidFill>
                  <a:srgbClr val="F2B01E"/>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Sheet1!$C$2:$C$13</c:f>
              <c:numCache>
                <c:formatCode>General</c:formatCode>
                <c:ptCount val="12"/>
                <c:pt idx="0">
                  <c:v>0.3</c:v>
                </c:pt>
                <c:pt idx="1">
                  <c:v>0.305</c:v>
                </c:pt>
                <c:pt idx="2">
                  <c:v>0.314</c:v>
                </c:pt>
                <c:pt idx="3">
                  <c:v>0.296</c:v>
                </c:pt>
                <c:pt idx="4">
                  <c:v>0.262</c:v>
                </c:pt>
                <c:pt idx="5">
                  <c:v>0.246</c:v>
                </c:pt>
                <c:pt idx="6">
                  <c:v>0.291</c:v>
                </c:pt>
                <c:pt idx="7">
                  <c:v>0.306</c:v>
                </c:pt>
                <c:pt idx="8">
                  <c:v>0.318</c:v>
                </c:pt>
                <c:pt idx="9">
                  <c:v>0.28</c:v>
                </c:pt>
                <c:pt idx="10">
                  <c:v>0.365</c:v>
                </c:pt>
                <c:pt idx="11">
                  <c:v>0.303</c:v>
                </c:pt>
              </c:numCache>
            </c:numRef>
          </c:val>
          <c:smooth val="0"/>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45"/>
          <c:min val="0.2"/>
        </c:scaling>
        <c:delete val="0"/>
        <c:axPos val="l"/>
        <c:majorGridlines>
          <c:spPr>
            <a:ln w="6350" cap="flat">
              <a:solidFill>
                <a:srgbClr val="D5DA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Sin experiencia (SE)</a:t>
            </a:r>
          </a:p>
        </c:rich>
      </c:tx>
      <c:layout/>
      <c:overlay val="0"/>
    </c:title>
    <c:autoTitleDeleted val="0"/>
    <c:plotArea>
      <c:layout/>
      <c:lineChart>
        <c:varyColors val="0"/>
        <c:ser>
          <c:idx val="0"/>
          <c:order val="0"/>
          <c:tx>
            <c:strRef>
              <c:f>Sheet1!$B$1</c:f>
              <c:strCache>
                <c:ptCount val="1"/>
                <c:pt idx="0">
                  <c:v>Saldo al corte</c:v>
                </c:pt>
              </c:strCache>
            </c:strRef>
          </c:tx>
          <c:spPr>
            <a:solidFill>
              <a:srgbClr val="1F2A52"/>
            </a:solidFill>
            <a:ln w="38100" cap="flat">
              <a:solidFill>
                <a:srgbClr val="1F2A52"/>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1F2A52"/>
              </a:solidFill>
              <a:ln w="9525" cap="flat">
                <a:solidFill>
                  <a:srgbClr val="1F2A52"/>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Sheet1!$B$2:$B$13</c:f>
              <c:numCache>
                <c:formatCode>General</c:formatCode>
                <c:ptCount val="12"/>
                <c:pt idx="0">
                  <c:v>0.273</c:v>
                </c:pt>
                <c:pt idx="1">
                  <c:v>0.353</c:v>
                </c:pt>
                <c:pt idx="2">
                  <c:v>0.406</c:v>
                </c:pt>
                <c:pt idx="3">
                  <c:v>0.382</c:v>
                </c:pt>
                <c:pt idx="4">
                  <c:v>0.438</c:v>
                </c:pt>
                <c:pt idx="5">
                  <c:v>0.34</c:v>
                </c:pt>
                <c:pt idx="6">
                  <c:v>0.388</c:v>
                </c:pt>
                <c:pt idx="7">
                  <c:v>0.352</c:v>
                </c:pt>
                <c:pt idx="8">
                  <c:v>0.398</c:v>
                </c:pt>
                <c:pt idx="9">
                  <c:v>0.342</c:v>
                </c:pt>
                <c:pt idx="10">
                  <c:v>0.332</c:v>
                </c:pt>
                <c:pt idx="11">
                  <c:v>0.291</c:v>
                </c:pt>
              </c:numCache>
            </c:numRef>
          </c:val>
          <c:smooth val="0"/>
        </c:ser>
        <c:ser>
          <c:idx val="1"/>
          <c:order val="1"/>
          <c:tx>
            <c:strRef>
              <c:f>Sheet1!$C$1</c:f>
              <c:strCache>
                <c:ptCount val="1"/>
                <c:pt idx="0">
                  <c:v>Promedio 6M</c:v>
                </c:pt>
              </c:strCache>
            </c:strRef>
          </c:tx>
          <c:spPr>
            <a:solidFill>
              <a:srgbClr val="F2B01E"/>
            </a:solidFill>
            <a:ln w="38100" cap="flat">
              <a:solidFill>
                <a:srgbClr val="F2B01E"/>
              </a:solidFill>
              <a:prstDash val="solid"/>
              <a:round/>
            </a:ln>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c:symbol val="circle"/>
            <c:size val="6"/>
            <c:spPr>
              <a:solidFill>
                <a:srgbClr val="F2B01E"/>
              </a:solidFill>
              <a:ln w="9525" cap="flat">
                <a:solidFill>
                  <a:srgbClr val="F2B01E"/>
                </a:solidFill>
                <a:prstDash val="solid"/>
                <a:round/>
              </a:ln>
              <a:effectLst/>
            </c:spPr>
          </c:marker>
          <c:cat>
            <c:multiLvlStrRef>
              <c:f>Sheet1!$A$2:$A$13</c:f>
              <c:multiLvlStrCache>
                <c:ptCount val="12"/>
                <c:lvl>
                  <c:pt idx="0">
                    <c:v>2401</c:v>
                  </c:pt>
                  <c:pt idx="1">
                    <c:v>2402</c:v>
                  </c:pt>
                  <c:pt idx="2">
                    <c:v>2403</c:v>
                  </c:pt>
                  <c:pt idx="3">
                    <c:v>2404</c:v>
                  </c:pt>
                  <c:pt idx="4">
                    <c:v>2405</c:v>
                  </c:pt>
                  <c:pt idx="5">
                    <c:v>2406</c:v>
                  </c:pt>
                  <c:pt idx="6">
                    <c:v>2407</c:v>
                  </c:pt>
                  <c:pt idx="7">
                    <c:v>2408</c:v>
                  </c:pt>
                  <c:pt idx="8">
                    <c:v>2409</c:v>
                  </c:pt>
                  <c:pt idx="9">
                    <c:v>2410</c:v>
                  </c:pt>
                  <c:pt idx="10">
                    <c:v>2411</c:v>
                  </c:pt>
                  <c:pt idx="11">
                    <c:v>2412</c:v>
                  </c:pt>
                </c:lvl>
              </c:multiLvlStrCache>
            </c:multiLvlStrRef>
          </c:cat>
          <c:val>
            <c:numRef>
              <c:f>Sheet1!$C$2:$C$13</c:f>
              <c:numCache>
                <c:formatCode>General</c:formatCode>
                <c:ptCount val="12"/>
                <c:pt idx="0">
                  <c:v>0.237</c:v>
                </c:pt>
                <c:pt idx="1">
                  <c:v>0.334</c:v>
                </c:pt>
                <c:pt idx="2">
                  <c:v>0.363</c:v>
                </c:pt>
                <c:pt idx="3">
                  <c:v>0.401</c:v>
                </c:pt>
                <c:pt idx="4">
                  <c:v>0.407</c:v>
                </c:pt>
                <c:pt idx="5">
                  <c:v>0.339</c:v>
                </c:pt>
                <c:pt idx="6">
                  <c:v>0.371</c:v>
                </c:pt>
                <c:pt idx="7">
                  <c:v>0.341</c:v>
                </c:pt>
                <c:pt idx="8">
                  <c:v>0.351</c:v>
                </c:pt>
                <c:pt idx="9">
                  <c:v>0.357</c:v>
                </c:pt>
                <c:pt idx="10">
                  <c:v>0.278</c:v>
                </c:pt>
                <c:pt idx="11">
                  <c:v>0.269</c:v>
                </c:pt>
              </c:numCache>
            </c:numRef>
          </c:val>
          <c:smooth val="0"/>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max val="0.45"/>
          <c:min val="0.2"/>
        </c:scaling>
        <c:delete val="0"/>
        <c:axPos val="l"/>
        <c:majorGridlines>
          <c:spPr>
            <a:ln w="6350" cap="flat">
              <a:solidFill>
                <a:srgbClr val="D5DA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Con experiencia (CE)</a:t>
            </a:r>
          </a:p>
        </c:rich>
      </c:tx>
      <c:layout/>
      <c:overlay val="0"/>
    </c:title>
    <c:autoTitleDeleted val="0"/>
    <c:plotArea>
      <c:layout/>
      <c:barChart>
        <c:barDir val="col"/>
        <c:grouping val="clustered"/>
        <c:varyColors val="0"/>
        <c:ser>
          <c:idx val="0"/>
          <c:order val="0"/>
          <c:tx>
            <c:strRef>
              <c:f>Sheet1!$B$1</c:f>
              <c:strCache>
                <c:ptCount val="1"/>
                <c:pt idx="0">
                  <c:v>Saldo al corte</c:v>
                </c:pt>
              </c:strCache>
            </c:strRef>
          </c:tx>
          <c:spPr>
            <a:solidFill>
              <a:srgbClr val="1F2A52"/>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Sheet1!$A$2:$A$12</c:f>
              <c:multiLvlStrCache>
                <c:ptCount val="11"/>
                <c:lvl>
                  <c:pt idx="0">
                    <c:v>C_1</c:v>
                  </c:pt>
                  <c:pt idx="1">
                    <c:v>C_2</c:v>
                  </c:pt>
                  <c:pt idx="2">
                    <c:v>C_3</c:v>
                  </c:pt>
                  <c:pt idx="3">
                    <c:v>C_4</c:v>
                  </c:pt>
                  <c:pt idx="4">
                    <c:v>C_5</c:v>
                  </c:pt>
                  <c:pt idx="5">
                    <c:v>C_6</c:v>
                  </c:pt>
                  <c:pt idx="6">
                    <c:v>C_7</c:v>
                  </c:pt>
                  <c:pt idx="7">
                    <c:v>C_8</c:v>
                  </c:pt>
                  <c:pt idx="8">
                    <c:v>C_9</c:v>
                  </c:pt>
                  <c:pt idx="9">
                    <c:v>C_10</c:v>
                  </c:pt>
                  <c:pt idx="10">
                    <c:v>C_11</c:v>
                  </c:pt>
                </c:lvl>
              </c:multiLvlStrCache>
            </c:multiLvlStrRef>
          </c:cat>
          <c:val>
            <c:numRef>
              <c:f>Sheet1!$B$2:$B$12</c:f>
              <c:numCache>
                <c:formatCode>General</c:formatCode>
                <c:ptCount val="11"/>
                <c:pt idx="0">
                  <c:v>7.18</c:v>
                </c:pt>
                <c:pt idx="1">
                  <c:v>5.5</c:v>
                </c:pt>
                <c:pt idx="2">
                  <c:v>4.7</c:v>
                </c:pt>
                <c:pt idx="3">
                  <c:v>4.11</c:v>
                </c:pt>
                <c:pt idx="4">
                  <c:v>3.16</c:v>
                </c:pt>
                <c:pt idx="5">
                  <c:v>3.02</c:v>
                </c:pt>
                <c:pt idx="6">
                  <c:v>2.26</c:v>
                </c:pt>
                <c:pt idx="7">
                  <c:v>2.2</c:v>
                </c:pt>
                <c:pt idx="8">
                  <c:v>1.95</c:v>
                </c:pt>
                <c:pt idx="9">
                  <c:v>1.42</c:v>
                </c:pt>
                <c:pt idx="10">
                  <c:v>0.74</c:v>
                </c:pt>
              </c:numCache>
            </c:numRef>
          </c:val>
        </c:ser>
        <c:ser>
          <c:idx val="1"/>
          <c:order val="1"/>
          <c:tx>
            <c:strRef>
              <c:f>Sheet1!$C$1</c:f>
              <c:strCache>
                <c:ptCount val="1"/>
                <c:pt idx="0">
                  <c:v>Promedio 6M</c:v>
                </c:pt>
              </c:strCache>
            </c:strRef>
          </c:tx>
          <c:spPr>
            <a:solidFill>
              <a:srgbClr val="F2B01E"/>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Sheet1!$A$2:$A$12</c:f>
              <c:multiLvlStrCache>
                <c:ptCount val="11"/>
                <c:lvl>
                  <c:pt idx="0">
                    <c:v>C_1</c:v>
                  </c:pt>
                  <c:pt idx="1">
                    <c:v>C_2</c:v>
                  </c:pt>
                  <c:pt idx="2">
                    <c:v>C_3</c:v>
                  </c:pt>
                  <c:pt idx="3">
                    <c:v>C_4</c:v>
                  </c:pt>
                  <c:pt idx="4">
                    <c:v>C_5</c:v>
                  </c:pt>
                  <c:pt idx="5">
                    <c:v>C_6</c:v>
                  </c:pt>
                  <c:pt idx="6">
                    <c:v>C_7</c:v>
                  </c:pt>
                  <c:pt idx="7">
                    <c:v>C_8</c:v>
                  </c:pt>
                  <c:pt idx="8">
                    <c:v>C_9</c:v>
                  </c:pt>
                  <c:pt idx="9">
                    <c:v>C_10</c:v>
                  </c:pt>
                  <c:pt idx="10">
                    <c:v>C_11</c:v>
                  </c:pt>
                </c:lvl>
              </c:multiLvlStrCache>
            </c:multiLvlStrRef>
          </c:cat>
          <c:val>
            <c:numRef>
              <c:f>Sheet1!$C$2:$C$12</c:f>
              <c:numCache>
                <c:formatCode>General</c:formatCode>
                <c:ptCount val="11"/>
                <c:pt idx="0">
                  <c:v>7.3</c:v>
                </c:pt>
                <c:pt idx="1">
                  <c:v>4.93</c:v>
                </c:pt>
                <c:pt idx="2">
                  <c:v>5.05</c:v>
                </c:pt>
                <c:pt idx="3">
                  <c:v>3.65</c:v>
                </c:pt>
                <c:pt idx="4">
                  <c:v>2.85</c:v>
                </c:pt>
                <c:pt idx="5">
                  <c:v>2.7</c:v>
                </c:pt>
                <c:pt idx="6">
                  <c:v>2.4</c:v>
                </c:pt>
                <c:pt idx="7">
                  <c:v>1.97</c:v>
                </c:pt>
                <c:pt idx="8">
                  <c:v>1.63</c:v>
                </c:pt>
                <c:pt idx="9">
                  <c:v>1.27</c:v>
                </c:pt>
                <c:pt idx="10">
                  <c:v>0.8</c:v>
                </c:pt>
              </c:numCache>
            </c:numRef>
          </c:val>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F36"/>
                </a:solidFill>
                <a:latin typeface="+mn-lt"/>
              </a:defRPr>
            </a:pPr>
            <a:r>
              <a:rPr sz="1400" b="0" i="0" u="none" strike="noStrike">
                <a:solidFill>
                  <a:srgbClr val="1A1F36"/>
                </a:solidFill>
                <a:latin typeface="+mn-lt"/>
              </a:rPr>
              <a:t>Sin experiencia (SE)</a:t>
            </a:r>
          </a:p>
        </c:rich>
      </c:tx>
      <c:layout/>
      <c:overlay val="0"/>
    </c:title>
    <c:autoTitleDeleted val="0"/>
    <c:plotArea>
      <c:layout/>
      <c:barChart>
        <c:barDir val="col"/>
        <c:grouping val="clustered"/>
        <c:varyColors val="0"/>
        <c:ser>
          <c:idx val="0"/>
          <c:order val="0"/>
          <c:tx>
            <c:strRef>
              <c:f>Sheet1!$B$1</c:f>
              <c:strCache>
                <c:ptCount val="1"/>
                <c:pt idx="0">
                  <c:v>Saldo al corte</c:v>
                </c:pt>
              </c:strCache>
            </c:strRef>
          </c:tx>
          <c:spPr>
            <a:solidFill>
              <a:srgbClr val="1F2A52"/>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Sheet1!$A$2:$A$13</c:f>
              <c:multiLvlStrCache>
                <c:ptCount val="12"/>
                <c:lvl>
                  <c:pt idx="0">
                    <c:v>C_1</c:v>
                  </c:pt>
                  <c:pt idx="1">
                    <c:v>C_2</c:v>
                  </c:pt>
                  <c:pt idx="2">
                    <c:v>C_3</c:v>
                  </c:pt>
                  <c:pt idx="3">
                    <c:v>C_4</c:v>
                  </c:pt>
                  <c:pt idx="4">
                    <c:v>C_5</c:v>
                  </c:pt>
                  <c:pt idx="5">
                    <c:v>C_6</c:v>
                  </c:pt>
                  <c:pt idx="6">
                    <c:v>C_7</c:v>
                  </c:pt>
                  <c:pt idx="7">
                    <c:v>C_8</c:v>
                  </c:pt>
                  <c:pt idx="8">
                    <c:v>C_9</c:v>
                  </c:pt>
                  <c:pt idx="9">
                    <c:v>C_10</c:v>
                  </c:pt>
                  <c:pt idx="10">
                    <c:v>C_11</c:v>
                  </c:pt>
                  <c:pt idx="11">
                    <c:v>C_12</c:v>
                  </c:pt>
                </c:lvl>
              </c:multiLvlStrCache>
            </c:multiLvlStrRef>
          </c:cat>
          <c:val>
            <c:numRef>
              <c:f>Sheet1!$B$2:$B$13</c:f>
              <c:numCache>
                <c:formatCode>General</c:formatCode>
                <c:ptCount val="12"/>
                <c:pt idx="0">
                  <c:v>9.5</c:v>
                </c:pt>
                <c:pt idx="1">
                  <c:v>6.5</c:v>
                </c:pt>
                <c:pt idx="2">
                  <c:v>4.5</c:v>
                </c:pt>
                <c:pt idx="3">
                  <c:v>4.5</c:v>
                </c:pt>
                <c:pt idx="4">
                  <c:v>4.3</c:v>
                </c:pt>
                <c:pt idx="5">
                  <c:v>3.3</c:v>
                </c:pt>
                <c:pt idx="6">
                  <c:v>2.9</c:v>
                </c:pt>
                <c:pt idx="7">
                  <c:v>2.5</c:v>
                </c:pt>
                <c:pt idx="8">
                  <c:v>2.4</c:v>
                </c:pt>
                <c:pt idx="9">
                  <c:v>1.8</c:v>
                </c:pt>
                <c:pt idx="10">
                  <c:v>1.3</c:v>
                </c:pt>
                <c:pt idx="11">
                  <c:v>0.9</c:v>
                </c:pt>
              </c:numCache>
            </c:numRef>
          </c:val>
        </c:ser>
        <c:ser>
          <c:idx val="1"/>
          <c:order val="1"/>
          <c:tx>
            <c:strRef>
              <c:f>Sheet1!$C$1</c:f>
              <c:strCache>
                <c:ptCount val="1"/>
                <c:pt idx="0">
                  <c:v>Promedio 6M</c:v>
                </c:pt>
              </c:strCache>
            </c:strRef>
          </c:tx>
          <c:spPr>
            <a:solidFill>
              <a:srgbClr val="F2B01E"/>
            </a:solidFill>
            <a:effectLst/>
          </c:spPr>
          <c:invertIfNegative val="0"/>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cat>
            <c:multiLvlStrRef>
              <c:f>Sheet1!$A$2:$A$13</c:f>
              <c:multiLvlStrCache>
                <c:ptCount val="12"/>
                <c:lvl>
                  <c:pt idx="0">
                    <c:v>C_1</c:v>
                  </c:pt>
                  <c:pt idx="1">
                    <c:v>C_2</c:v>
                  </c:pt>
                  <c:pt idx="2">
                    <c:v>C_3</c:v>
                  </c:pt>
                  <c:pt idx="3">
                    <c:v>C_4</c:v>
                  </c:pt>
                  <c:pt idx="4">
                    <c:v>C_5</c:v>
                  </c:pt>
                  <c:pt idx="5">
                    <c:v>C_6</c:v>
                  </c:pt>
                  <c:pt idx="6">
                    <c:v>C_7</c:v>
                  </c:pt>
                  <c:pt idx="7">
                    <c:v>C_8</c:v>
                  </c:pt>
                  <c:pt idx="8">
                    <c:v>C_9</c:v>
                  </c:pt>
                  <c:pt idx="9">
                    <c:v>C_10</c:v>
                  </c:pt>
                  <c:pt idx="10">
                    <c:v>C_11</c:v>
                  </c:pt>
                  <c:pt idx="11">
                    <c:v>C_12</c:v>
                  </c:pt>
                </c:lvl>
              </c:multiLvlStrCache>
            </c:multiLvlStrRef>
          </c:cat>
          <c:val>
            <c:numRef>
              <c:f>Sheet1!$C$2:$C$13</c:f>
              <c:numCache>
                <c:formatCode>General</c:formatCode>
                <c:ptCount val="12"/>
                <c:pt idx="0">
                  <c:v>10.33</c:v>
                </c:pt>
                <c:pt idx="1">
                  <c:v>5.63</c:v>
                </c:pt>
                <c:pt idx="2">
                  <c:v>4.34</c:v>
                </c:pt>
                <c:pt idx="3">
                  <c:v>4.03</c:v>
                </c:pt>
                <c:pt idx="4">
                  <c:v>3.19</c:v>
                </c:pt>
                <c:pt idx="5">
                  <c:v>2.36</c:v>
                </c:pt>
                <c:pt idx="6">
                  <c:v>2.42</c:v>
                </c:pt>
                <c:pt idx="7">
                  <c:v>1.66</c:v>
                </c:pt>
                <c:pt idx="8">
                  <c:v>0.92</c:v>
                </c:pt>
                <c:pt idx="9">
                  <c:v/>
                </c:pt>
                <c:pt idx="10">
                  <c:v/>
                </c:pt>
                <c:pt idx="11">
                  <c:v/>
                </c:pt>
              </c:numCache>
            </c:numRef>
          </c:val>
        </c:ser>
        <c:dLbls>
          <c:numFmt formatCode="#,##0" sourceLinked="0"/>
          <c:txPr>
            <a:bodyPr/>
            <a:lstStyle/>
            <a:p>
              <a:pPr>
                <a:defRPr b="0" i="0" strike="noStrike" sz="1100" u="none">
                  <a:solidFill>
                    <a:srgbClr val="1A1F36"/>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pasos. Los pesos de clase solo se usan para entrenar el árbol; las tasas de malo se calculan con clientes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corte se midió solo con enero. El 6M agrega varios meses para suavizar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 menor a 0.02 sin poder, 0.02 a 0.1 débil, 0.1 a 0.3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 binning: cada bin con su tasa de evento, WOE e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 binning: cada bin con su tasa de evento, WOE e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celda muestra el perfil y su tasa de malo con clientes reales. El color es el nivel del semáforo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malo real por grupo, ordenada de menor a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celda muestra el perfil y su tasa de malo con clientes reales. El color es el nivel del semáforo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malo real por grupo, ordenada de menor a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árbol se entrena con 202401–202410. Los dos últimos periodos son de prueba. Diciembre es el último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Perfiles ordenados por riesgo en cada ventana; C_1 es el de mayor riesgo. Tasas de la población de modelado.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niveles del 6M son los definidos para Rocket (REGLAS_CE y REGLAS_SE con perfilesReglasU6M).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Segmentop es la ejecución del modelo (las reglas de cada categoría) sobre los clientes de producción, para cada mes analizado. Cada cliente-mes se observa durante los 12 meses siguientes. y, yMora y Par30 se calculan sobre ese mes de observación. Las agrupaciones finales en cinco niveles se armaron mirando esta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evento y por nivel, en la población de producción con 12 meses de observación completos. Corte: enero. 6M: agregado de meses y diciembre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 de evento y por nivel, en la población de producción con 12 meses de observación completos. Corte: enero. 6M: agregado de meses y diciembre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indicadores favorecen al corte, salvo el peso de Sin Perfil en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yMora y Par30 por perfil en la población de producción. El 6M es el agregado de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yMora y Par30 por perfil en la población de producción. El 6M es el agregado de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2A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6B7390"/>
                </a:solidFill>
              </a:rPr>
              <a:t>Banco Pichincha · Riesgo de Crédito · Segmentación por saldo en cuentas del pasivo</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nchor="b"/>
          <a:lstStyle/>
          <a:p>
            <a:pPr algn="l" indent="0" marL="0">
              <a:buNone/>
            </a:pPr>
            <a:r>
              <a:rPr lang="en-US" sz="4000" b="1" dirty="0">
                <a:solidFill>
                  <a:schemeClr val="bg1"/>
                </a:solidFill>
              </a:rPr>
              <a:t>Saldo al corte vs. promedio 6M: análisis técnico</a:t>
            </a: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nchor="t"/>
          <a:lstStyle/>
          <a:p>
            <a:pPr algn="l" indent="0" marL="0">
              <a:buNone/>
            </a:pPr>
            <a:r>
              <a:rPr lang="en-US" sz="2000" dirty="0">
                <a:solidFill>
                  <a:schemeClr val="accent1"/>
                </a:solidFill>
              </a:rPr>
              <a:t>Árboles de decisión sobre WOE · Clientes con y sin experiencia · Riesgo de Crédito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Objetivo y alcance</a:t>
            </a:r>
            <a:endParaRPr lang="en-US" sz="3000" dirty="0"/>
          </a:p>
        </p:txBody>
      </p:sp>
      <p:sp>
        <p:nvSpPr>
          <p:cNvPr id="3" name="Shape 1"/>
          <p:cNvSpPr/>
          <p:nvPr/>
        </p:nvSpPr>
        <p:spPr>
          <a:xfrm>
            <a:off x="548640" y="1371600"/>
            <a:ext cx="3566160" cy="3017520"/>
          </a:xfrm>
          <a:prstGeom prst="roundRect">
            <a:avLst>
              <a:gd name="adj" fmla="val 2424"/>
            </a:avLst>
          </a:prstGeom>
          <a:solidFill>
            <a:srgbClr val="F2F4F9"/>
          </a:solidFill>
          <a:ln w="12700">
            <a:solidFill>
              <a:srgbClr val="F2F4F9"/>
            </a:solidFill>
            <a:prstDash val="solid"/>
          </a:ln>
        </p:spPr>
      </p:sp>
      <p:sp>
        <p:nvSpPr>
          <p:cNvPr id="4" name="Shape 2"/>
          <p:cNvSpPr/>
          <p:nvPr/>
        </p:nvSpPr>
        <p:spPr>
          <a:xfrm>
            <a:off x="777240" y="1554480"/>
            <a:ext cx="502920" cy="502920"/>
          </a:xfrm>
          <a:prstGeom prst="ellipse">
            <a:avLst/>
          </a:prstGeom>
          <a:solidFill>
            <a:srgbClr val="1F2A52"/>
          </a:solidFill>
          <a:ln w="12700">
            <a:solidFill>
              <a:srgbClr val="1F2A52"/>
            </a:solidFill>
            <a:prstDash val="solid"/>
          </a:ln>
        </p:spPr>
      </p:sp>
      <p:sp>
        <p:nvSpPr>
          <p:cNvPr id="5" name="Text 3"/>
          <p:cNvSpPr txBox="1"/>
          <p:nvPr/>
        </p:nvSpPr>
        <p:spPr>
          <a:xfrm>
            <a:off x="77724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17320" y="1554480"/>
            <a:ext cx="2560320" cy="502920"/>
          </a:xfrm>
          <a:prstGeom prst="rect">
            <a:avLst/>
          </a:prstGeom>
          <a:noFill/>
          <a:ln/>
        </p:spPr>
        <p:txBody>
          <a:bodyPr wrap="square" lIns="0" tIns="0" rIns="0" bIns="0" rtlCol="0" anchor="ctr"/>
          <a:lstStyle/>
          <a:p>
            <a:pPr indent="0" marL="0">
              <a:buNone/>
            </a:pPr>
            <a:r>
              <a:rPr lang="en-US" sz="2000" b="1" dirty="0">
                <a:solidFill>
                  <a:srgbClr val="1F2A52"/>
                </a:solidFill>
              </a:rPr>
              <a:t>Objetivo</a:t>
            </a:r>
            <a:endParaRPr lang="en-US" sz="2000" dirty="0"/>
          </a:p>
        </p:txBody>
      </p:sp>
      <p:sp>
        <p:nvSpPr>
          <p:cNvPr id="7" name="Text 5"/>
          <p:cNvSpPr txBox="1"/>
          <p:nvPr/>
        </p:nvSpPr>
        <p:spPr>
          <a:xfrm>
            <a:off x="777240" y="2331720"/>
            <a:ext cx="3108960" cy="1920240"/>
          </a:xfrm>
          <a:prstGeom prst="rect">
            <a:avLst/>
          </a:prstGeom>
          <a:noFill/>
          <a:ln/>
        </p:spPr>
        <p:txBody>
          <a:bodyPr wrap="square" lIns="0" tIns="0" rIns="0" bIns="0" rtlCol="0" anchor="t"/>
          <a:lstStyle/>
          <a:p>
            <a:pPr indent="0" marL="0">
              <a:buNone/>
            </a:pPr>
            <a:r>
              <a:rPr lang="en-US" sz="1600" dirty="0">
                <a:solidFill>
                  <a:srgbClr val="1A1F36"/>
                </a:solidFill>
              </a:rPr>
              <a:t>Evaluar si reemplazar el saldo a la fecha de corte por el promedio de 6 meses mejora la segmentación por saldo en cuentas del pasivo y score de buró.</a:t>
            </a:r>
            <a:endParaRPr lang="en-US" sz="1600" dirty="0"/>
          </a:p>
        </p:txBody>
      </p:sp>
      <p:sp>
        <p:nvSpPr>
          <p:cNvPr id="8" name="Shape 6"/>
          <p:cNvSpPr/>
          <p:nvPr/>
        </p:nvSpPr>
        <p:spPr>
          <a:xfrm>
            <a:off x="4297680" y="1371600"/>
            <a:ext cx="3566160" cy="3017520"/>
          </a:xfrm>
          <a:prstGeom prst="roundRect">
            <a:avLst>
              <a:gd name="adj" fmla="val 2424"/>
            </a:avLst>
          </a:prstGeom>
          <a:solidFill>
            <a:srgbClr val="F2F4F9"/>
          </a:solidFill>
          <a:ln w="12700">
            <a:solidFill>
              <a:srgbClr val="F2F4F9"/>
            </a:solidFill>
            <a:prstDash val="solid"/>
          </a:ln>
        </p:spPr>
      </p:sp>
      <p:sp>
        <p:nvSpPr>
          <p:cNvPr id="9" name="Shape 7"/>
          <p:cNvSpPr/>
          <p:nvPr/>
        </p:nvSpPr>
        <p:spPr>
          <a:xfrm>
            <a:off x="4526280" y="1554480"/>
            <a:ext cx="502920" cy="502920"/>
          </a:xfrm>
          <a:prstGeom prst="ellipse">
            <a:avLst/>
          </a:prstGeom>
          <a:solidFill>
            <a:srgbClr val="1F2A52"/>
          </a:solidFill>
          <a:ln w="12700">
            <a:solidFill>
              <a:srgbClr val="1F2A52"/>
            </a:solidFill>
            <a:prstDash val="solid"/>
          </a:ln>
        </p:spPr>
      </p:sp>
      <p:sp>
        <p:nvSpPr>
          <p:cNvPr id="10" name="Text 8"/>
          <p:cNvSpPr txBox="1"/>
          <p:nvPr/>
        </p:nvSpPr>
        <p:spPr>
          <a:xfrm>
            <a:off x="452628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5166360" y="1554480"/>
            <a:ext cx="2560320" cy="502920"/>
          </a:xfrm>
          <a:prstGeom prst="rect">
            <a:avLst/>
          </a:prstGeom>
          <a:noFill/>
          <a:ln/>
        </p:spPr>
        <p:txBody>
          <a:bodyPr wrap="square" lIns="0" tIns="0" rIns="0" bIns="0" rtlCol="0" anchor="ctr"/>
          <a:lstStyle/>
          <a:p>
            <a:pPr indent="0" marL="0">
              <a:buNone/>
            </a:pPr>
            <a:r>
              <a:rPr lang="en-US" sz="2000" b="1" dirty="0">
                <a:solidFill>
                  <a:srgbClr val="1F2A52"/>
                </a:solidFill>
              </a:rPr>
              <a:t>Alcance</a:t>
            </a:r>
            <a:endParaRPr lang="en-US" sz="2000" dirty="0"/>
          </a:p>
        </p:txBody>
      </p:sp>
      <p:sp>
        <p:nvSpPr>
          <p:cNvPr id="12" name="Text 10"/>
          <p:cNvSpPr txBox="1"/>
          <p:nvPr/>
        </p:nvSpPr>
        <p:spPr>
          <a:xfrm>
            <a:off x="4526280" y="2331720"/>
            <a:ext cx="3108960" cy="1920240"/>
          </a:xfrm>
          <a:prstGeom prst="rect">
            <a:avLst/>
          </a:prstGeom>
          <a:noFill/>
          <a:ln/>
        </p:spPr>
        <p:txBody>
          <a:bodyPr wrap="square" lIns="0" tIns="0" rIns="0" bIns="0" rtlCol="0" anchor="t"/>
          <a:lstStyle/>
          <a:p>
            <a:pPr indent="0" marL="0">
              <a:buNone/>
            </a:pPr>
            <a:r>
              <a:rPr lang="en-US" sz="1600" dirty="0">
                <a:solidFill>
                  <a:srgbClr val="1A1F36"/>
                </a:solidFill>
              </a:rPr>
              <a:t>Dos modelos: CE (con experiencia) y SE (sin experiencia). Ventanas de saldo: corte, promedio 3M y promedio 6M. El 12M se evaluó solo por IV.</a:t>
            </a:r>
            <a:endParaRPr lang="en-US" sz="1600" dirty="0"/>
          </a:p>
        </p:txBody>
      </p:sp>
      <p:sp>
        <p:nvSpPr>
          <p:cNvPr id="13" name="Shape 11"/>
          <p:cNvSpPr/>
          <p:nvPr/>
        </p:nvSpPr>
        <p:spPr>
          <a:xfrm>
            <a:off x="8046720" y="1371600"/>
            <a:ext cx="3566160" cy="3017520"/>
          </a:xfrm>
          <a:prstGeom prst="roundRect">
            <a:avLst>
              <a:gd name="adj" fmla="val 2424"/>
            </a:avLst>
          </a:prstGeom>
          <a:solidFill>
            <a:srgbClr val="F2F4F9"/>
          </a:solidFill>
          <a:ln w="12700">
            <a:solidFill>
              <a:srgbClr val="F2F4F9"/>
            </a:solidFill>
            <a:prstDash val="solid"/>
          </a:ln>
        </p:spPr>
      </p:sp>
      <p:sp>
        <p:nvSpPr>
          <p:cNvPr id="14" name="Shape 12"/>
          <p:cNvSpPr/>
          <p:nvPr/>
        </p:nvSpPr>
        <p:spPr>
          <a:xfrm>
            <a:off x="8275320" y="1554480"/>
            <a:ext cx="502920" cy="502920"/>
          </a:xfrm>
          <a:prstGeom prst="ellipse">
            <a:avLst/>
          </a:prstGeom>
          <a:solidFill>
            <a:srgbClr val="1F2A52"/>
          </a:solidFill>
          <a:ln w="12700">
            <a:solidFill>
              <a:srgbClr val="1F2A52"/>
            </a:solidFill>
            <a:prstDash val="solid"/>
          </a:ln>
        </p:spPr>
      </p:sp>
      <p:sp>
        <p:nvSpPr>
          <p:cNvPr id="15" name="Text 13"/>
          <p:cNvSpPr txBox="1"/>
          <p:nvPr/>
        </p:nvSpPr>
        <p:spPr>
          <a:xfrm>
            <a:off x="8275320" y="1554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8915400" y="1554480"/>
            <a:ext cx="2560320" cy="502920"/>
          </a:xfrm>
          <a:prstGeom prst="rect">
            <a:avLst/>
          </a:prstGeom>
          <a:noFill/>
          <a:ln/>
        </p:spPr>
        <p:txBody>
          <a:bodyPr wrap="square" lIns="0" tIns="0" rIns="0" bIns="0" rtlCol="0" anchor="ctr"/>
          <a:lstStyle/>
          <a:p>
            <a:pPr indent="0" marL="0">
              <a:buNone/>
            </a:pPr>
            <a:r>
              <a:rPr lang="en-US" sz="2000" b="1" dirty="0">
                <a:solidFill>
                  <a:srgbClr val="1F2A52"/>
                </a:solidFill>
              </a:rPr>
              <a:t>Población</a:t>
            </a:r>
            <a:endParaRPr lang="en-US" sz="2000" dirty="0"/>
          </a:p>
        </p:txBody>
      </p:sp>
      <p:sp>
        <p:nvSpPr>
          <p:cNvPr id="17" name="Text 15"/>
          <p:cNvSpPr txBox="1"/>
          <p:nvPr/>
        </p:nvSpPr>
        <p:spPr>
          <a:xfrm>
            <a:off x="8275320" y="2331720"/>
            <a:ext cx="3108960" cy="1920240"/>
          </a:xfrm>
          <a:prstGeom prst="rect">
            <a:avLst/>
          </a:prstGeom>
          <a:noFill/>
          <a:ln/>
        </p:spPr>
        <p:txBody>
          <a:bodyPr wrap="square" lIns="0" tIns="0" rIns="0" bIns="0" rtlCol="0" anchor="t"/>
          <a:lstStyle/>
          <a:p>
            <a:pPr indent="0" marL="0">
              <a:buNone/>
            </a:pPr>
            <a:r>
              <a:rPr lang="en-US" sz="1600" dirty="0">
                <a:solidFill>
                  <a:srgbClr val="1A1F36"/>
                </a:solidFill>
              </a:rPr>
              <a:t>Entrenamiento: periodos 202401–202410. Prueba: desde 202411. Se excluyen los malos evidentes (mora previa mayor a 90 días).</a:t>
            </a:r>
            <a:endParaRPr lang="en-US" sz="1600" dirty="0"/>
          </a:p>
        </p:txBody>
      </p:sp>
      <p:sp>
        <p:nvSpPr>
          <p:cNvPr id="18" name="Shape 16"/>
          <p:cNvSpPr/>
          <p:nvPr/>
        </p:nvSpPr>
        <p:spPr>
          <a:xfrm>
            <a:off x="548640" y="4663440"/>
            <a:ext cx="11064240" cy="1371600"/>
          </a:xfrm>
          <a:prstGeom prst="roundRect">
            <a:avLst>
              <a:gd name="adj" fmla="val 5333"/>
            </a:avLst>
          </a:prstGeom>
          <a:solidFill>
            <a:srgbClr val="FFF7E0"/>
          </a:solidFill>
          <a:ln w="15875">
            <a:solidFill>
              <a:srgbClr val="F2B01E"/>
            </a:solidFill>
            <a:prstDash val="solid"/>
          </a:ln>
        </p:spPr>
      </p:sp>
      <p:sp>
        <p:nvSpPr>
          <p:cNvPr id="19" name="Text 17"/>
          <p:cNvSpPr txBox="1"/>
          <p:nvPr/>
        </p:nvSpPr>
        <p:spPr>
          <a:xfrm>
            <a:off x="777240" y="477316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Pregunta de decisión</a:t>
            </a:r>
            <a:endParaRPr lang="en-US" sz="1600" dirty="0"/>
          </a:p>
        </p:txBody>
      </p:sp>
      <p:sp>
        <p:nvSpPr>
          <p:cNvPr id="20" name="Text 18"/>
          <p:cNvSpPr txBox="1"/>
          <p:nvPr/>
        </p:nvSpPr>
        <p:spPr>
          <a:xfrm>
            <a:off x="777240" y="5166360"/>
            <a:ext cx="10607040" cy="777240"/>
          </a:xfrm>
          <a:prstGeom prst="rect">
            <a:avLst/>
          </a:prstGeom>
          <a:noFill/>
          <a:ln/>
        </p:spPr>
        <p:txBody>
          <a:bodyPr wrap="square" lIns="0" tIns="0" rIns="0" bIns="0" rtlCol="0" anchor="t"/>
          <a:lstStyle/>
          <a:p>
            <a:pPr indent="0" marL="0">
              <a:buNone/>
            </a:pPr>
            <a:r>
              <a:rPr lang="en-US" sz="1400" dirty="0">
                <a:solidFill>
                  <a:srgbClr val="1A1F36"/>
                </a:solidFill>
              </a:rPr>
              <a:t>¿El promedio de saldo ordena mejor el riesgo que el saldo al corte, sobre todo en diciembre, cuando el saldo es mayor y se observan menos malos?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Metodología</a:t>
            </a:r>
            <a:endParaRPr lang="en-US" sz="3000" dirty="0"/>
          </a:p>
        </p:txBody>
      </p:sp>
      <p:sp>
        <p:nvSpPr>
          <p:cNvPr id="4" name="Shape 1"/>
          <p:cNvSpPr/>
          <p:nvPr/>
        </p:nvSpPr>
        <p:spPr>
          <a:xfrm>
            <a:off x="548640" y="1463040"/>
            <a:ext cx="2057400" cy="2286000"/>
          </a:xfrm>
          <a:prstGeom prst="roundRect">
            <a:avLst>
              <a:gd name="adj" fmla="val 3556"/>
            </a:avLst>
          </a:prstGeom>
          <a:solidFill>
            <a:srgbClr val="F2F4F9"/>
          </a:solidFill>
          <a:ln w="12700">
            <a:solidFill>
              <a:srgbClr val="F2F4F9"/>
            </a:solidFill>
            <a:prstDash val="solid"/>
          </a:ln>
        </p:spPr>
      </p:sp>
      <p:sp>
        <p:nvSpPr>
          <p:cNvPr id="5" name="Text 2"/>
          <p:cNvSpPr txBox="1"/>
          <p:nvPr/>
        </p:nvSpPr>
        <p:spPr>
          <a:xfrm>
            <a:off x="73152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1</a:t>
            </a:r>
            <a:endParaRPr lang="en-US" sz="2600" dirty="0"/>
          </a:p>
        </p:txBody>
      </p:sp>
      <p:sp>
        <p:nvSpPr>
          <p:cNvPr id="6" name="Text 3"/>
          <p:cNvSpPr txBox="1"/>
          <p:nvPr/>
        </p:nvSpPr>
        <p:spPr>
          <a:xfrm>
            <a:off x="73152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Variables</a:t>
            </a:r>
            <a:endParaRPr lang="en-US" sz="1800" dirty="0"/>
          </a:p>
        </p:txBody>
      </p:sp>
      <p:sp>
        <p:nvSpPr>
          <p:cNvPr id="7" name="Text 4"/>
          <p:cNvSpPr txBox="1"/>
          <p:nvPr/>
        </p:nvSpPr>
        <p:spPr>
          <a:xfrm>
            <a:off x="73152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Saldo (corte, 3M, 6M) y scoreBuro</a:t>
            </a:r>
            <a:endParaRPr lang="en-US" sz="1300" dirty="0"/>
          </a:p>
        </p:txBody>
      </p:sp>
      <p:sp>
        <p:nvSpPr>
          <p:cNvPr id="8" name="Shape 5"/>
          <p:cNvSpPr/>
          <p:nvPr/>
        </p:nvSpPr>
        <p:spPr>
          <a:xfrm>
            <a:off x="2788920" y="1463040"/>
            <a:ext cx="2057400" cy="2286000"/>
          </a:xfrm>
          <a:prstGeom prst="roundRect">
            <a:avLst>
              <a:gd name="adj" fmla="val 3556"/>
            </a:avLst>
          </a:prstGeom>
          <a:solidFill>
            <a:srgbClr val="F2F4F9"/>
          </a:solidFill>
          <a:ln w="12700">
            <a:solidFill>
              <a:srgbClr val="F2F4F9"/>
            </a:solidFill>
            <a:prstDash val="solid"/>
          </a:ln>
        </p:spPr>
      </p:sp>
      <p:sp>
        <p:nvSpPr>
          <p:cNvPr id="9" name="Text 6"/>
          <p:cNvSpPr txBox="1"/>
          <p:nvPr/>
        </p:nvSpPr>
        <p:spPr>
          <a:xfrm>
            <a:off x="297180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2</a:t>
            </a:r>
            <a:endParaRPr lang="en-US" sz="2600" dirty="0"/>
          </a:p>
        </p:txBody>
      </p:sp>
      <p:sp>
        <p:nvSpPr>
          <p:cNvPr id="10" name="Text 7"/>
          <p:cNvSpPr txBox="1"/>
          <p:nvPr/>
        </p:nvSpPr>
        <p:spPr>
          <a:xfrm>
            <a:off x="297180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WOE e IV</a:t>
            </a:r>
            <a:endParaRPr lang="en-US" sz="1800" dirty="0"/>
          </a:p>
        </p:txBody>
      </p:sp>
      <p:sp>
        <p:nvSpPr>
          <p:cNvPr id="11" name="Text 8"/>
          <p:cNvSpPr txBox="1"/>
          <p:nvPr/>
        </p:nvSpPr>
        <p:spPr>
          <a:xfrm>
            <a:off x="297180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Optimal binning por variable</a:t>
            </a:r>
            <a:endParaRPr lang="en-US" sz="1300" dirty="0"/>
          </a:p>
        </p:txBody>
      </p:sp>
      <p:sp>
        <p:nvSpPr>
          <p:cNvPr id="12" name="Shape 9"/>
          <p:cNvSpPr/>
          <p:nvPr/>
        </p:nvSpPr>
        <p:spPr>
          <a:xfrm>
            <a:off x="5029200" y="1463040"/>
            <a:ext cx="2057400" cy="2286000"/>
          </a:xfrm>
          <a:prstGeom prst="roundRect">
            <a:avLst>
              <a:gd name="adj" fmla="val 3556"/>
            </a:avLst>
          </a:prstGeom>
          <a:solidFill>
            <a:srgbClr val="F2F4F9"/>
          </a:solidFill>
          <a:ln w="12700">
            <a:solidFill>
              <a:srgbClr val="F2F4F9"/>
            </a:solidFill>
            <a:prstDash val="solid"/>
          </a:ln>
        </p:spPr>
      </p:sp>
      <p:sp>
        <p:nvSpPr>
          <p:cNvPr id="13" name="Text 10"/>
          <p:cNvSpPr txBox="1"/>
          <p:nvPr/>
        </p:nvSpPr>
        <p:spPr>
          <a:xfrm>
            <a:off x="521208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3</a:t>
            </a:r>
            <a:endParaRPr lang="en-US" sz="2600" dirty="0"/>
          </a:p>
        </p:txBody>
      </p:sp>
      <p:sp>
        <p:nvSpPr>
          <p:cNvPr id="14" name="Text 11"/>
          <p:cNvSpPr txBox="1"/>
          <p:nvPr/>
        </p:nvSpPr>
        <p:spPr>
          <a:xfrm>
            <a:off x="521208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Árbol</a:t>
            </a:r>
            <a:endParaRPr lang="en-US" sz="1800" dirty="0"/>
          </a:p>
        </p:txBody>
      </p:sp>
      <p:sp>
        <p:nvSpPr>
          <p:cNvPr id="15" name="Text 12"/>
          <p:cNvSpPr txBox="1"/>
          <p:nvPr/>
        </p:nvSpPr>
        <p:spPr>
          <a:xfrm>
            <a:off x="521208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Gini, profundidad 4, hoja mínima 5%</a:t>
            </a:r>
            <a:endParaRPr lang="en-US" sz="1300" dirty="0"/>
          </a:p>
        </p:txBody>
      </p:sp>
      <p:sp>
        <p:nvSpPr>
          <p:cNvPr id="16" name="Shape 13"/>
          <p:cNvSpPr/>
          <p:nvPr/>
        </p:nvSpPr>
        <p:spPr>
          <a:xfrm>
            <a:off x="7269480" y="1463040"/>
            <a:ext cx="2057400" cy="2286000"/>
          </a:xfrm>
          <a:prstGeom prst="roundRect">
            <a:avLst>
              <a:gd name="adj" fmla="val 3556"/>
            </a:avLst>
          </a:prstGeom>
          <a:solidFill>
            <a:srgbClr val="F2F4F9"/>
          </a:solidFill>
          <a:ln w="12700">
            <a:solidFill>
              <a:srgbClr val="F2F4F9"/>
            </a:solidFill>
            <a:prstDash val="solid"/>
          </a:ln>
        </p:spPr>
      </p:sp>
      <p:sp>
        <p:nvSpPr>
          <p:cNvPr id="17" name="Text 14"/>
          <p:cNvSpPr txBox="1"/>
          <p:nvPr/>
        </p:nvSpPr>
        <p:spPr>
          <a:xfrm>
            <a:off x="745236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4</a:t>
            </a:r>
            <a:endParaRPr lang="en-US" sz="2600" dirty="0"/>
          </a:p>
        </p:txBody>
      </p:sp>
      <p:sp>
        <p:nvSpPr>
          <p:cNvPr id="18" name="Text 15"/>
          <p:cNvSpPr txBox="1"/>
          <p:nvPr/>
        </p:nvSpPr>
        <p:spPr>
          <a:xfrm>
            <a:off x="745236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Grupos</a:t>
            </a:r>
            <a:endParaRPr lang="en-US" sz="1800" dirty="0"/>
          </a:p>
        </p:txBody>
      </p:sp>
      <p:sp>
        <p:nvSpPr>
          <p:cNvPr id="19" name="Text 16"/>
          <p:cNvSpPr txBox="1"/>
          <p:nvPr/>
        </p:nvSpPr>
        <p:spPr>
          <a:xfrm>
            <a:off x="745236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Hojas como perfiles C_n (C_1 = mayor riesgo)</a:t>
            </a:r>
            <a:endParaRPr lang="en-US" sz="1300" dirty="0"/>
          </a:p>
        </p:txBody>
      </p:sp>
      <p:sp>
        <p:nvSpPr>
          <p:cNvPr id="20" name="Shape 17"/>
          <p:cNvSpPr/>
          <p:nvPr/>
        </p:nvSpPr>
        <p:spPr>
          <a:xfrm>
            <a:off x="9509760" y="1463040"/>
            <a:ext cx="2057400" cy="2286000"/>
          </a:xfrm>
          <a:prstGeom prst="roundRect">
            <a:avLst>
              <a:gd name="adj" fmla="val 3556"/>
            </a:avLst>
          </a:prstGeom>
          <a:solidFill>
            <a:srgbClr val="F2F4F9"/>
          </a:solidFill>
          <a:ln w="12700">
            <a:solidFill>
              <a:srgbClr val="F2F4F9"/>
            </a:solidFill>
            <a:prstDash val="solid"/>
          </a:ln>
        </p:spPr>
      </p:sp>
      <p:sp>
        <p:nvSpPr>
          <p:cNvPr id="21" name="Text 18"/>
          <p:cNvSpPr txBox="1"/>
          <p:nvPr/>
        </p:nvSpPr>
        <p:spPr>
          <a:xfrm>
            <a:off x="9692640" y="1600200"/>
            <a:ext cx="548640" cy="457200"/>
          </a:xfrm>
          <a:prstGeom prst="rect">
            <a:avLst/>
          </a:prstGeom>
          <a:noFill/>
          <a:ln/>
        </p:spPr>
        <p:txBody>
          <a:bodyPr wrap="square" lIns="0" tIns="0" rIns="0" bIns="0" rtlCol="0" anchor="ctr"/>
          <a:lstStyle/>
          <a:p>
            <a:pPr indent="0" marL="0">
              <a:buNone/>
            </a:pPr>
            <a:r>
              <a:rPr lang="en-US" sz="2600" b="1" dirty="0">
                <a:solidFill>
                  <a:srgbClr val="F2B01E"/>
                </a:solidFill>
              </a:rPr>
              <a:t>5</a:t>
            </a:r>
            <a:endParaRPr lang="en-US" sz="2600" dirty="0"/>
          </a:p>
        </p:txBody>
      </p:sp>
      <p:sp>
        <p:nvSpPr>
          <p:cNvPr id="22" name="Text 19"/>
          <p:cNvSpPr txBox="1"/>
          <p:nvPr/>
        </p:nvSpPr>
        <p:spPr>
          <a:xfrm>
            <a:off x="9692640" y="2103120"/>
            <a:ext cx="1737360" cy="411480"/>
          </a:xfrm>
          <a:prstGeom prst="rect">
            <a:avLst/>
          </a:prstGeom>
          <a:noFill/>
          <a:ln/>
        </p:spPr>
        <p:txBody>
          <a:bodyPr wrap="square" lIns="0" tIns="0" rIns="0" bIns="0" rtlCol="0" anchor="ctr"/>
          <a:lstStyle/>
          <a:p>
            <a:pPr indent="0" marL="0">
              <a:buNone/>
            </a:pPr>
            <a:r>
              <a:rPr lang="en-US" sz="1800" b="1" dirty="0">
                <a:solidFill>
                  <a:srgbClr val="1F2A52"/>
                </a:solidFill>
              </a:rPr>
              <a:t>Validación</a:t>
            </a:r>
            <a:endParaRPr lang="en-US" sz="1800" dirty="0"/>
          </a:p>
        </p:txBody>
      </p:sp>
      <p:sp>
        <p:nvSpPr>
          <p:cNvPr id="23" name="Text 20"/>
          <p:cNvSpPr txBox="1"/>
          <p:nvPr/>
        </p:nvSpPr>
        <p:spPr>
          <a:xfrm>
            <a:off x="9692640" y="2560320"/>
            <a:ext cx="1691640" cy="1097280"/>
          </a:xfrm>
          <a:prstGeom prst="rect">
            <a:avLst/>
          </a:prstGeom>
          <a:noFill/>
          <a:ln/>
        </p:spPr>
        <p:txBody>
          <a:bodyPr wrap="square" lIns="0" tIns="0" rIns="0" bIns="0" rtlCol="0" anchor="t"/>
          <a:lstStyle/>
          <a:p>
            <a:pPr indent="0" marL="0">
              <a:buNone/>
            </a:pPr>
            <a:r>
              <a:rPr lang="en-US" sz="1300" dirty="0">
                <a:solidFill>
                  <a:srgbClr val="1A1F36"/>
                </a:solidFill>
              </a:rPr>
              <a:t>GINI por periodo y población de producción</a:t>
            </a:r>
            <a:endParaRPr lang="en-US" sz="1300" dirty="0"/>
          </a:p>
        </p:txBody>
      </p:sp>
      <p:sp>
        <p:nvSpPr>
          <p:cNvPr id="24" name="Shape 21"/>
          <p:cNvSpPr/>
          <p:nvPr/>
        </p:nvSpPr>
        <p:spPr>
          <a:xfrm>
            <a:off x="548640" y="4023360"/>
            <a:ext cx="11064240" cy="2103120"/>
          </a:xfrm>
          <a:prstGeom prst="roundRect">
            <a:avLst>
              <a:gd name="adj" fmla="val 3478"/>
            </a:avLst>
          </a:prstGeom>
          <a:solidFill>
            <a:srgbClr val="F2F4F9"/>
          </a:solidFill>
          <a:ln w="12700">
            <a:solidFill>
              <a:srgbClr val="F2F4F9"/>
            </a:solidFill>
            <a:prstDash val="solid"/>
          </a:ln>
        </p:spPr>
      </p:sp>
      <p:sp>
        <p:nvSpPr>
          <p:cNvPr id="25" name="Text 22"/>
          <p:cNvSpPr txBox="1"/>
          <p:nvPr/>
        </p:nvSpPr>
        <p:spPr>
          <a:xfrm>
            <a:off x="777240" y="4114800"/>
            <a:ext cx="10515600" cy="365760"/>
          </a:xfrm>
          <a:prstGeom prst="rect">
            <a:avLst/>
          </a:prstGeom>
          <a:noFill/>
          <a:ln/>
        </p:spPr>
        <p:txBody>
          <a:bodyPr wrap="square" lIns="0" tIns="0" rIns="0" bIns="0" rtlCol="0" anchor="ctr"/>
          <a:lstStyle/>
          <a:p>
            <a:pPr indent="0" marL="0">
              <a:buNone/>
            </a:pPr>
            <a:r>
              <a:rPr lang="en-US" sz="1600" b="1" dirty="0">
                <a:solidFill>
                  <a:srgbClr val="1F2A52"/>
                </a:solidFill>
              </a:rPr>
              <a:t>Parámetros y convenciones</a:t>
            </a:r>
            <a:endParaRPr lang="en-US" sz="1600" dirty="0"/>
          </a:p>
        </p:txBody>
      </p:sp>
      <p:sp>
        <p:nvSpPr>
          <p:cNvPr id="26" name="Text 23"/>
          <p:cNvSpPr txBox="1"/>
          <p:nvPr/>
        </p:nvSpPr>
        <p:spPr>
          <a:xfrm>
            <a:off x="777240" y="4572000"/>
            <a:ext cx="1060704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F36"/>
                </a:solidFill>
              </a:rPr>
              <a:t>Pesos de clase en el entrenamiento: CE malo 16.22 y bueno 0.515; SE malo 12.74 y bueno 0.520.</a:t>
            </a:r>
            <a:endParaRPr lang="en-US" sz="1400" dirty="0"/>
          </a:p>
          <a:p>
            <a:pPr marL="342900" indent="-342900">
              <a:spcAft>
                <a:spcPts val="800"/>
              </a:spcAft>
              <a:buSzPct val="100000"/>
              <a:buChar char="•"/>
            </a:pPr>
            <a:r>
              <a:rPr lang="en-US" sz="1400" dirty="0">
                <a:solidFill>
                  <a:srgbClr val="1A1F36"/>
                </a:solidFill>
              </a:rPr>
              <a:t>Tasa de malo = malos entre clientes reales del grupo. Los pesos inflan la probabilidad del árbol y no se reportan como tasa.</a:t>
            </a:r>
            <a:endParaRPr lang="en-US" sz="1400" dirty="0"/>
          </a:p>
          <a:p>
            <a:pPr marL="342900" indent="-342900">
              <a:spcAft>
                <a:spcPts val="800"/>
              </a:spcAft>
              <a:buSzPct val="100000"/>
              <a:buChar char="•"/>
            </a:pPr>
            <a:r>
              <a:rPr lang="en-US" sz="1400" dirty="0">
                <a:solidFill>
                  <a:srgbClr val="1A1F36"/>
                </a:solidFill>
              </a:rPr>
              <a:t>Los cortes del árbol se aplican sobre el WOE; las reglas finales usan el valor original del saldo y del score.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Nota importante sobre la comparabilidad</a:t>
            </a:r>
            <a:endParaRPr lang="en-US" sz="3000" dirty="0"/>
          </a:p>
        </p:txBody>
      </p:sp>
      <p:sp>
        <p:nvSpPr>
          <p:cNvPr id="4" name="Shape 1"/>
          <p:cNvSpPr/>
          <p:nvPr/>
        </p:nvSpPr>
        <p:spPr>
          <a:xfrm>
            <a:off x="548640" y="1371600"/>
            <a:ext cx="5394960" cy="2377440"/>
          </a:xfrm>
          <a:prstGeom prst="roundRect">
            <a:avLst>
              <a:gd name="adj" fmla="val 3077"/>
            </a:avLst>
          </a:prstGeom>
          <a:solidFill>
            <a:srgbClr val="1F2A52"/>
          </a:solidFill>
          <a:ln w="12700">
            <a:solidFill>
              <a:srgbClr val="1F2A52"/>
            </a:solidFill>
            <a:prstDash val="solid"/>
          </a:ln>
        </p:spPr>
      </p:sp>
      <p:sp>
        <p:nvSpPr>
          <p:cNvPr id="5" name="Text 2"/>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F2B01E"/>
                </a:solidFill>
              </a:rPr>
              <a:t>Saldo a la fecha de corte</a:t>
            </a:r>
            <a:endParaRPr lang="en-US" sz="2000" dirty="0"/>
          </a:p>
        </p:txBody>
      </p:sp>
      <p:sp>
        <p:nvSpPr>
          <p:cNvPr id="6" name="Text 3"/>
          <p:cNvSpPr txBox="1"/>
          <p:nvPr/>
        </p:nvSpPr>
        <p:spPr>
          <a:xfrm>
            <a:off x="822960" y="2148840"/>
            <a:ext cx="4846320" cy="1463040"/>
          </a:xfrm>
          <a:prstGeom prst="rect">
            <a:avLst/>
          </a:prstGeom>
          <a:noFill/>
          <a:ln/>
        </p:spPr>
        <p:txBody>
          <a:bodyPr wrap="square" lIns="0" tIns="0" rIns="0" bIns="0" rtlCol="0" anchor="t"/>
          <a:lstStyle/>
          <a:p>
            <a:pPr indent="0" marL="0">
              <a:buNone/>
            </a:pPr>
            <a:r>
              <a:rPr lang="en-US" sz="1700" dirty="0">
                <a:solidFill>
                  <a:srgbClr val="FFFFFF"/>
                </a:solidFill>
              </a:rPr>
              <a:t>Se evaluó con enero como único mes de referencia.</a:t>
            </a:r>
            <a:endParaRPr lang="en-US" sz="1700" dirty="0"/>
          </a:p>
        </p:txBody>
      </p:sp>
      <p:sp>
        <p:nvSpPr>
          <p:cNvPr id="7" name="Shape 4"/>
          <p:cNvSpPr/>
          <p:nvPr/>
        </p:nvSpPr>
        <p:spPr>
          <a:xfrm>
            <a:off x="6217920" y="1371600"/>
            <a:ext cx="5394960" cy="2377440"/>
          </a:xfrm>
          <a:prstGeom prst="roundRect">
            <a:avLst>
              <a:gd name="adj" fmla="val 3077"/>
            </a:avLst>
          </a:prstGeom>
          <a:solidFill>
            <a:srgbClr val="1F2A52"/>
          </a:solidFill>
          <a:ln w="12700">
            <a:solidFill>
              <a:srgbClr val="1F2A52"/>
            </a:solidFill>
            <a:prstDash val="solid"/>
          </a:ln>
        </p:spPr>
      </p:sp>
      <p:sp>
        <p:nvSpPr>
          <p:cNvPr id="8" name="Text 5"/>
          <p:cNvSpPr txBox="1"/>
          <p:nvPr/>
        </p:nvSpPr>
        <p:spPr>
          <a:xfrm>
            <a:off x="6492240" y="1554480"/>
            <a:ext cx="4846320" cy="457200"/>
          </a:xfrm>
          <a:prstGeom prst="rect">
            <a:avLst/>
          </a:prstGeom>
          <a:noFill/>
          <a:ln/>
        </p:spPr>
        <p:txBody>
          <a:bodyPr wrap="square" lIns="0" tIns="0" rIns="0" bIns="0" rtlCol="0" anchor="ctr"/>
          <a:lstStyle/>
          <a:p>
            <a:pPr indent="0" marL="0">
              <a:buNone/>
            </a:pPr>
            <a:r>
              <a:rPr lang="en-US" sz="2000" b="1" dirty="0">
                <a:solidFill>
                  <a:srgbClr val="F2B01E"/>
                </a:solidFill>
              </a:rPr>
              <a:t>Promedio de 6 meses</a:t>
            </a:r>
            <a:endParaRPr lang="en-US" sz="2000" dirty="0"/>
          </a:p>
        </p:txBody>
      </p:sp>
      <p:sp>
        <p:nvSpPr>
          <p:cNvPr id="9" name="Text 6"/>
          <p:cNvSpPr txBox="1"/>
          <p:nvPr/>
        </p:nvSpPr>
        <p:spPr>
          <a:xfrm>
            <a:off x="6492240" y="2148840"/>
            <a:ext cx="4846320" cy="1463040"/>
          </a:xfrm>
          <a:prstGeom prst="rect">
            <a:avLst/>
          </a:prstGeom>
          <a:noFill/>
          <a:ln/>
        </p:spPr>
        <p:txBody>
          <a:bodyPr wrap="square" lIns="0" tIns="0" rIns="0" bIns="0" rtlCol="0" anchor="t"/>
          <a:lstStyle/>
          <a:p>
            <a:pPr indent="0" marL="0">
              <a:buNone/>
            </a:pPr>
            <a:r>
              <a:rPr lang="en-US" sz="1700" dirty="0">
                <a:solidFill>
                  <a:srgbClr val="FFFFFF"/>
                </a:solidFill>
              </a:rPr>
              <a:t>Se evaluó con el agregado de varios meses, incluido diciembre, para reducir el impacto de los saltos de ese mes.</a:t>
            </a:r>
            <a:endParaRPr lang="en-US" sz="1700" dirty="0"/>
          </a:p>
        </p:txBody>
      </p:sp>
      <p:sp>
        <p:nvSpPr>
          <p:cNvPr id="10" name="Shape 7"/>
          <p:cNvSpPr/>
          <p:nvPr/>
        </p:nvSpPr>
        <p:spPr>
          <a:xfrm>
            <a:off x="548640" y="4023360"/>
            <a:ext cx="11064240" cy="2103120"/>
          </a:xfrm>
          <a:prstGeom prst="roundRect">
            <a:avLst>
              <a:gd name="adj" fmla="val 3478"/>
            </a:avLst>
          </a:prstGeom>
          <a:solidFill>
            <a:srgbClr val="FFF7E0"/>
          </a:solidFill>
          <a:ln w="15875">
            <a:solidFill>
              <a:srgbClr val="F2B01E"/>
            </a:solidFill>
            <a:prstDash val="solid"/>
          </a:ln>
        </p:spPr>
      </p:sp>
      <p:sp>
        <p:nvSpPr>
          <p:cNvPr id="11" name="Text 8"/>
          <p:cNvSpPr txBox="1"/>
          <p:nvPr/>
        </p:nvSpPr>
        <p:spPr>
          <a:xfrm>
            <a:off x="777240" y="413308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Qué implica</a:t>
            </a:r>
            <a:endParaRPr lang="en-US" sz="1600" dirty="0"/>
          </a:p>
        </p:txBody>
      </p:sp>
      <p:sp>
        <p:nvSpPr>
          <p:cNvPr id="12" name="Text 9"/>
          <p:cNvSpPr txBox="1"/>
          <p:nvPr/>
        </p:nvSpPr>
        <p:spPr>
          <a:xfrm>
            <a:off x="777240" y="4526280"/>
            <a:ext cx="10607040" cy="1508760"/>
          </a:xfrm>
          <a:prstGeom prst="rect">
            <a:avLst/>
          </a:prstGeom>
          <a:noFill/>
          <a:ln/>
        </p:spPr>
        <p:txBody>
          <a:bodyPr wrap="square" lIns="0" tIns="0" rIns="0" bIns="0" rtlCol="0" anchor="t"/>
          <a:lstStyle/>
          <a:p>
            <a:pPr indent="0" marL="0">
              <a:buNone/>
            </a:pPr>
            <a:r>
              <a:rPr lang="en-US" sz="1400" dirty="0">
                <a:solidFill>
                  <a:srgbClr val="1A1F36"/>
                </a:solidFill>
              </a:rPr>
              <a:t>Las diferencias entre ventanas mezclan el efecto del saldo con el efecto de los meses usados. Hasta correr la segmentación del corte con los mismos meses, las conclusiones sobre estabilidad en diciembre son preliminares. Los indicadores de poder discriminante (IV, GINI) sí comparan las ventanas sobre la misma base de modelado.</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Selección de la ventana: IV del saldo</a:t>
            </a:r>
            <a:endParaRPr lang="en-US" sz="3000" dirty="0"/>
          </a:p>
        </p:txBody>
      </p:sp>
      <p:graphicFrame>
        <p:nvGraphicFramePr>
          <p:cNvPr id="4" name="Chart 0" descr=""/>
          <p:cNvGraphicFramePr/>
          <p:nvPr/>
        </p:nvGraphicFramePr>
        <p:xfrm>
          <a:off x="548640" y="1280160"/>
          <a:ext cx="539496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80160"/>
          <a:ext cx="5394960" cy="338328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4846320"/>
            <a:ext cx="11064240" cy="1325880"/>
          </a:xfrm>
          <a:prstGeom prst="roundRect">
            <a:avLst>
              <a:gd name="adj" fmla="val 5517"/>
            </a:avLst>
          </a:prstGeom>
          <a:solidFill>
            <a:srgbClr val="FFF7E0"/>
          </a:solidFill>
          <a:ln w="15875">
            <a:solidFill>
              <a:srgbClr val="F2B01E"/>
            </a:solidFill>
            <a:prstDash val="solid"/>
          </a:ln>
        </p:spPr>
      </p:sp>
      <p:sp>
        <p:nvSpPr>
          <p:cNvPr id="7" name="Text 2"/>
          <p:cNvSpPr txBox="1"/>
          <p:nvPr/>
        </p:nvSpPr>
        <p:spPr>
          <a:xfrm>
            <a:off x="777240" y="495604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12M descartado</a:t>
            </a:r>
            <a:endParaRPr lang="en-US" sz="1600" dirty="0"/>
          </a:p>
        </p:txBody>
      </p:sp>
      <p:sp>
        <p:nvSpPr>
          <p:cNvPr id="8" name="Text 3"/>
          <p:cNvSpPr txBox="1"/>
          <p:nvPr/>
        </p:nvSpPr>
        <p:spPr>
          <a:xfrm>
            <a:off x="777240" y="5349240"/>
            <a:ext cx="10607040" cy="731520"/>
          </a:xfrm>
          <a:prstGeom prst="rect">
            <a:avLst/>
          </a:prstGeom>
          <a:noFill/>
          <a:ln/>
        </p:spPr>
        <p:txBody>
          <a:bodyPr wrap="square" lIns="0" tIns="0" rIns="0" bIns="0" rtlCol="0" anchor="t"/>
          <a:lstStyle/>
          <a:p>
            <a:pPr indent="0" marL="0">
              <a:buNone/>
            </a:pPr>
            <a:r>
              <a:rPr lang="en-US" sz="1400" dirty="0">
                <a:solidFill>
                  <a:srgbClr val="1A1F36"/>
                </a:solidFill>
              </a:rPr>
              <a:t>El promedio 12M tiene el IV más bajo entre las ventanas de saldo en CE (0.043) y en SE (0.235), y el flujo de Saldos no lo trae. En CE el IV baja de 0.165 (corte) a 0.071 (6M); en SE, de 0.287 a 0.248.</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Binning de avgSaldoCuentasU6M · CE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37360"/>
                <a:gridCol w="914400"/>
                <a:gridCol w="868680"/>
                <a:gridCol w="777240"/>
                <a:gridCol w="914400"/>
                <a:gridCol w="731520"/>
                <a:gridCol w="82296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Bin</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Eventos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evento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IV</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&lt; 67.44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16,987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-0.443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67.44 – 275.64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28,279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-0.125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275.64 – 495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16,961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0.035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495 – 1,119.13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22,630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 1,119.13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28,263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0.318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993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114,113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3,516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3.08%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0.071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498080" y="128016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400" dirty="0">
                <a:solidFill>
                  <a:srgbClr val="1A1F36"/>
                </a:solidFill>
              </a:rPr>
              <a:t>La tasa de evento sube cuando el saldo promedio baja. El IV total es 0.071.</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Binning de avgSaldoCuentasU6M · SE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37360"/>
                <a:gridCol w="914400"/>
                <a:gridCol w="868680"/>
                <a:gridCol w="777240"/>
                <a:gridCol w="914400"/>
                <a:gridCol w="731520"/>
                <a:gridCol w="82296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Bin</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Eventos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evento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IV</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&lt; 53.10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17,100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7.87%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-0.739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0.114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53.10 – 166.43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22,776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-0.105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166.43 – 302.54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17,090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302.54 – 865.21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28,479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 865.21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28,477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0.633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2,486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9.37%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-0.929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0.029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116,408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4,566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F36"/>
                          </a:solidFill>
                          <a:latin typeface="Calibri" pitchFamily="34" charset="0"/>
                          <a:ea typeface="Calibri" pitchFamily="34" charset="-122"/>
                          <a:cs typeface="Calibri" pitchFamily="34" charset="-120"/>
                        </a:rPr>
                        <a:t>0.248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498080" y="128016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400" dirty="0">
                <a:solidFill>
                  <a:srgbClr val="1A1F36"/>
                </a:solidFill>
              </a:rPr>
              <a:t>El Missing (2.1% de la muestra) es el bin de mayor riesgo, con WOE −0.93. El IV total es 0.248.</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CE · Grupos del árbol con promedio 6M</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595360" cy="914400"/>
        </p:xfrm>
        <a:graphic>
          <a:graphicData uri="http://schemas.openxmlformats.org/drawingml/2006/table">
            <a:tbl>
              <a:tblPr/>
              <a:tblGrid>
                <a:gridCol w="1737360"/>
                <a:gridCol w="979714"/>
                <a:gridCol w="979714"/>
                <a:gridCol w="979714"/>
                <a:gridCol w="979714"/>
                <a:gridCol w="979714"/>
                <a:gridCol w="979714"/>
                <a:gridCol w="979714"/>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Saldo promedio 6M ↓ · Score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&lt; 800 / missing</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800–893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894–919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920–959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960–970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971–978</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979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1,120</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496–1,119</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276–495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68–275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67</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bl>
          </a:graphicData>
        </a:graphic>
      </p:graphicFrame>
      <p:sp>
        <p:nvSpPr>
          <p:cNvPr id="5" name="Shape 1"/>
          <p:cNvSpPr/>
          <p:nvPr/>
        </p:nvSpPr>
        <p:spPr>
          <a:xfrm>
            <a:off x="9418320" y="1371600"/>
            <a:ext cx="320040" cy="320040"/>
          </a:xfrm>
          <a:prstGeom prst="roundRect">
            <a:avLst>
              <a:gd name="adj" fmla="val 14286"/>
            </a:avLst>
          </a:prstGeom>
          <a:solidFill>
            <a:srgbClr val="D64545"/>
          </a:solidFill>
          <a:ln w="12700">
            <a:solidFill>
              <a:srgbClr val="D64545"/>
            </a:solidFill>
            <a:prstDash val="solid"/>
          </a:ln>
        </p:spPr>
      </p:sp>
      <p:sp>
        <p:nvSpPr>
          <p:cNvPr id="6" name="Text 2"/>
          <p:cNvSpPr txBox="1"/>
          <p:nvPr/>
        </p:nvSpPr>
        <p:spPr>
          <a:xfrm>
            <a:off x="9829800" y="13716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Crítico</a:t>
            </a:r>
            <a:endParaRPr lang="en-US" sz="1300" dirty="0"/>
          </a:p>
        </p:txBody>
      </p:sp>
      <p:sp>
        <p:nvSpPr>
          <p:cNvPr id="7" name="Shape 3"/>
          <p:cNvSpPr/>
          <p:nvPr/>
        </p:nvSpPr>
        <p:spPr>
          <a:xfrm>
            <a:off x="9418320" y="1828800"/>
            <a:ext cx="320040" cy="320040"/>
          </a:xfrm>
          <a:prstGeom prst="roundRect">
            <a:avLst>
              <a:gd name="adj" fmla="val 14286"/>
            </a:avLst>
          </a:prstGeom>
          <a:solidFill>
            <a:srgbClr val="EE8A4B"/>
          </a:solidFill>
          <a:ln w="12700">
            <a:solidFill>
              <a:srgbClr val="EE8A4B"/>
            </a:solidFill>
            <a:prstDash val="solid"/>
          </a:ln>
        </p:spPr>
      </p:sp>
      <p:sp>
        <p:nvSpPr>
          <p:cNvPr id="8" name="Text 4"/>
          <p:cNvSpPr txBox="1"/>
          <p:nvPr/>
        </p:nvSpPr>
        <p:spPr>
          <a:xfrm>
            <a:off x="9829800" y="18288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Alto</a:t>
            </a:r>
            <a:endParaRPr lang="en-US" sz="1300" dirty="0"/>
          </a:p>
        </p:txBody>
      </p:sp>
      <p:sp>
        <p:nvSpPr>
          <p:cNvPr id="9" name="Shape 5"/>
          <p:cNvSpPr/>
          <p:nvPr/>
        </p:nvSpPr>
        <p:spPr>
          <a:xfrm>
            <a:off x="9418320" y="2286000"/>
            <a:ext cx="320040" cy="320040"/>
          </a:xfrm>
          <a:prstGeom prst="roundRect">
            <a:avLst>
              <a:gd name="adj" fmla="val 14286"/>
            </a:avLst>
          </a:prstGeom>
          <a:solidFill>
            <a:srgbClr val="F2CF4E"/>
          </a:solidFill>
          <a:ln w="12700">
            <a:solidFill>
              <a:srgbClr val="F2CF4E"/>
            </a:solidFill>
            <a:prstDash val="solid"/>
          </a:ln>
        </p:spPr>
      </p:sp>
      <p:sp>
        <p:nvSpPr>
          <p:cNvPr id="10" name="Text 6"/>
          <p:cNvSpPr txBox="1"/>
          <p:nvPr/>
        </p:nvSpPr>
        <p:spPr>
          <a:xfrm>
            <a:off x="9829800" y="22860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Potencial</a:t>
            </a:r>
            <a:endParaRPr lang="en-US" sz="1300" dirty="0"/>
          </a:p>
        </p:txBody>
      </p:sp>
      <p:sp>
        <p:nvSpPr>
          <p:cNvPr id="11" name="Shape 7"/>
          <p:cNvSpPr/>
          <p:nvPr/>
        </p:nvSpPr>
        <p:spPr>
          <a:xfrm>
            <a:off x="9418320" y="2743200"/>
            <a:ext cx="320040" cy="320040"/>
          </a:xfrm>
          <a:prstGeom prst="roundRect">
            <a:avLst>
              <a:gd name="adj" fmla="val 14286"/>
            </a:avLst>
          </a:prstGeom>
          <a:solidFill>
            <a:srgbClr val="9CC55B"/>
          </a:solidFill>
          <a:ln w="12700">
            <a:solidFill>
              <a:srgbClr val="9CC55B"/>
            </a:solidFill>
            <a:prstDash val="solid"/>
          </a:ln>
        </p:spPr>
      </p:sp>
      <p:sp>
        <p:nvSpPr>
          <p:cNvPr id="12" name="Text 8"/>
          <p:cNvSpPr txBox="1"/>
          <p:nvPr/>
        </p:nvSpPr>
        <p:spPr>
          <a:xfrm>
            <a:off x="9829800" y="27432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Medio</a:t>
            </a:r>
            <a:endParaRPr lang="en-US" sz="1300" dirty="0"/>
          </a:p>
        </p:txBody>
      </p:sp>
      <p:sp>
        <p:nvSpPr>
          <p:cNvPr id="13" name="Shape 9"/>
          <p:cNvSpPr/>
          <p:nvPr/>
        </p:nvSpPr>
        <p:spPr>
          <a:xfrm>
            <a:off x="9418320" y="3200400"/>
            <a:ext cx="320040" cy="320040"/>
          </a:xfrm>
          <a:prstGeom prst="roundRect">
            <a:avLst>
              <a:gd name="adj" fmla="val 14286"/>
            </a:avLst>
          </a:prstGeom>
          <a:solidFill>
            <a:srgbClr val="3FA34D"/>
          </a:solidFill>
          <a:ln w="12700">
            <a:solidFill>
              <a:srgbClr val="3FA34D"/>
            </a:solidFill>
            <a:prstDash val="solid"/>
          </a:ln>
        </p:spPr>
      </p:sp>
      <p:sp>
        <p:nvSpPr>
          <p:cNvPr id="14" name="Text 10"/>
          <p:cNvSpPr txBox="1"/>
          <p:nvPr/>
        </p:nvSpPr>
        <p:spPr>
          <a:xfrm>
            <a:off x="9829800" y="32004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Bajo</a:t>
            </a:r>
            <a:endParaRPr lang="en-US" sz="1300" dirty="0"/>
          </a:p>
        </p:txBody>
      </p:sp>
      <p:sp>
        <p:nvSpPr>
          <p:cNvPr id="15" name="Shape 11"/>
          <p:cNvSpPr/>
          <p:nvPr/>
        </p:nvSpPr>
        <p:spPr>
          <a:xfrm>
            <a:off x="9418320" y="3794760"/>
            <a:ext cx="2286000" cy="2148840"/>
          </a:xfrm>
          <a:prstGeom prst="roundRect">
            <a:avLst>
              <a:gd name="adj" fmla="val 3404"/>
            </a:avLst>
          </a:prstGeom>
          <a:solidFill>
            <a:srgbClr val="F2F4F9"/>
          </a:solidFill>
          <a:ln w="12700">
            <a:solidFill>
              <a:srgbClr val="F2F4F9"/>
            </a:solidFill>
            <a:prstDash val="solid"/>
          </a:ln>
        </p:spPr>
      </p:sp>
      <p:sp>
        <p:nvSpPr>
          <p:cNvPr id="16" name="Text 12"/>
          <p:cNvSpPr txBox="1"/>
          <p:nvPr/>
        </p:nvSpPr>
        <p:spPr>
          <a:xfrm>
            <a:off x="9555480" y="3886200"/>
            <a:ext cx="2057400" cy="2011680"/>
          </a:xfrm>
          <a:prstGeom prst="rect">
            <a:avLst/>
          </a:prstGeom>
          <a:noFill/>
          <a:ln/>
        </p:spPr>
        <p:txBody>
          <a:bodyPr wrap="square" lIns="0" tIns="0" rIns="0" bIns="0" rtlCol="0" anchor="t"/>
          <a:lstStyle/>
          <a:p>
            <a:pPr indent="0" marL="0">
              <a:buNone/>
            </a:pPr>
            <a:r>
              <a:rPr lang="en-US" sz="1400" b="1" dirty="0">
                <a:solidFill>
                  <a:srgbClr val="1F2A52"/>
                </a:solidFill>
              </a:rPr>
              <a:t>Árbol</a:t>
            </a:r>
            <a:endParaRPr lang="en-US" sz="1400" dirty="0"/>
          </a:p>
          <a:p>
            <a:pPr indent="0" marL="0">
              <a:buNone/>
            </a:pPr>
            <a:r>
              <a:rPr lang="en-US" sz="1100" dirty="0">
                <a:solidFill>
                  <a:srgbClr val="1A1F36"/>
                </a:solidFill>
              </a:rPr>
              <a:t>AUC test 0.6678</a:t>
            </a:r>
            <a:endParaRPr lang="en-US" sz="1400" dirty="0"/>
          </a:p>
          <a:p>
            <a:pPr indent="0" marL="0">
              <a:buNone/>
            </a:pPr>
            <a:r>
              <a:rPr lang="en-US" sz="1100" dirty="0">
                <a:solidFill>
                  <a:srgbClr val="1A1F36"/>
                </a:solidFill>
              </a:rPr>
              <a:t>GINI test 0.3357</a:t>
            </a:r>
            <a:endParaRPr lang="en-US" sz="1400" dirty="0"/>
          </a:p>
          <a:p>
            <a:pPr indent="0" marL="0">
              <a:buNone/>
            </a:pPr>
            <a:r>
              <a:rPr lang="en-US" sz="1100" dirty="0">
                <a:solidFill>
                  <a:srgbClr val="1A1F36"/>
                </a:solidFill>
              </a:rPr>
              <a:t>AUC train 0.6471</a:t>
            </a:r>
            <a:endParaRPr lang="en-US" sz="1400" dirty="0"/>
          </a:p>
          <a:p>
            <a:pPr indent="0" marL="0">
              <a:buNone/>
            </a:pPr>
            <a:r>
              <a:rPr lang="en-US" sz="1100" dirty="0">
                <a:solidFill>
                  <a:srgbClr val="1A1F36"/>
                </a:solidFill>
              </a:rPr>
              <a:t>GINI train 0.2942</a:t>
            </a:r>
            <a:endParaRPr lang="en-US" sz="1400" dirty="0"/>
          </a:p>
        </p:txBody>
      </p:sp>
      <p:sp>
        <p:nvSpPr>
          <p:cNvPr id="17" name="Text 13"/>
          <p:cNvSpPr txBox="1"/>
          <p:nvPr/>
        </p:nvSpPr>
        <p:spPr>
          <a:xfrm>
            <a:off x="548640" y="5669280"/>
            <a:ext cx="8595360" cy="548640"/>
          </a:xfrm>
          <a:prstGeom prst="rect">
            <a:avLst/>
          </a:prstGeom>
          <a:noFill/>
          <a:ln/>
        </p:spPr>
        <p:txBody>
          <a:bodyPr wrap="square" lIns="0" tIns="0" rIns="0" bIns="0" rtlCol="0" anchor="t"/>
          <a:lstStyle/>
          <a:p>
            <a:pPr indent="0" marL="0">
              <a:buNone/>
            </a:pPr>
            <a:r>
              <a:rPr lang="en-US" sz="1100" dirty="0">
                <a:solidFill>
                  <a:srgbClr val="6B7390"/>
                </a:solidFill>
              </a:rPr>
              <a:t>Los nombres de los grupos siguen el orden de riesgo del árbol (C_1 = mayor riesgo). Tasa de malo = malos entre clientes de la población de modelado.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CE · Distribución y tasa de malo por grupo (6M)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772400" cy="914400"/>
        </p:xfrm>
        <a:graphic>
          <a:graphicData uri="http://schemas.openxmlformats.org/drawingml/2006/table">
            <a:tbl>
              <a:tblPr/>
              <a:tblGrid>
                <a:gridCol w="685800"/>
                <a:gridCol w="914400"/>
                <a:gridCol w="1051560"/>
                <a:gridCol w="2011680"/>
                <a:gridCol w="777240"/>
                <a:gridCol w="594360"/>
                <a:gridCol w="777240"/>
                <a:gridCol w="96012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Grupo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score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saldo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Malos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de malo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496–1,119 a ≥1,120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10,153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 a 276–495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7,543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971–978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276–495 a ≥1,120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8,281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960–970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276–495 a ≥1,120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10,482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207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960–978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 a 68–275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11,104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267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≥1,120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11,018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496–1,119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9,757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278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68–275 a 276–495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22,099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806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19.4%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893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276–495 a ≥1,120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8,321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410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894–959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8,126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410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893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≤67 a 68–275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7,229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528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7.30%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114,113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3,516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8503920" y="1188720"/>
          <a:ext cx="338328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 · Grupos del árbol con promedio 6M</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595360" cy="914400"/>
        </p:xfrm>
        <a:graphic>
          <a:graphicData uri="http://schemas.openxmlformats.org/drawingml/2006/table">
            <a:tbl>
              <a:tblPr/>
              <a:tblGrid>
                <a:gridCol w="1737360"/>
                <a:gridCol w="857250"/>
                <a:gridCol w="857250"/>
                <a:gridCol w="857250"/>
                <a:gridCol w="857250"/>
                <a:gridCol w="857250"/>
                <a:gridCol w="857250"/>
                <a:gridCol w="857250"/>
                <a:gridCol w="857250"/>
              </a:tblGrid>
              <a:tr h="5486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Saldo promedio 6M ↓ · Score →</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&lt; 800 / missing</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800–868</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869–872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873–919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920–939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940–959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960–971</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972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52"/>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866</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303–865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167–302</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54–166</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8A4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CC55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FA34D"/>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 53</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r>
              <a:tr h="585216">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Missing</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4F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p>
                      <a:pPr algn="ctr" indent="0" marL="0">
                        <a:buNone/>
                      </a:pPr>
                      <a:r>
                        <a:rPr lang="en-US" sz="1100" dirty="0">
                          <a:solidFill>
                            <a:srgbClr val="FFFFFF"/>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p>
                      <a:pPr algn="ctr" indent="0" marL="0">
                        <a:buNone/>
                      </a:pPr>
                      <a:r>
                        <a:rPr lang="en-US" sz="1100"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CF4E"/>
                    </a:solidFill>
                  </a:tcPr>
                </a:tc>
              </a:tr>
            </a:tbl>
          </a:graphicData>
        </a:graphic>
      </p:graphicFrame>
      <p:sp>
        <p:nvSpPr>
          <p:cNvPr id="5" name="Shape 1"/>
          <p:cNvSpPr/>
          <p:nvPr/>
        </p:nvSpPr>
        <p:spPr>
          <a:xfrm>
            <a:off x="9418320" y="1371600"/>
            <a:ext cx="320040" cy="320040"/>
          </a:xfrm>
          <a:prstGeom prst="roundRect">
            <a:avLst>
              <a:gd name="adj" fmla="val 14286"/>
            </a:avLst>
          </a:prstGeom>
          <a:solidFill>
            <a:srgbClr val="D64545"/>
          </a:solidFill>
          <a:ln w="12700">
            <a:solidFill>
              <a:srgbClr val="D64545"/>
            </a:solidFill>
            <a:prstDash val="solid"/>
          </a:ln>
        </p:spPr>
      </p:sp>
      <p:sp>
        <p:nvSpPr>
          <p:cNvPr id="6" name="Text 2"/>
          <p:cNvSpPr txBox="1"/>
          <p:nvPr/>
        </p:nvSpPr>
        <p:spPr>
          <a:xfrm>
            <a:off x="9829800" y="13716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Crítico</a:t>
            </a:r>
            <a:endParaRPr lang="en-US" sz="1300" dirty="0"/>
          </a:p>
        </p:txBody>
      </p:sp>
      <p:sp>
        <p:nvSpPr>
          <p:cNvPr id="7" name="Shape 3"/>
          <p:cNvSpPr/>
          <p:nvPr/>
        </p:nvSpPr>
        <p:spPr>
          <a:xfrm>
            <a:off x="9418320" y="1828800"/>
            <a:ext cx="320040" cy="320040"/>
          </a:xfrm>
          <a:prstGeom prst="roundRect">
            <a:avLst>
              <a:gd name="adj" fmla="val 14286"/>
            </a:avLst>
          </a:prstGeom>
          <a:solidFill>
            <a:srgbClr val="EE8A4B"/>
          </a:solidFill>
          <a:ln w="12700">
            <a:solidFill>
              <a:srgbClr val="EE8A4B"/>
            </a:solidFill>
            <a:prstDash val="solid"/>
          </a:ln>
        </p:spPr>
      </p:sp>
      <p:sp>
        <p:nvSpPr>
          <p:cNvPr id="8" name="Text 4"/>
          <p:cNvSpPr txBox="1"/>
          <p:nvPr/>
        </p:nvSpPr>
        <p:spPr>
          <a:xfrm>
            <a:off x="9829800" y="18288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Alto</a:t>
            </a:r>
            <a:endParaRPr lang="en-US" sz="1300" dirty="0"/>
          </a:p>
        </p:txBody>
      </p:sp>
      <p:sp>
        <p:nvSpPr>
          <p:cNvPr id="9" name="Shape 5"/>
          <p:cNvSpPr/>
          <p:nvPr/>
        </p:nvSpPr>
        <p:spPr>
          <a:xfrm>
            <a:off x="9418320" y="2286000"/>
            <a:ext cx="320040" cy="320040"/>
          </a:xfrm>
          <a:prstGeom prst="roundRect">
            <a:avLst>
              <a:gd name="adj" fmla="val 14286"/>
            </a:avLst>
          </a:prstGeom>
          <a:solidFill>
            <a:srgbClr val="F2CF4E"/>
          </a:solidFill>
          <a:ln w="12700">
            <a:solidFill>
              <a:srgbClr val="F2CF4E"/>
            </a:solidFill>
            <a:prstDash val="solid"/>
          </a:ln>
        </p:spPr>
      </p:sp>
      <p:sp>
        <p:nvSpPr>
          <p:cNvPr id="10" name="Text 6"/>
          <p:cNvSpPr txBox="1"/>
          <p:nvPr/>
        </p:nvSpPr>
        <p:spPr>
          <a:xfrm>
            <a:off x="9829800" y="22860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Potencial</a:t>
            </a:r>
            <a:endParaRPr lang="en-US" sz="1300" dirty="0"/>
          </a:p>
        </p:txBody>
      </p:sp>
      <p:sp>
        <p:nvSpPr>
          <p:cNvPr id="11" name="Shape 7"/>
          <p:cNvSpPr/>
          <p:nvPr/>
        </p:nvSpPr>
        <p:spPr>
          <a:xfrm>
            <a:off x="9418320" y="2743200"/>
            <a:ext cx="320040" cy="320040"/>
          </a:xfrm>
          <a:prstGeom prst="roundRect">
            <a:avLst>
              <a:gd name="adj" fmla="val 14286"/>
            </a:avLst>
          </a:prstGeom>
          <a:solidFill>
            <a:srgbClr val="9CC55B"/>
          </a:solidFill>
          <a:ln w="12700">
            <a:solidFill>
              <a:srgbClr val="9CC55B"/>
            </a:solidFill>
            <a:prstDash val="solid"/>
          </a:ln>
        </p:spPr>
      </p:sp>
      <p:sp>
        <p:nvSpPr>
          <p:cNvPr id="12" name="Text 8"/>
          <p:cNvSpPr txBox="1"/>
          <p:nvPr/>
        </p:nvSpPr>
        <p:spPr>
          <a:xfrm>
            <a:off x="9829800" y="27432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Medio</a:t>
            </a:r>
            <a:endParaRPr lang="en-US" sz="1300" dirty="0"/>
          </a:p>
        </p:txBody>
      </p:sp>
      <p:sp>
        <p:nvSpPr>
          <p:cNvPr id="13" name="Shape 9"/>
          <p:cNvSpPr/>
          <p:nvPr/>
        </p:nvSpPr>
        <p:spPr>
          <a:xfrm>
            <a:off x="9418320" y="3200400"/>
            <a:ext cx="320040" cy="320040"/>
          </a:xfrm>
          <a:prstGeom prst="roundRect">
            <a:avLst>
              <a:gd name="adj" fmla="val 14286"/>
            </a:avLst>
          </a:prstGeom>
          <a:solidFill>
            <a:srgbClr val="3FA34D"/>
          </a:solidFill>
          <a:ln w="12700">
            <a:solidFill>
              <a:srgbClr val="3FA34D"/>
            </a:solidFill>
            <a:prstDash val="solid"/>
          </a:ln>
        </p:spPr>
      </p:sp>
      <p:sp>
        <p:nvSpPr>
          <p:cNvPr id="14" name="Text 10"/>
          <p:cNvSpPr txBox="1"/>
          <p:nvPr/>
        </p:nvSpPr>
        <p:spPr>
          <a:xfrm>
            <a:off x="9829800" y="3200400"/>
            <a:ext cx="1737360" cy="320040"/>
          </a:xfrm>
          <a:prstGeom prst="rect">
            <a:avLst/>
          </a:prstGeom>
          <a:noFill/>
          <a:ln/>
        </p:spPr>
        <p:txBody>
          <a:bodyPr wrap="square" lIns="0" tIns="0" rIns="0" bIns="0" rtlCol="0" anchor="ctr"/>
          <a:lstStyle/>
          <a:p>
            <a:pPr indent="0" marL="0">
              <a:buNone/>
            </a:pPr>
            <a:r>
              <a:rPr lang="en-US" sz="1300" dirty="0">
                <a:solidFill>
                  <a:srgbClr val="1A1F36"/>
                </a:solidFill>
              </a:rPr>
              <a:t>Bajo</a:t>
            </a:r>
            <a:endParaRPr lang="en-US" sz="1300" dirty="0"/>
          </a:p>
        </p:txBody>
      </p:sp>
      <p:sp>
        <p:nvSpPr>
          <p:cNvPr id="15" name="Shape 11"/>
          <p:cNvSpPr/>
          <p:nvPr/>
        </p:nvSpPr>
        <p:spPr>
          <a:xfrm>
            <a:off x="9418320" y="3794760"/>
            <a:ext cx="2286000" cy="2148840"/>
          </a:xfrm>
          <a:prstGeom prst="roundRect">
            <a:avLst>
              <a:gd name="adj" fmla="val 3404"/>
            </a:avLst>
          </a:prstGeom>
          <a:solidFill>
            <a:srgbClr val="F2F4F9"/>
          </a:solidFill>
          <a:ln w="12700">
            <a:solidFill>
              <a:srgbClr val="F2F4F9"/>
            </a:solidFill>
            <a:prstDash val="solid"/>
          </a:ln>
        </p:spPr>
      </p:sp>
      <p:sp>
        <p:nvSpPr>
          <p:cNvPr id="16" name="Text 12"/>
          <p:cNvSpPr txBox="1"/>
          <p:nvPr/>
        </p:nvSpPr>
        <p:spPr>
          <a:xfrm>
            <a:off x="9555480" y="3886200"/>
            <a:ext cx="2057400" cy="2011680"/>
          </a:xfrm>
          <a:prstGeom prst="rect">
            <a:avLst/>
          </a:prstGeom>
          <a:noFill/>
          <a:ln/>
        </p:spPr>
        <p:txBody>
          <a:bodyPr wrap="square" lIns="0" tIns="0" rIns="0" bIns="0" rtlCol="0" anchor="t"/>
          <a:lstStyle/>
          <a:p>
            <a:pPr indent="0" marL="0">
              <a:buNone/>
            </a:pPr>
            <a:r>
              <a:rPr lang="en-US" sz="1400" b="1" dirty="0">
                <a:solidFill>
                  <a:srgbClr val="1F2A52"/>
                </a:solidFill>
              </a:rPr>
              <a:t>Árbol</a:t>
            </a:r>
            <a:endParaRPr lang="en-US" sz="1400" dirty="0"/>
          </a:p>
          <a:p>
            <a:pPr indent="0" marL="0">
              <a:buNone/>
            </a:pPr>
            <a:r>
              <a:rPr lang="en-US" sz="1100" dirty="0">
                <a:solidFill>
                  <a:srgbClr val="1A1F36"/>
                </a:solidFill>
              </a:rPr>
              <a:t>AUC test 0.6377</a:t>
            </a:r>
            <a:endParaRPr lang="en-US" sz="1400" dirty="0"/>
          </a:p>
          <a:p>
            <a:pPr indent="0" marL="0">
              <a:buNone/>
            </a:pPr>
            <a:r>
              <a:rPr lang="en-US" sz="1100" dirty="0">
                <a:solidFill>
                  <a:srgbClr val="1A1F36"/>
                </a:solidFill>
              </a:rPr>
              <a:t>GINI test 0.2754</a:t>
            </a:r>
            <a:endParaRPr lang="en-US" sz="1400" dirty="0"/>
          </a:p>
          <a:p>
            <a:pPr indent="0" marL="0">
              <a:buNone/>
            </a:pPr>
            <a:r>
              <a:rPr lang="en-US" sz="1100" dirty="0">
                <a:solidFill>
                  <a:srgbClr val="1A1F36"/>
                </a:solidFill>
              </a:rPr>
              <a:t>AUC train 0.6751</a:t>
            </a:r>
            <a:endParaRPr lang="en-US" sz="1400" dirty="0"/>
          </a:p>
          <a:p>
            <a:pPr indent="0" marL="0">
              <a:buNone/>
            </a:pPr>
            <a:r>
              <a:rPr lang="en-US" sz="1100" dirty="0">
                <a:solidFill>
                  <a:srgbClr val="1A1F36"/>
                </a:solidFill>
              </a:rPr>
              <a:t>GINI train 0.3502</a:t>
            </a:r>
            <a:endParaRPr lang="en-US" sz="1400" dirty="0"/>
          </a:p>
        </p:txBody>
      </p:sp>
      <p:sp>
        <p:nvSpPr>
          <p:cNvPr id="17" name="Text 13"/>
          <p:cNvSpPr txBox="1"/>
          <p:nvPr/>
        </p:nvSpPr>
        <p:spPr>
          <a:xfrm>
            <a:off x="548640" y="5669280"/>
            <a:ext cx="8595360" cy="548640"/>
          </a:xfrm>
          <a:prstGeom prst="rect">
            <a:avLst/>
          </a:prstGeom>
          <a:noFill/>
          <a:ln/>
        </p:spPr>
        <p:txBody>
          <a:bodyPr wrap="square" lIns="0" tIns="0" rIns="0" bIns="0" rtlCol="0" anchor="t"/>
          <a:lstStyle/>
          <a:p>
            <a:pPr indent="0" marL="0">
              <a:buNone/>
            </a:pPr>
            <a:r>
              <a:rPr lang="en-US" sz="1100" dirty="0">
                <a:solidFill>
                  <a:srgbClr val="6B7390"/>
                </a:solidFill>
              </a:rPr>
              <a:t>Los nombres de los grupos siguen el orden de riesgo del árbol (C_1 = mayor riesgo). Tasa de malo = malos entre clientes de la población de modelado.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 · Distribución y tasa de malo por grupo (6M)</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772400" cy="914400"/>
        </p:xfrm>
        <a:graphic>
          <a:graphicData uri="http://schemas.openxmlformats.org/drawingml/2006/table">
            <a:tbl>
              <a:tblPr/>
              <a:tblGrid>
                <a:gridCol w="685800"/>
                <a:gridCol w="914400"/>
                <a:gridCol w="1051560"/>
                <a:gridCol w="2011680"/>
                <a:gridCol w="777240"/>
                <a:gridCol w="594360"/>
                <a:gridCol w="777240"/>
                <a:gridCol w="96012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Grupo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score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Rango saldo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Clientes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Malos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muestra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Tasa de malo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≥972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8,848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940–971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303–865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14,314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238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940–971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167–302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8,890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2.36%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920–939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303–865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7,779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188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919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303–865 a ≥866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28,361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904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24.4%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873–939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167–302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15,327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617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Potencial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940–1000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≤53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7,417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322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4.34%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F36"/>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872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54–166 a 167–302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13,299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749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11.4%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C_1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Crítico</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&lt; 800 a 939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F36"/>
                          </a:solidFill>
                          <a:latin typeface="Calibri" pitchFamily="34" charset="0"/>
                          <a:ea typeface="Calibri" pitchFamily="34" charset="-122"/>
                          <a:cs typeface="Calibri" pitchFamily="34" charset="-120"/>
                        </a:rPr>
                        <a:t>≤53 o Missing</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12,173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1,257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F36"/>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10.33%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116,408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4,566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F36"/>
                          </a:solidFill>
                          <a:latin typeface="Calibri" pitchFamily="34" charset="0"/>
                          <a:ea typeface="Calibri" pitchFamily="34" charset="-122"/>
                          <a:cs typeface="Calibri" pitchFamily="34" charset="-120"/>
                        </a:rPr>
                        <a:t>3.92%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8503920" y="1188720"/>
          <a:ext cx="338328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Poder discriminante por periodo (GINI)</a:t>
            </a:r>
            <a:endParaRPr lang="en-US" sz="3000" dirty="0"/>
          </a:p>
        </p:txBody>
      </p:sp>
      <p:graphicFrame>
        <p:nvGraphicFramePr>
          <p:cNvPr id="4" name="Chart 0" descr=""/>
          <p:cNvGraphicFramePr/>
          <p:nvPr/>
        </p:nvGraphicFramePr>
        <p:xfrm>
          <a:off x="457200" y="123444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34440"/>
          <a:ext cx="5486400" cy="3291840"/>
        </p:xfrm>
        <a:graphic xmlns:a="http://schemas.openxmlformats.org/drawingml/2006/main">
          <a:graphicData uri="http://schemas.openxmlformats.org/drawingml/2006/chart">
            <c:chart xmlns:c="http://schemas.openxmlformats.org/drawingml/2006/chart" r:id="rId2"/>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7315200" cy="914400"/>
        </p:xfrm>
        <a:graphic>
          <a:graphicData uri="http://schemas.openxmlformats.org/drawingml/2006/table">
            <a:tbl>
              <a:tblPr/>
              <a:tblGrid>
                <a:gridCol w="2926080"/>
                <a:gridCol w="1097280"/>
                <a:gridCol w="1097280"/>
                <a:gridCol w="1097280"/>
                <a:gridCol w="109728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GINI promedio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6576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Entrenamiento (202401–202410)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0.350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Prueba (202411–202412)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0.365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0.311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A1F36"/>
                          </a:solidFill>
                          <a:latin typeface="Calibri" pitchFamily="34" charset="0"/>
                          <a:ea typeface="Calibri" pitchFamily="34" charset="-122"/>
                          <a:cs typeface="Calibri" pitchFamily="34" charset="-120"/>
                        </a:rPr>
                        <a:t>Diciembre 2024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0.303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0.291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0.269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7" name="Text 1"/>
          <p:cNvSpPr txBox="1"/>
          <p:nvPr/>
        </p:nvSpPr>
        <p:spPr>
          <a:xfrm>
            <a:off x="8138160" y="4663440"/>
            <a:ext cx="3566160" cy="1554480"/>
          </a:xfrm>
          <a:prstGeom prst="rect">
            <a:avLst/>
          </a:prstGeom>
          <a:noFill/>
          <a:ln/>
        </p:spPr>
        <p:txBody>
          <a:bodyPr wrap="square" lIns="0" tIns="0" rIns="0" bIns="0" rtlCol="0" anchor="t"/>
          <a:lstStyle/>
          <a:p>
            <a:pPr indent="0" marL="0">
              <a:buNone/>
            </a:pPr>
            <a:r>
              <a:rPr lang="en-US" sz="1300" dirty="0">
                <a:solidFill>
                  <a:srgbClr val="1A1F36"/>
                </a:solidFill>
              </a:rPr>
              <a:t>El saldo al corte iguala o supera al 6M en CE; en SE el 6M se acerca al corte en entrenamiento pero queda por debajo en prueba. En diciembre el 6M no mejora el GINI.</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Tasa de malo por perfil: corte vs. 6M</a:t>
            </a:r>
            <a:endParaRPr lang="en-US" sz="3000" dirty="0"/>
          </a:p>
        </p:txBody>
      </p:sp>
      <p:graphicFrame>
        <p:nvGraphicFramePr>
          <p:cNvPr id="4" name="Chart 0" descr=""/>
          <p:cNvGraphicFramePr/>
          <p:nvPr/>
        </p:nvGraphicFramePr>
        <p:xfrm>
          <a:off x="457200" y="123444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3444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400" dirty="0">
                <a:solidFill>
                  <a:srgbClr val="1A1F36"/>
                </a:solidFill>
              </a:rPr>
              <a:t>CE mantiene 11 perfiles en ambas ventanas, con tasas parecidas. En SE el 6M reduce los perfiles de 12 a 9. La tasa del perfil más riesgoso (C_1) es similar: CE 7.2% y 7.3%, SE 9.5% y 10.3%.</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Agrupación final en cinco niveles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554480"/>
                <a:gridCol w="2377440"/>
                <a:gridCol w="2377440"/>
                <a:gridCol w="2377440"/>
                <a:gridCol w="2377440"/>
              </a:tblGrid>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CE ·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 ·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 C2,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C1</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C2, C3</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C3, C4</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C2, C4</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C2</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C4, C6</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C5, C7</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C3, C5</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C3, C4, Sin Perfil</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C5, C8</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C8, C6</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C6, C7, C8</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C5, C6, C7, C8</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C7, C9, C10, C11</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C9, C10, C11</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C9, C10, C11, C12</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F36"/>
                          </a:solidFill>
                          <a:latin typeface="Calibri" pitchFamily="34" charset="0"/>
                          <a:ea typeface="Calibri" pitchFamily="34" charset="-122"/>
                          <a:cs typeface="Calibri" pitchFamily="34" charset="-120"/>
                        </a:rPr>
                        <a:t>C9</a:t>
                      </a:r>
                      <a:endParaRPr lang="en-US" sz="15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1400" dirty="0">
                <a:solidFill>
                  <a:srgbClr val="1A1F36"/>
                </a:solidFill>
              </a:rPr>
              <a:t>El nivel Bajo de SE con 6M queda reducido a un solo perfil (C9). Sin Perfil va a Crítico en CE y a Potencial en SE (6M).</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Cómo leer la validación con el SQL de producción</a:t>
            </a:r>
            <a:endParaRPr lang="en-US" sz="3000" dirty="0"/>
          </a:p>
        </p:txBody>
      </p:sp>
      <p:sp>
        <p:nvSpPr>
          <p:cNvPr id="4" name="Shape 1"/>
          <p:cNvSpPr/>
          <p:nvPr/>
        </p:nvSpPr>
        <p:spPr>
          <a:xfrm>
            <a:off x="548640" y="1280160"/>
            <a:ext cx="5394960" cy="4846320"/>
          </a:xfrm>
          <a:prstGeom prst="roundRect">
            <a:avLst>
              <a:gd name="adj" fmla="val 1509"/>
            </a:avLst>
          </a:prstGeom>
          <a:solidFill>
            <a:srgbClr val="F2F4F9"/>
          </a:solidFill>
          <a:ln w="12700">
            <a:solidFill>
              <a:srgbClr val="F2F4F9"/>
            </a:solidFill>
            <a:prstDash val="solid"/>
          </a:ln>
        </p:spPr>
      </p:sp>
      <p:sp>
        <p:nvSpPr>
          <p:cNvPr id="5" name="Text 2"/>
          <p:cNvSpPr txBox="1"/>
          <p:nvPr/>
        </p:nvSpPr>
        <p:spPr>
          <a:xfrm>
            <a:off x="777240" y="1417320"/>
            <a:ext cx="4937760" cy="411480"/>
          </a:xfrm>
          <a:prstGeom prst="rect">
            <a:avLst/>
          </a:prstGeom>
          <a:noFill/>
          <a:ln/>
        </p:spPr>
        <p:txBody>
          <a:bodyPr wrap="square" lIns="0" tIns="0" rIns="0" bIns="0" rtlCol="0" anchor="ctr"/>
          <a:lstStyle/>
          <a:p>
            <a:pPr indent="0" marL="0">
              <a:buNone/>
            </a:pPr>
            <a:r>
              <a:rPr lang="en-US" sz="1800" b="1" dirty="0">
                <a:solidFill>
                  <a:srgbClr val="1F2A52"/>
                </a:solidFill>
              </a:rPr>
              <a:t>Qué es el SQL</a:t>
            </a:r>
            <a:endParaRPr lang="en-US" sz="1800" dirty="0"/>
          </a:p>
        </p:txBody>
      </p:sp>
      <p:sp>
        <p:nvSpPr>
          <p:cNvPr id="6" name="Text 3"/>
          <p:cNvSpPr txBox="1"/>
          <p:nvPr/>
        </p:nvSpPr>
        <p:spPr>
          <a:xfrm>
            <a:off x="77724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A1F36"/>
                </a:solidFill>
              </a:rPr>
              <a:t>Segmentop: </a:t>
            </a:r>
            <a:pPr indent="0" marL="0">
              <a:buNone/>
            </a:pPr>
            <a:r>
              <a:rPr lang="en-US" sz="1500" dirty="0">
                <a:solidFill>
                  <a:srgbClr val="1A1F36"/>
                </a:solidFill>
              </a:rPr>
              <a:t>ejecución del modelo de cada categoría (CE y SE) en cada mes analizado.</a:t>
            </a:r>
            <a:endParaRPr lang="en-US" sz="1500" dirty="0"/>
          </a:p>
          <a:p>
            <a:pPr marL="342900" indent="-342900">
              <a:spcAft>
                <a:spcPts val="800"/>
              </a:spcAft>
              <a:buSzPct val="100000"/>
              <a:buChar char="•"/>
            </a:pPr>
            <a:r>
              <a:rPr lang="en-US" sz="1500" b="1" dirty="0">
                <a:solidFill>
                  <a:srgbClr val="1A1F36"/>
                </a:solidFill>
              </a:rPr>
              <a:t>Observación: </a:t>
            </a:r>
            <a:pPr indent="0" marL="0">
              <a:buNone/>
            </a:pPr>
            <a:r>
              <a:rPr lang="en-US" sz="1500" dirty="0">
                <a:solidFill>
                  <a:srgbClr val="1A1F36"/>
                </a:solidFill>
              </a:rPr>
              <a:t>cada cliente se sigue los 12 meses siguientes al mes analizado; solo entran los que tienen los 12 registros (numeroRegistrosRiesgoS12M = 12).</a:t>
            </a:r>
            <a:endParaRPr lang="en-US" sz="1500" dirty="0"/>
          </a:p>
          <a:p>
            <a:pPr marL="342900" indent="-342900">
              <a:spcAft>
                <a:spcPts val="800"/>
              </a:spcAft>
              <a:buSzPct val="100000"/>
              <a:buChar char="•"/>
            </a:pPr>
            <a:r>
              <a:rPr lang="en-US" sz="1500" b="1" dirty="0">
                <a:solidFill>
                  <a:srgbClr val="1A1F36"/>
                </a:solidFill>
              </a:rPr>
              <a:t>Alcance: </a:t>
            </a:r>
            <a:pPr indent="0" marL="0">
              <a:buNone/>
            </a:pPr>
            <a:r>
              <a:rPr lang="en-US" sz="1500" dirty="0">
                <a:solidFill>
                  <a:srgbClr val="1A1F36"/>
                </a:solidFill>
              </a:rPr>
              <a:t>banca 11, segmento 3; familias Preciso, Tarjeta, Línea abierta, Habitar y Autos; concesión original. CE: tipoModeloFA = 'CE'; SE: el resto.</a:t>
            </a:r>
            <a:endParaRPr lang="en-US" sz="1500" dirty="0"/>
          </a:p>
          <a:p>
            <a:pPr marL="342900" indent="-342900">
              <a:spcAft>
                <a:spcPts val="800"/>
              </a:spcAft>
              <a:buSzPct val="100000"/>
              <a:buChar char="•"/>
            </a:pPr>
            <a:r>
              <a:rPr lang="en-US" sz="1500" b="1" dirty="0">
                <a:solidFill>
                  <a:srgbClr val="1A1F36"/>
                </a:solidFill>
              </a:rPr>
              <a:t>Duplicados: </a:t>
            </a:r>
            <a:pPr indent="0" marL="0">
              <a:buNone/>
            </a:pPr>
            <a:r>
              <a:rPr lang="en-US" sz="1500" dirty="0">
                <a:solidFill>
                  <a:srgbClr val="1A1F36"/>
                </a:solidFill>
              </a:rPr>
              <a:t>si un idY cae en varios perfiles, se queda el de menor número (C_1 = mayor riesgo).</a:t>
            </a:r>
            <a:endParaRPr lang="en-US" sz="1500" dirty="0"/>
          </a:p>
        </p:txBody>
      </p:sp>
      <p:sp>
        <p:nvSpPr>
          <p:cNvPr id="7" name="Shape 4"/>
          <p:cNvSpPr/>
          <p:nvPr/>
        </p:nvSpPr>
        <p:spPr>
          <a:xfrm>
            <a:off x="6217920" y="1280160"/>
            <a:ext cx="5394960" cy="4846320"/>
          </a:xfrm>
          <a:prstGeom prst="roundRect">
            <a:avLst>
              <a:gd name="adj" fmla="val 1509"/>
            </a:avLst>
          </a:prstGeom>
          <a:solidFill>
            <a:srgbClr val="1F2A52"/>
          </a:solidFill>
          <a:ln w="12700">
            <a:solidFill>
              <a:srgbClr val="1F2A52"/>
            </a:solidFill>
            <a:prstDash val="solid"/>
          </a:ln>
        </p:spPr>
      </p:sp>
      <p:sp>
        <p:nvSpPr>
          <p:cNvPr id="8" name="Text 5"/>
          <p:cNvSpPr txBox="1"/>
          <p:nvPr/>
        </p:nvSpPr>
        <p:spPr>
          <a:xfrm>
            <a:off x="6446520" y="1417320"/>
            <a:ext cx="4937760" cy="411480"/>
          </a:xfrm>
          <a:prstGeom prst="rect">
            <a:avLst/>
          </a:prstGeom>
          <a:noFill/>
          <a:ln/>
        </p:spPr>
        <p:txBody>
          <a:bodyPr wrap="square" lIns="0" tIns="0" rIns="0" bIns="0" rtlCol="0" anchor="ctr"/>
          <a:lstStyle/>
          <a:p>
            <a:pPr indent="0" marL="0">
              <a:buNone/>
            </a:pPr>
            <a:r>
              <a:rPr lang="en-US" sz="1800" b="1" dirty="0">
                <a:solidFill>
                  <a:srgbClr val="F2B01E"/>
                </a:solidFill>
              </a:rPr>
              <a:t>Qué mide cada columna</a:t>
            </a:r>
            <a:endParaRPr lang="en-US" sz="1800" dirty="0"/>
          </a:p>
        </p:txBody>
      </p:sp>
      <p:sp>
        <p:nvSpPr>
          <p:cNvPr id="9" name="Text 6"/>
          <p:cNvSpPr txBox="1"/>
          <p:nvPr/>
        </p:nvSpPr>
        <p:spPr>
          <a:xfrm>
            <a:off x="6446520" y="1965960"/>
            <a:ext cx="4937760" cy="4023360"/>
          </a:xfrm>
          <a:prstGeom prst="rect">
            <a:avLst/>
          </a:prstGeom>
          <a:noFill/>
          <a:ln/>
        </p:spPr>
        <p:txBody>
          <a:bodyPr wrap="square" lIns="0" tIns="0" rIns="0" bIns="0" rtlCol="0" anchor="t"/>
          <a:lstStyle/>
          <a:p>
            <a:pPr indent="0" marL="0">
              <a:buNone/>
            </a:pPr>
            <a:r>
              <a:rPr lang="en-US" sz="1500" b="1" dirty="0">
                <a:solidFill>
                  <a:srgbClr val="F2B01E"/>
                </a:solidFill>
              </a:rPr>
              <a:t>y: </a:t>
            </a:r>
            <a:pPr indent="0" marL="0">
              <a:spcAft>
                <a:spcPts val="1000"/>
              </a:spcAft>
              <a:buNone/>
            </a:pPr>
            <a:r>
              <a:rPr lang="en-US" sz="1500" dirty="0">
                <a:solidFill>
                  <a:srgbClr val="FFFFFF"/>
                </a:solidFill>
              </a:rPr>
              <a:t>en los 12 meses siguientes, mora de 90 días o más, demanda, castigo, reestructuración o refinanciamiento.</a:t>
            </a:r>
            <a:endParaRPr lang="en-US" sz="1500" dirty="0"/>
          </a:p>
          <a:p>
            <a:pPr indent="0" marL="0">
              <a:buNone/>
            </a:pPr>
            <a:r>
              <a:rPr lang="en-US" sz="1500" b="1" dirty="0">
                <a:solidFill>
                  <a:srgbClr val="F2B01E"/>
                </a:solidFill>
              </a:rPr>
              <a:t>yMora: </a:t>
            </a:r>
            <a:pPr indent="0" marL="0">
              <a:spcAft>
                <a:spcPts val="1000"/>
              </a:spcAft>
              <a:buNone/>
            </a:pPr>
            <a:r>
              <a:rPr lang="en-US" sz="1500" dirty="0">
                <a:solidFill>
                  <a:srgbClr val="FFFFFF"/>
                </a:solidFill>
              </a:rPr>
              <a:t>solo mora de 90 días o más. Es una parte de y.</a:t>
            </a:r>
            <a:endParaRPr lang="en-US" sz="1500" dirty="0"/>
          </a:p>
          <a:p>
            <a:pPr indent="0" marL="0">
              <a:buNone/>
            </a:pPr>
            <a:r>
              <a:rPr lang="en-US" sz="1500" b="1" dirty="0">
                <a:solidFill>
                  <a:srgbClr val="F2B01E"/>
                </a:solidFill>
              </a:rPr>
              <a:t>Par30: </a:t>
            </a:r>
            <a:pPr indent="0" marL="0">
              <a:spcAft>
                <a:spcPts val="1000"/>
              </a:spcAft>
              <a:buNone/>
            </a:pPr>
            <a:r>
              <a:rPr lang="en-US" sz="1500" dirty="0">
                <a:solidFill>
                  <a:srgbClr val="FFFFFF"/>
                </a:solidFill>
              </a:rPr>
              <a:t>mora de 30 días o más. Alerta más temprana.</a:t>
            </a:r>
            <a:endParaRPr lang="en-US" sz="1500" dirty="0"/>
          </a:p>
          <a:p>
            <a:pPr indent="0" marL="0">
              <a:buNone/>
            </a:pPr>
            <a:r>
              <a:rPr lang="en-US" sz="1300" dirty="0">
                <a:solidFill>
                  <a:srgbClr val="C9CFE3"/>
                </a:solidFill>
              </a:rPr>
              <a:t>Cada porcentaje es la suma de la bandera dividida por los registros del perfil. No equivale a la tasa de malo del grid, que mide malos sobre clientes de la base de modelamiento.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CE · Validación en población de producción</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371600"/>
                <a:gridCol w="1325880"/>
                <a:gridCol w="1325880"/>
                <a:gridCol w="1325880"/>
                <a:gridCol w="1325880"/>
                <a:gridCol w="1463040"/>
                <a:gridCol w="1463040"/>
                <a:gridCol w="146304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 dic-24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45.23%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35.5%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28.02%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30.96%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47.59%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32.91%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6.61%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13.07%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9.04%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3.73%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709160"/>
            <a:ext cx="3566160" cy="1463040"/>
          </a:xfrm>
          <a:prstGeom prst="roundRect">
            <a:avLst>
              <a:gd name="adj" fmla="val 5000"/>
            </a:avLst>
          </a:prstGeom>
          <a:solidFill>
            <a:srgbClr val="F2F4F9"/>
          </a:solidFill>
          <a:ln w="12700">
            <a:solidFill>
              <a:srgbClr val="F2F4F9"/>
            </a:solidFill>
            <a:prstDash val="solid"/>
          </a:ln>
        </p:spPr>
      </p:sp>
      <p:sp>
        <p:nvSpPr>
          <p:cNvPr id="6" name="Text 2"/>
          <p:cNvSpPr txBox="1"/>
          <p:nvPr/>
        </p:nvSpPr>
        <p:spPr>
          <a:xfrm>
            <a:off x="73152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0.670 → 0.584</a:t>
            </a:r>
            <a:endParaRPr lang="en-US" sz="2400" dirty="0"/>
          </a:p>
        </p:txBody>
      </p:sp>
      <p:sp>
        <p:nvSpPr>
          <p:cNvPr id="7" name="Text 3"/>
          <p:cNvSpPr txBox="1"/>
          <p:nvPr/>
        </p:nvSpPr>
        <p:spPr>
          <a:xfrm>
            <a:off x="73152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GINI sobre niveles</a:t>
            </a:r>
            <a:endParaRPr lang="en-US" sz="1400" dirty="0"/>
          </a:p>
        </p:txBody>
      </p:sp>
      <p:sp>
        <p:nvSpPr>
          <p:cNvPr id="8" name="Text 4"/>
          <p:cNvSpPr txBox="1"/>
          <p:nvPr/>
        </p:nvSpPr>
        <p:spPr>
          <a:xfrm>
            <a:off x="73152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9" name="Shape 5"/>
          <p:cNvSpPr/>
          <p:nvPr/>
        </p:nvSpPr>
        <p:spPr>
          <a:xfrm>
            <a:off x="4297680" y="4709160"/>
            <a:ext cx="3566160" cy="1463040"/>
          </a:xfrm>
          <a:prstGeom prst="roundRect">
            <a:avLst>
              <a:gd name="adj" fmla="val 5000"/>
            </a:avLst>
          </a:prstGeom>
          <a:solidFill>
            <a:srgbClr val="F2F4F9"/>
          </a:solidFill>
          <a:ln w="12700">
            <a:solidFill>
              <a:srgbClr val="F2F4F9"/>
            </a:solidFill>
            <a:prstDash val="solid"/>
          </a:ln>
        </p:spPr>
      </p:sp>
      <p:sp>
        <p:nvSpPr>
          <p:cNvPr id="10" name="Text 6"/>
          <p:cNvSpPr txBox="1"/>
          <p:nvPr/>
        </p:nvSpPr>
        <p:spPr>
          <a:xfrm>
            <a:off x="448056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0.584 → 0.547</a:t>
            </a:r>
            <a:endParaRPr lang="en-US" sz="2400" dirty="0"/>
          </a:p>
        </p:txBody>
      </p:sp>
      <p:sp>
        <p:nvSpPr>
          <p:cNvPr id="11" name="Text 7"/>
          <p:cNvSpPr txBox="1"/>
          <p:nvPr/>
        </p:nvSpPr>
        <p:spPr>
          <a:xfrm>
            <a:off x="448056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KS sobre niveles</a:t>
            </a:r>
            <a:endParaRPr lang="en-US" sz="1400" dirty="0"/>
          </a:p>
        </p:txBody>
      </p:sp>
      <p:sp>
        <p:nvSpPr>
          <p:cNvPr id="12" name="Text 8"/>
          <p:cNvSpPr txBox="1"/>
          <p:nvPr/>
        </p:nvSpPr>
        <p:spPr>
          <a:xfrm>
            <a:off x="448056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13" name="Shape 9"/>
          <p:cNvSpPr/>
          <p:nvPr/>
        </p:nvSpPr>
        <p:spPr>
          <a:xfrm>
            <a:off x="8046720" y="4709160"/>
            <a:ext cx="3566160" cy="1463040"/>
          </a:xfrm>
          <a:prstGeom prst="roundRect">
            <a:avLst>
              <a:gd name="adj" fmla="val 5000"/>
            </a:avLst>
          </a:prstGeom>
          <a:solidFill>
            <a:srgbClr val="F2F4F9"/>
          </a:solidFill>
          <a:ln w="12700">
            <a:solidFill>
              <a:srgbClr val="F2F4F9"/>
            </a:solidFill>
            <a:prstDash val="solid"/>
          </a:ln>
        </p:spPr>
      </p:sp>
      <p:sp>
        <p:nvSpPr>
          <p:cNvPr id="14" name="Text 10"/>
          <p:cNvSpPr txBox="1"/>
          <p:nvPr/>
        </p:nvSpPr>
        <p:spPr>
          <a:xfrm>
            <a:off x="822960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711,663 → 3,401,921</a:t>
            </a:r>
            <a:endParaRPr lang="en-US" sz="2400" dirty="0"/>
          </a:p>
        </p:txBody>
      </p:sp>
      <p:sp>
        <p:nvSpPr>
          <p:cNvPr id="15" name="Text 11"/>
          <p:cNvSpPr txBox="1"/>
          <p:nvPr/>
        </p:nvSpPr>
        <p:spPr>
          <a:xfrm>
            <a:off x="822960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Total de registros</a:t>
            </a:r>
            <a:endParaRPr lang="en-US" sz="1400" dirty="0"/>
          </a:p>
        </p:txBody>
      </p:sp>
      <p:sp>
        <p:nvSpPr>
          <p:cNvPr id="16" name="Text 12"/>
          <p:cNvSpPr txBox="1"/>
          <p:nvPr/>
        </p:nvSpPr>
        <p:spPr>
          <a:xfrm>
            <a:off x="822960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SE · Validación en población de producción</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371600"/>
                <a:gridCol w="1325880"/>
                <a:gridCol w="1325880"/>
                <a:gridCol w="1325880"/>
                <a:gridCol w="1325880"/>
                <a:gridCol w="1463040"/>
                <a:gridCol w="1463040"/>
                <a:gridCol w="146304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 6M dic-24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19.14%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20.28%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25.37%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26.76%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6.91%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13.80%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4.82%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8.81%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9.27%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5.42%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1.93%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709160"/>
            <a:ext cx="3566160" cy="1463040"/>
          </a:xfrm>
          <a:prstGeom prst="roundRect">
            <a:avLst>
              <a:gd name="adj" fmla="val 5000"/>
            </a:avLst>
          </a:prstGeom>
          <a:solidFill>
            <a:srgbClr val="F2F4F9"/>
          </a:solidFill>
          <a:ln w="12700">
            <a:solidFill>
              <a:srgbClr val="F2F4F9"/>
            </a:solidFill>
            <a:prstDash val="solid"/>
          </a:ln>
        </p:spPr>
      </p:sp>
      <p:sp>
        <p:nvSpPr>
          <p:cNvPr id="6" name="Text 2"/>
          <p:cNvSpPr txBox="1"/>
          <p:nvPr/>
        </p:nvSpPr>
        <p:spPr>
          <a:xfrm>
            <a:off x="73152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0.494 → 0.407</a:t>
            </a:r>
            <a:endParaRPr lang="en-US" sz="2400" dirty="0"/>
          </a:p>
        </p:txBody>
      </p:sp>
      <p:sp>
        <p:nvSpPr>
          <p:cNvPr id="7" name="Text 3"/>
          <p:cNvSpPr txBox="1"/>
          <p:nvPr/>
        </p:nvSpPr>
        <p:spPr>
          <a:xfrm>
            <a:off x="73152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GINI sobre niveles</a:t>
            </a:r>
            <a:endParaRPr lang="en-US" sz="1400" dirty="0"/>
          </a:p>
        </p:txBody>
      </p:sp>
      <p:sp>
        <p:nvSpPr>
          <p:cNvPr id="8" name="Text 4"/>
          <p:cNvSpPr txBox="1"/>
          <p:nvPr/>
        </p:nvSpPr>
        <p:spPr>
          <a:xfrm>
            <a:off x="73152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9" name="Shape 5"/>
          <p:cNvSpPr/>
          <p:nvPr/>
        </p:nvSpPr>
        <p:spPr>
          <a:xfrm>
            <a:off x="4297680" y="4709160"/>
            <a:ext cx="3566160" cy="1463040"/>
          </a:xfrm>
          <a:prstGeom prst="roundRect">
            <a:avLst>
              <a:gd name="adj" fmla="val 5000"/>
            </a:avLst>
          </a:prstGeom>
          <a:solidFill>
            <a:srgbClr val="F2F4F9"/>
          </a:solidFill>
          <a:ln w="12700">
            <a:solidFill>
              <a:srgbClr val="F2F4F9"/>
            </a:solidFill>
            <a:prstDash val="solid"/>
          </a:ln>
        </p:spPr>
      </p:sp>
      <p:sp>
        <p:nvSpPr>
          <p:cNvPr id="10" name="Text 6"/>
          <p:cNvSpPr txBox="1"/>
          <p:nvPr/>
        </p:nvSpPr>
        <p:spPr>
          <a:xfrm>
            <a:off x="448056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0.394 → 0.320</a:t>
            </a:r>
            <a:endParaRPr lang="en-US" sz="2400" dirty="0"/>
          </a:p>
        </p:txBody>
      </p:sp>
      <p:sp>
        <p:nvSpPr>
          <p:cNvPr id="11" name="Text 7"/>
          <p:cNvSpPr txBox="1"/>
          <p:nvPr/>
        </p:nvSpPr>
        <p:spPr>
          <a:xfrm>
            <a:off x="448056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KS sobre niveles</a:t>
            </a:r>
            <a:endParaRPr lang="en-US" sz="1400" dirty="0"/>
          </a:p>
        </p:txBody>
      </p:sp>
      <p:sp>
        <p:nvSpPr>
          <p:cNvPr id="12" name="Text 8"/>
          <p:cNvSpPr txBox="1"/>
          <p:nvPr/>
        </p:nvSpPr>
        <p:spPr>
          <a:xfrm>
            <a:off x="448056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13" name="Shape 9"/>
          <p:cNvSpPr/>
          <p:nvPr/>
        </p:nvSpPr>
        <p:spPr>
          <a:xfrm>
            <a:off x="8046720" y="4709160"/>
            <a:ext cx="3566160" cy="1463040"/>
          </a:xfrm>
          <a:prstGeom prst="roundRect">
            <a:avLst>
              <a:gd name="adj" fmla="val 5000"/>
            </a:avLst>
          </a:prstGeom>
          <a:solidFill>
            <a:srgbClr val="F2F4F9"/>
          </a:solidFill>
          <a:ln w="12700">
            <a:solidFill>
              <a:srgbClr val="F2F4F9"/>
            </a:solidFill>
            <a:prstDash val="solid"/>
          </a:ln>
        </p:spPr>
      </p:sp>
      <p:sp>
        <p:nvSpPr>
          <p:cNvPr id="14" name="Text 10"/>
          <p:cNvSpPr txBox="1"/>
          <p:nvPr/>
        </p:nvSpPr>
        <p:spPr>
          <a:xfrm>
            <a:off x="8229600" y="4846320"/>
            <a:ext cx="3200400" cy="658368"/>
          </a:xfrm>
          <a:prstGeom prst="rect">
            <a:avLst/>
          </a:prstGeom>
          <a:noFill/>
          <a:ln/>
        </p:spPr>
        <p:txBody>
          <a:bodyPr wrap="square" lIns="0" tIns="0" rIns="0" bIns="0" rtlCol="0" anchor="ctr"/>
          <a:lstStyle/>
          <a:p>
            <a:pPr indent="0" marL="0">
              <a:buNone/>
            </a:pPr>
            <a:r>
              <a:rPr lang="en-US" sz="2400" b="1" dirty="0">
                <a:solidFill>
                  <a:srgbClr val="1F2A52"/>
                </a:solidFill>
              </a:rPr>
              <a:t>46,991 → 256,229</a:t>
            </a:r>
            <a:endParaRPr lang="en-US" sz="2400" dirty="0"/>
          </a:p>
        </p:txBody>
      </p:sp>
      <p:sp>
        <p:nvSpPr>
          <p:cNvPr id="15" name="Text 11"/>
          <p:cNvSpPr txBox="1"/>
          <p:nvPr/>
        </p:nvSpPr>
        <p:spPr>
          <a:xfrm>
            <a:off x="8229600" y="5557723"/>
            <a:ext cx="3200400" cy="263347"/>
          </a:xfrm>
          <a:prstGeom prst="rect">
            <a:avLst/>
          </a:prstGeom>
          <a:noFill/>
          <a:ln/>
        </p:spPr>
        <p:txBody>
          <a:bodyPr wrap="square" lIns="0" tIns="0" rIns="0" bIns="0" rtlCol="0" anchor="t"/>
          <a:lstStyle/>
          <a:p>
            <a:pPr indent="0" marL="0">
              <a:buNone/>
            </a:pPr>
            <a:r>
              <a:rPr lang="en-US" sz="1400" b="1" dirty="0">
                <a:solidFill>
                  <a:srgbClr val="1A1F36"/>
                </a:solidFill>
              </a:rPr>
              <a:t>Total de registros</a:t>
            </a:r>
            <a:endParaRPr lang="en-US" sz="1400" dirty="0"/>
          </a:p>
        </p:txBody>
      </p:sp>
      <p:sp>
        <p:nvSpPr>
          <p:cNvPr id="16" name="Text 12"/>
          <p:cNvSpPr txBox="1"/>
          <p:nvPr/>
        </p:nvSpPr>
        <p:spPr>
          <a:xfrm>
            <a:off x="8229600" y="5821070"/>
            <a:ext cx="3200400" cy="292608"/>
          </a:xfrm>
          <a:prstGeom prst="rect">
            <a:avLst/>
          </a:prstGeom>
          <a:noFill/>
          <a:ln/>
        </p:spPr>
        <p:txBody>
          <a:bodyPr wrap="square" lIns="0" tIns="0" rIns="0" bIns="0" rtlCol="0" anchor="t"/>
          <a:lstStyle/>
          <a:p>
            <a:pPr indent="0" marL="0">
              <a:buNone/>
            </a:pPr>
            <a:r>
              <a:rPr lang="en-US" sz="1100" dirty="0">
                <a:solidFill>
                  <a:srgbClr val="6B7390"/>
                </a:solidFill>
              </a:rPr>
              <a:t>corte → 6M (agregado)</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Indicadores comparativos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0"/>
                <a:gridCol w="1645920"/>
                <a:gridCol w="1645920"/>
                <a:gridCol w="1600200"/>
                <a:gridCol w="160020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Indicador</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IV del saldo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0.165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0.071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0.287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0.248</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entrenamiento (promedio por periodo)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0.325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0.292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0.367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0.350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prueba (promedio por periodo)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0.334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sobre niveles (producción)</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0.670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0.584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0.494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0.407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Número de perfiles</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Sin Perfil, % de la población</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0292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Tasa de evento Crítico / Bajo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200" dirty="0">
                <a:solidFill>
                  <a:srgbClr val="6B7390"/>
                </a:solidFill>
              </a:rPr>
              <a:t>Con menos perfiles el GINI baja por construcción (SE: 9 frente a 12). El GINI sobre niveles usa y en producción y no es comparable con el GINI del árbol.</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Hallazgos, limitaciones y próximos pasos</a:t>
            </a:r>
            <a:endParaRPr lang="en-US" sz="3000" dirty="0"/>
          </a:p>
        </p:txBody>
      </p:sp>
      <p:sp>
        <p:nvSpPr>
          <p:cNvPr id="3" name="Shape 1"/>
          <p:cNvSpPr/>
          <p:nvPr/>
        </p:nvSpPr>
        <p:spPr>
          <a:xfrm>
            <a:off x="548640" y="1280160"/>
            <a:ext cx="5394960" cy="4846320"/>
          </a:xfrm>
          <a:prstGeom prst="roundRect">
            <a:avLst>
              <a:gd name="adj" fmla="val 1509"/>
            </a:avLst>
          </a:prstGeom>
          <a:solidFill>
            <a:srgbClr val="F2F4F9"/>
          </a:solidFill>
          <a:ln w="12700">
            <a:solidFill>
              <a:srgbClr val="F2F4F9"/>
            </a:solidFill>
            <a:prstDash val="solid"/>
          </a:ln>
        </p:spPr>
      </p:sp>
      <p:sp>
        <p:nvSpPr>
          <p:cNvPr id="4" name="Text 2"/>
          <p:cNvSpPr txBox="1"/>
          <p:nvPr/>
        </p:nvSpPr>
        <p:spPr>
          <a:xfrm>
            <a:off x="777240" y="1417320"/>
            <a:ext cx="4937760" cy="411480"/>
          </a:xfrm>
          <a:prstGeom prst="rect">
            <a:avLst/>
          </a:prstGeom>
          <a:noFill/>
          <a:ln/>
        </p:spPr>
        <p:txBody>
          <a:bodyPr wrap="square" lIns="0" tIns="0" rIns="0" bIns="0" rtlCol="0" anchor="ctr"/>
          <a:lstStyle/>
          <a:p>
            <a:pPr indent="0" marL="0">
              <a:buNone/>
            </a:pPr>
            <a:r>
              <a:rPr lang="en-US" sz="1800" b="1" dirty="0">
                <a:solidFill>
                  <a:srgbClr val="1F2A52"/>
                </a:solidFill>
              </a:rPr>
              <a:t>Hallazgos y limitaciones</a:t>
            </a:r>
            <a:endParaRPr lang="en-US" sz="1800" dirty="0"/>
          </a:p>
        </p:txBody>
      </p:sp>
      <p:sp>
        <p:nvSpPr>
          <p:cNvPr id="5" name="Text 3"/>
          <p:cNvSpPr txBox="1"/>
          <p:nvPr/>
        </p:nvSpPr>
        <p:spPr>
          <a:xfrm>
            <a:off x="77724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F36"/>
                </a:solidFill>
              </a:rPr>
              <a:t>El IV baja al alargar la ventana: corte, 3M, 6M y 12M.</a:t>
            </a:r>
            <a:endParaRPr lang="en-US" sz="1600" dirty="0"/>
          </a:p>
          <a:p>
            <a:pPr marL="342900" indent="-342900">
              <a:spcAft>
                <a:spcPts val="800"/>
              </a:spcAft>
              <a:buSzPct val="100000"/>
              <a:buChar char="•"/>
            </a:pPr>
            <a:r>
              <a:rPr lang="en-US" sz="1600" dirty="0">
                <a:solidFill>
                  <a:srgbClr val="1A1F36"/>
                </a:solidFill>
              </a:rPr>
              <a:t>El promedio 6M no mejora el GINI en CE ni en SE, tampoco en diciembre.</a:t>
            </a:r>
            <a:endParaRPr lang="en-US" sz="1600" dirty="0"/>
          </a:p>
          <a:p>
            <a:pPr marL="342900" indent="-342900">
              <a:spcAft>
                <a:spcPts val="800"/>
              </a:spcAft>
              <a:buSzPct val="100000"/>
              <a:buChar char="•"/>
            </a:pPr>
            <a:r>
              <a:rPr lang="en-US" sz="1600" dirty="0">
                <a:solidFill>
                  <a:srgbClr val="1A1F36"/>
                </a:solidFill>
              </a:rPr>
              <a:t>Corte y 6M no usan los mismos meses, así que no se puede afirmar estabilidad en diciembre.</a:t>
            </a:r>
            <a:endParaRPr lang="en-US" sz="1600" dirty="0"/>
          </a:p>
          <a:p>
            <a:pPr marL="342900" indent="-342900">
              <a:spcAft>
                <a:spcPts val="800"/>
              </a:spcAft>
              <a:buSzPct val="100000"/>
              <a:buChar char="•"/>
            </a:pPr>
            <a:r>
              <a:rPr lang="en-US" sz="1600" dirty="0">
                <a:solidFill>
                  <a:srgbClr val="1A1F36"/>
                </a:solidFill>
              </a:rPr>
              <a:t>Sin Perfil cae de 7.1% a 0.2% en CE; la causa no está confirmada.</a:t>
            </a:r>
            <a:endParaRPr lang="en-US" sz="1600" dirty="0"/>
          </a:p>
          <a:p>
            <a:pPr marL="342900" indent="-342900">
              <a:spcAft>
                <a:spcPts val="800"/>
              </a:spcAft>
              <a:buSzPct val="100000"/>
              <a:buChar char="•"/>
            </a:pPr>
            <a:r>
              <a:rPr lang="en-US" sz="1600" dirty="0">
                <a:solidFill>
                  <a:srgbClr val="1A1F36"/>
                </a:solidFill>
              </a:rPr>
              <a:t>Las reglas originales del corte tienen dos huecos de borde (CE C_5 y SE C_1).</a:t>
            </a:r>
            <a:endParaRPr lang="en-US" sz="1600" dirty="0"/>
          </a:p>
        </p:txBody>
      </p:sp>
      <p:sp>
        <p:nvSpPr>
          <p:cNvPr id="6" name="Shape 4"/>
          <p:cNvSpPr/>
          <p:nvPr/>
        </p:nvSpPr>
        <p:spPr>
          <a:xfrm>
            <a:off x="6217920" y="1280160"/>
            <a:ext cx="5394960" cy="4846320"/>
          </a:xfrm>
          <a:prstGeom prst="roundRect">
            <a:avLst>
              <a:gd name="adj" fmla="val 1509"/>
            </a:avLst>
          </a:prstGeom>
          <a:solidFill>
            <a:srgbClr val="1F2A52"/>
          </a:solidFill>
          <a:ln w="12700">
            <a:solidFill>
              <a:srgbClr val="1F2A52"/>
            </a:solidFill>
            <a:prstDash val="solid"/>
          </a:ln>
        </p:spPr>
      </p:sp>
      <p:sp>
        <p:nvSpPr>
          <p:cNvPr id="7" name="Text 5"/>
          <p:cNvSpPr txBox="1"/>
          <p:nvPr/>
        </p:nvSpPr>
        <p:spPr>
          <a:xfrm>
            <a:off x="6446520" y="1417320"/>
            <a:ext cx="4937760" cy="411480"/>
          </a:xfrm>
          <a:prstGeom prst="rect">
            <a:avLst/>
          </a:prstGeom>
          <a:noFill/>
          <a:ln/>
        </p:spPr>
        <p:txBody>
          <a:bodyPr wrap="square" lIns="0" tIns="0" rIns="0" bIns="0" rtlCol="0" anchor="ctr"/>
          <a:lstStyle/>
          <a:p>
            <a:pPr indent="0" marL="0">
              <a:buNone/>
            </a:pPr>
            <a:r>
              <a:rPr lang="en-US" sz="1800" b="1" dirty="0">
                <a:solidFill>
                  <a:srgbClr val="F2B01E"/>
                </a:solidFill>
              </a:rPr>
              <a:t>Próximos pasos</a:t>
            </a:r>
            <a:endParaRPr lang="en-US" sz="1800" dirty="0"/>
          </a:p>
        </p:txBody>
      </p:sp>
      <p:sp>
        <p:nvSpPr>
          <p:cNvPr id="8" name="Text 6"/>
          <p:cNvSpPr txBox="1"/>
          <p:nvPr/>
        </p:nvSpPr>
        <p:spPr>
          <a:xfrm>
            <a:off x="6446520" y="1965960"/>
            <a:ext cx="4937760" cy="4023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rPr>
              <a:t>Correr la segmentación del corte con los mismos meses del 6M.</a:t>
            </a:r>
            <a:endParaRPr lang="en-US" sz="1600" dirty="0"/>
          </a:p>
          <a:p>
            <a:pPr marL="342900" indent="-342900">
              <a:spcAft>
                <a:spcPts val="800"/>
              </a:spcAft>
              <a:buSzPct val="100000"/>
              <a:buChar char="•"/>
            </a:pPr>
            <a:r>
              <a:rPr lang="en-US" sz="1600" dirty="0">
                <a:solidFill>
                  <a:srgbClr val="FFFFFF"/>
                </a:solidFill>
              </a:rPr>
              <a:t>Comparar tasa observada y esperada por perfil en diciembre.</a:t>
            </a:r>
            <a:endParaRPr lang="en-US" sz="1600" dirty="0"/>
          </a:p>
          <a:p>
            <a:pPr marL="342900" indent="-342900">
              <a:spcAft>
                <a:spcPts val="800"/>
              </a:spcAft>
              <a:buSzPct val="100000"/>
              <a:buChar char="•"/>
            </a:pPr>
            <a:r>
              <a:rPr lang="en-US" sz="1600" dirty="0">
                <a:solidFill>
                  <a:srgbClr val="FFFFFF"/>
                </a:solidFill>
              </a:rPr>
              <a:t>Revisar los clientes Sin Perfil del corte en CE (¿saldo nulo?).</a:t>
            </a:r>
            <a:endParaRPr lang="en-US" sz="1600" dirty="0"/>
          </a:p>
          <a:p>
            <a:pPr marL="342900" indent="-342900">
              <a:spcAft>
                <a:spcPts val="800"/>
              </a:spcAft>
              <a:buSzPct val="100000"/>
              <a:buChar char="•"/>
            </a:pPr>
            <a:r>
              <a:rPr lang="en-US" sz="1600" dirty="0">
                <a:solidFill>
                  <a:srgbClr val="FFFFFF"/>
                </a:solidFill>
              </a:rPr>
              <a:t>Corregir los dos huecos de las reglas originales.</a:t>
            </a:r>
            <a:endParaRPr lang="en-US" sz="1600" dirty="0"/>
          </a:p>
          <a:p>
            <a:pPr marL="342900" indent="-342900">
              <a:buSzPct val="100000"/>
              <a:buChar char="•"/>
            </a:pPr>
            <a:r>
              <a:rPr lang="en-US" sz="1600" dirty="0">
                <a:solidFill>
                  <a:srgbClr val="FFFFFF"/>
                </a:solidFill>
              </a:rPr>
              <a:t>Decidir la ventana y publicar las reglas en Rocket.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Anexo · CE: medidas y, yMora y Par30 por perfil</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188720"/>
                <a:gridCol w="1463040"/>
                <a:gridCol w="1051560"/>
                <a:gridCol w="1051560"/>
                <a:gridCol w="1051560"/>
                <a:gridCol w="1463040"/>
                <a:gridCol w="1280160"/>
                <a:gridCol w="1280160"/>
                <a:gridCol w="1234440"/>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Perfil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Corte: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6M: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133,401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38.01%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48.59%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656,641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40.90%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25,196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16.24%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545,941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18.22%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94,005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6.52%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12.21%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167,889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21,709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3.57%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385,302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61,520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168,969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29,531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238,045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61,877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216,936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30,131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238,558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45,362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220,706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62,514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216,454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96,115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0.82%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340,567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0.66%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Sin Perfil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50,302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43.16%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40.27%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44.94%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5,913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38.44%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34.33%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144768"/>
            <a:ext cx="11064240" cy="228600"/>
          </a:xfrm>
          <a:prstGeom prst="rect">
            <a:avLst/>
          </a:prstGeom>
          <a:noFill/>
          <a:ln/>
        </p:spPr>
        <p:txBody>
          <a:bodyPr wrap="square" lIns="0" tIns="0" rIns="0" bIns="0" rtlCol="0" anchor="ctr"/>
          <a:lstStyle/>
          <a:p>
            <a:pPr indent="0" marL="0">
              <a:buNone/>
            </a:pPr>
            <a:r>
              <a:rPr lang="en-US" sz="1000" dirty="0">
                <a:solidFill>
                  <a:srgbClr val="6B7390"/>
                </a:solidFill>
              </a:rPr>
              <a:t>Corte: enero. 6M: agregado de los meses analizados (los registros son la suma de los meses). Población: clientes con los 12 meses de observación siguientes completos.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Anexo · SE: medidas y, yMora y Par30 por perfil</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188720"/>
                <a:gridCol w="1463040"/>
                <a:gridCol w="1051560"/>
                <a:gridCol w="1051560"/>
                <a:gridCol w="1051560"/>
                <a:gridCol w="1463040"/>
                <a:gridCol w="1280160"/>
                <a:gridCol w="1280160"/>
                <a:gridCol w="1234440"/>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Perfil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Corte: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6M: registros</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yMora</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Par30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3,942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18,223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2,089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7.90%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22,658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7.77%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13,460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C4</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2,859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20,254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5.06%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9.27%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C5</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2,351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9.32%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72,480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6.83%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C6</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4,139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5.99%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16,404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5.61%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C7</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3,735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4.95%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17,987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2.54%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C8</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3,385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5.17%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40,625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3.18%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C9</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6,457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29,734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0.84%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C10</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3,283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1.92%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3.69%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C11</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5,873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C12</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5,112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1.47%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1F36"/>
                          </a:solidFill>
                          <a:latin typeface="Calibri" pitchFamily="34" charset="0"/>
                          <a:ea typeface="Calibri" pitchFamily="34" charset="-122"/>
                          <a:cs typeface="Calibri" pitchFamily="34" charset="-120"/>
                        </a:rPr>
                        <a:t>Sin Perfil</a:t>
                      </a:r>
                      <a:endParaRPr lang="en-US" sz="11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886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17.72%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16.70%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22.23%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4,404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5.99%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5.72%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F36"/>
                          </a:solidFill>
                          <a:latin typeface="Calibri" pitchFamily="34" charset="0"/>
                          <a:ea typeface="Calibri" pitchFamily="34" charset="-122"/>
                          <a:cs typeface="Calibri" pitchFamily="34" charset="-120"/>
                        </a:rPr>
                        <a:t>9.88%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144768"/>
            <a:ext cx="11064240" cy="228600"/>
          </a:xfrm>
          <a:prstGeom prst="rect">
            <a:avLst/>
          </a:prstGeom>
          <a:noFill/>
          <a:ln/>
        </p:spPr>
        <p:txBody>
          <a:bodyPr wrap="square" lIns="0" tIns="0" rIns="0" bIns="0" rtlCol="0" anchor="ctr"/>
          <a:lstStyle/>
          <a:p>
            <a:pPr indent="0" marL="0">
              <a:buNone/>
            </a:pPr>
            <a:r>
              <a:rPr lang="en-US" sz="1000" dirty="0">
                <a:solidFill>
                  <a:srgbClr val="6B7390"/>
                </a:solidFill>
              </a:rPr>
              <a:t>Corte: enero. 6M: agregado de los meses analizados (los registros son la suma de los meses). Población: clientes con los 12 meses de observación siguientes completos.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Riesgo Pichincha">
  <a:themeElements>
    <a:clrScheme name="Riesgo Pichincha">
      <a:dk1>
        <a:srgbClr val="1A1F36"/>
      </a:dk1>
      <a:lt1>
        <a:srgbClr val="FFFFFF"/>
      </a:lt1>
      <a:dk2>
        <a:srgbClr val="1F2A52"/>
      </a:dk2>
      <a:lt2>
        <a:srgbClr val="F2F4F9"/>
      </a:lt2>
      <a:accent1>
        <a:srgbClr val="F2B01E"/>
      </a:accent1>
      <a:accent2>
        <a:srgbClr val="2F4B9A"/>
      </a:accent2>
      <a:accent3>
        <a:srgbClr val="D64545"/>
      </a:accent3>
      <a:accent4>
        <a:srgbClr val="3FA34D"/>
      </a:accent4>
      <a:accent5>
        <a:srgbClr val="EE8A4B"/>
      </a:accent5>
      <a:accent6>
        <a:srgbClr val="8E9AAF"/>
      </a:accent6>
      <a:hlink>
        <a:srgbClr val="2F4B9A"/>
      </a:hlink>
      <a:folHlink>
        <a:srgbClr val="8E9AAF"/>
      </a:folHlink>
    </a:clrScheme>
    <a:fontScheme name="Riesgo Pichinch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Saldo al corte vs. promedio 6M: análisis técnico</dc:title>
  <dc:subject>Análisis técnico para Riesgo de Crédito</dc:subject>
  <dc:creator>Riesgo de Crédito</dc:creator>
  <cp:lastModifiedBy>Riesgo de Crédito</cp:lastModifiedBy>
  <cp:revision>1</cp:revision>
  <dcterms:created xsi:type="dcterms:W3CDTF">2026-10-15T20:38:41Z</dcterms:created>
  <dcterms:modified xsi:type="dcterms:W3CDTF">2026-10-15T20:38:41Z</dcterms:modified>
</cp:coreProperties>
</file>