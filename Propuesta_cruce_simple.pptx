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uesta" id="{26f1d80e-e5ac-5f94-7d8a-1150d3237070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celda de la tabla cruzada muestra el último valor y su historial de 12 meses frente a la PI global del perfil. Historial ilustrativo; el último mes viene de la captura.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fila es una celda de la tabla cruzada, cada columna un mes. El valor es cuántas veces supera la PI global de su perfil. Historial ilustrativo.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4241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424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90"/>
                </a:solidFill>
              </a:rPr>
              <a:t>Banco Pichincha · Riesgo de Crédito · Segmentación por saldo en cuentas del pasivo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 · Zona de alerta del cruce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326880" y="3657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7E0"/>
          </a:solidFill>
          <a:ln w="15875">
            <a:solidFill>
              <a:srgbClr val="F2B0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26880" y="365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2"/>
                </a:solidFill>
              </a:rPr>
              <a:t>HISTORIAL ILUSTRATIVO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8872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Pérdida incurrida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280160"/>
            <a:ext cx="329184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AAA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AE6"/>
                </a:solidFill>
              </a:rPr>
              <a:t>PI global 0.56%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280160"/>
            <a:ext cx="329184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AA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AE6"/>
                </a:solidFill>
              </a:rPr>
              <a:t>PI global 1.22%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1280160"/>
            <a:ext cx="3291840" cy="594360"/>
          </a:xfrm>
          <a:prstGeom prst="rect">
            <a:avLst/>
          </a:prstGeom>
          <a:solidFill>
            <a:srgbClr val="1F2A5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AE6"/>
                </a:solidFill>
              </a:rPr>
              <a:t>PI global 2.50%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1874520"/>
            <a:ext cx="1188720" cy="109728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Crítico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874520"/>
            <a:ext cx="3291840" cy="1097280"/>
          </a:xfrm>
          <a:prstGeom prst="rect">
            <a:avLst/>
          </a:prstGeom>
          <a:solidFill>
            <a:srgbClr val="F7F8F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Sin base suficiente (3 clientes)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187452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194767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6.02%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4.9×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431 clientes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583680" y="2696859"/>
            <a:ext cx="1645920" cy="0"/>
          </a:xfrm>
          <a:prstGeom prst="line">
            <a:avLst/>
          </a:prstGeom>
          <a:noFill/>
          <a:ln w="15875">
            <a:solidFill>
              <a:srgbClr val="8E9AAF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 flipV="1">
            <a:off x="6583680" y="2221401"/>
            <a:ext cx="149629" cy="11294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V="1">
            <a:off x="6733309" y="2198814"/>
            <a:ext cx="149629" cy="22587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82938" y="2198814"/>
            <a:ext cx="149629" cy="83572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7032567" y="2090396"/>
            <a:ext cx="149629" cy="19199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V="1">
            <a:off x="7182196" y="2050869"/>
            <a:ext cx="149629" cy="39527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31825" y="2050869"/>
            <a:ext cx="149629" cy="22812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7481455" y="2089267"/>
            <a:ext cx="149629" cy="189731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631084" y="2089267"/>
            <a:ext cx="149629" cy="184085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 flipV="1">
            <a:off x="7780713" y="2240600"/>
            <a:ext cx="149629" cy="32751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7930342" y="2068938"/>
            <a:ext cx="149629" cy="171662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079971" y="2068938"/>
            <a:ext cx="149629" cy="85831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321040" y="187452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458200" y="194767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11.39%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4.6×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1,959 clientes</a:t>
            </a:r>
            <a:endParaRPr lang="en-US" sz="2400" dirty="0"/>
          </a:p>
        </p:txBody>
      </p:sp>
      <p:sp>
        <p:nvSpPr>
          <p:cNvPr id="28" name="Shape 25"/>
          <p:cNvSpPr/>
          <p:nvPr/>
        </p:nvSpPr>
        <p:spPr>
          <a:xfrm>
            <a:off x="9875520" y="2678635"/>
            <a:ext cx="1645920" cy="0"/>
          </a:xfrm>
          <a:prstGeom prst="line">
            <a:avLst/>
          </a:prstGeom>
          <a:noFill/>
          <a:ln w="15875">
            <a:solidFill>
              <a:srgbClr val="8E9AAF"/>
            </a:solidFill>
            <a:prstDash val="dash"/>
          </a:ln>
        </p:spPr>
      </p:sp>
      <p:sp>
        <p:nvSpPr>
          <p:cNvPr id="29" name="Shape 26"/>
          <p:cNvSpPr/>
          <p:nvPr/>
        </p:nvSpPr>
        <p:spPr>
          <a:xfrm flipV="1">
            <a:off x="9875520" y="2168185"/>
            <a:ext cx="149629" cy="27457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025149" y="2168185"/>
            <a:ext cx="149629" cy="1248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10174778" y="2118263"/>
            <a:ext cx="149629" cy="5117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10324407" y="2079574"/>
            <a:ext cx="149629" cy="3868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474036" y="2079574"/>
            <a:ext cx="149629" cy="78003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10623665" y="2130743"/>
            <a:ext cx="149629" cy="26833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 flipV="1">
            <a:off x="10773295" y="2071461"/>
            <a:ext cx="149629" cy="59282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922924" y="2071461"/>
            <a:ext cx="149629" cy="8361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1072553" y="2155080"/>
            <a:ext cx="149629" cy="85491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11222182" y="2050869"/>
            <a:ext cx="149629" cy="189703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371811" y="2050869"/>
            <a:ext cx="149629" cy="73011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8640" y="2971800"/>
            <a:ext cx="1188720" cy="1097280"/>
          </a:xfrm>
          <a:prstGeom prst="rect">
            <a:avLst/>
          </a:prstGeom>
          <a:solidFill>
            <a:srgbClr val="EE8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Alto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737360" y="2971800"/>
            <a:ext cx="3291840" cy="1097280"/>
          </a:xfrm>
          <a:prstGeom prst="rect">
            <a:avLst/>
          </a:prstGeom>
          <a:solidFill>
            <a:srgbClr val="F7F8F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Sin clientes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029200" y="2971800"/>
            <a:ext cx="3291840" cy="1097280"/>
          </a:xfrm>
          <a:prstGeom prst="rect">
            <a:avLst/>
          </a:prstGeom>
          <a:solidFill>
            <a:srgbClr val="F7F8FB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Sin clientes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8321040" y="2971800"/>
            <a:ext cx="3291840" cy="1097280"/>
          </a:xfrm>
          <a:prstGeom prst="rect">
            <a:avLst/>
          </a:prstGeom>
          <a:solidFill>
            <a:srgbClr val="FFF3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458200" y="304495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3.68%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1.5×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3,107 clientes</a:t>
            </a:r>
            <a:endParaRPr lang="en-US" sz="2400" dirty="0"/>
          </a:p>
        </p:txBody>
      </p:sp>
      <p:sp>
        <p:nvSpPr>
          <p:cNvPr id="45" name="Shape 42"/>
          <p:cNvSpPr/>
          <p:nvPr/>
        </p:nvSpPr>
        <p:spPr>
          <a:xfrm>
            <a:off x="9875520" y="3490607"/>
            <a:ext cx="1645920" cy="0"/>
          </a:xfrm>
          <a:prstGeom prst="line">
            <a:avLst/>
          </a:prstGeom>
          <a:noFill/>
          <a:ln w="15875">
            <a:solidFill>
              <a:srgbClr val="8E9AAF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9875520" y="3204637"/>
            <a:ext cx="149629" cy="210065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10025149" y="3338796"/>
            <a:ext cx="149629" cy="75906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174778" y="3338796"/>
            <a:ext cx="149629" cy="51192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10324407" y="3261125"/>
            <a:ext cx="149629" cy="128863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474036" y="3261125"/>
            <a:ext cx="149629" cy="150046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flipV="1">
            <a:off x="10623665" y="3321143"/>
            <a:ext cx="149629" cy="90028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10773295" y="3160505"/>
            <a:ext cx="149629" cy="160638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922924" y="3160505"/>
            <a:ext cx="149629" cy="3354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1072553" y="3194045"/>
            <a:ext cx="149629" cy="22948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flipV="1">
            <a:off x="11222182" y="3148149"/>
            <a:ext cx="149629" cy="68845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371811" y="3148149"/>
            <a:ext cx="149629" cy="13415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548640" y="4069080"/>
            <a:ext cx="1188720" cy="1097280"/>
          </a:xfrm>
          <a:prstGeom prst="rect">
            <a:avLst/>
          </a:prstGeom>
          <a:solidFill>
            <a:srgbClr val="F2CF4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F36"/>
                </a:solidFill>
              </a:rPr>
              <a:t>Potencial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1737360" y="406908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874520" y="414223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5.23%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9.3×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421 clientes</a:t>
            </a:r>
            <a:endParaRPr lang="en-US" sz="2400" dirty="0"/>
          </a:p>
        </p:txBody>
      </p:sp>
      <p:sp>
        <p:nvSpPr>
          <p:cNvPr id="60" name="Shape 57"/>
          <p:cNvSpPr/>
          <p:nvPr/>
        </p:nvSpPr>
        <p:spPr>
          <a:xfrm>
            <a:off x="3291840" y="4958862"/>
            <a:ext cx="1645920" cy="0"/>
          </a:xfrm>
          <a:prstGeom prst="line">
            <a:avLst/>
          </a:prstGeom>
          <a:noFill/>
          <a:ln w="15875">
            <a:solidFill>
              <a:srgbClr val="8E9AAF"/>
            </a:solidFill>
            <a:prstDash val="dash"/>
          </a:ln>
        </p:spPr>
      </p:sp>
      <p:sp>
        <p:nvSpPr>
          <p:cNvPr id="61" name="Shape 58"/>
          <p:cNvSpPr/>
          <p:nvPr/>
        </p:nvSpPr>
        <p:spPr>
          <a:xfrm flipV="1">
            <a:off x="3291840" y="4412482"/>
            <a:ext cx="149629" cy="90435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V="1">
            <a:off x="3441469" y="4293158"/>
            <a:ext cx="149629" cy="119324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591098" y="4293158"/>
            <a:ext cx="149629" cy="214784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3740727" y="4455188"/>
            <a:ext cx="149629" cy="52754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flipV="1">
            <a:off x="3890356" y="4268037"/>
            <a:ext cx="149629" cy="187151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039985" y="4268037"/>
            <a:ext cx="149629" cy="19719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 flipV="1">
            <a:off x="4189615" y="4435091"/>
            <a:ext cx="149629" cy="30145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 flipV="1">
            <a:off x="4339244" y="4265525"/>
            <a:ext cx="149629" cy="169566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488873" y="4265525"/>
            <a:ext cx="149629" cy="33913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 flipV="1">
            <a:off x="4638502" y="4245429"/>
            <a:ext cx="149629" cy="5401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788131" y="4245429"/>
            <a:ext cx="149629" cy="12686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029200" y="4069080"/>
            <a:ext cx="3291840" cy="1097280"/>
          </a:xfrm>
          <a:prstGeom prst="rect">
            <a:avLst/>
          </a:prstGeom>
          <a:solidFill>
            <a:srgbClr val="FBE3E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5166360" y="414223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3.95%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3.2×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1,063 clientes</a:t>
            </a:r>
            <a:endParaRPr lang="en-US" sz="2400" dirty="0"/>
          </a:p>
        </p:txBody>
      </p:sp>
      <p:sp>
        <p:nvSpPr>
          <p:cNvPr id="74" name="Shape 71"/>
          <p:cNvSpPr/>
          <p:nvPr/>
        </p:nvSpPr>
        <p:spPr>
          <a:xfrm>
            <a:off x="6583680" y="4811882"/>
            <a:ext cx="1645920" cy="0"/>
          </a:xfrm>
          <a:prstGeom prst="line">
            <a:avLst/>
          </a:prstGeom>
          <a:noFill/>
          <a:ln w="15875">
            <a:solidFill>
              <a:srgbClr val="8E9AAF"/>
            </a:solidFill>
            <a:prstDash val="dash"/>
          </a:ln>
        </p:spPr>
      </p:sp>
      <p:sp>
        <p:nvSpPr>
          <p:cNvPr id="75" name="Shape 72"/>
          <p:cNvSpPr/>
          <p:nvPr/>
        </p:nvSpPr>
        <p:spPr>
          <a:xfrm>
            <a:off x="6583680" y="4256116"/>
            <a:ext cx="149629" cy="17634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 flipV="1">
            <a:off x="6733309" y="4338056"/>
            <a:ext cx="149629" cy="9440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 flipV="1">
            <a:off x="6882938" y="4297086"/>
            <a:ext cx="149629" cy="4097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032567" y="4297086"/>
            <a:ext cx="149629" cy="7125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182196" y="4304211"/>
            <a:ext cx="149629" cy="48095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331825" y="4352306"/>
            <a:ext cx="149629" cy="49876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flipV="1">
            <a:off x="7481455" y="4289961"/>
            <a:ext cx="149629" cy="112222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631084" y="4289961"/>
            <a:ext cx="149629" cy="49876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780713" y="4339837"/>
            <a:ext cx="149629" cy="126472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 flipV="1">
            <a:off x="7930342" y="4245429"/>
            <a:ext cx="149629" cy="220881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079971" y="4245429"/>
            <a:ext cx="149629" cy="80158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321040" y="4069080"/>
            <a:ext cx="3291840" cy="1097280"/>
          </a:xfrm>
          <a:prstGeom prst="rect">
            <a:avLst/>
          </a:prstGeom>
          <a:solidFill>
            <a:srgbClr val="FFF3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8458200" y="4142232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52"/>
                </a:solidFill>
              </a:rPr>
              <a:t>3.83%</a:t>
            </a:r>
            <a:endParaRPr lang="en-US" sz="2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1.5× la PI global</a:t>
            </a:r>
            <a:endParaRPr lang="en-US" sz="2400" dirty="0"/>
          </a:p>
          <a:p>
            <a:pPr indent="0" marL="0">
              <a:buNone/>
            </a:pPr>
            <a:r>
              <a:rPr lang="en-US" sz="1100" dirty="0">
                <a:solidFill>
                  <a:srgbClr val="6B7390"/>
                </a:solidFill>
              </a:rPr>
              <a:t>1,519 clientes</a:t>
            </a:r>
            <a:endParaRPr lang="en-US" sz="2400" dirty="0"/>
          </a:p>
        </p:txBody>
      </p:sp>
      <p:sp>
        <p:nvSpPr>
          <p:cNvPr id="88" name="Shape 85"/>
          <p:cNvSpPr/>
          <p:nvPr/>
        </p:nvSpPr>
        <p:spPr>
          <a:xfrm>
            <a:off x="9875520" y="4608722"/>
            <a:ext cx="1645920" cy="0"/>
          </a:xfrm>
          <a:prstGeom prst="line">
            <a:avLst/>
          </a:prstGeom>
          <a:noFill/>
          <a:ln w="15875">
            <a:solidFill>
              <a:srgbClr val="8E9AAF"/>
            </a:solidFill>
            <a:prstDash val="dash"/>
          </a:ln>
        </p:spPr>
      </p:sp>
      <p:sp>
        <p:nvSpPr>
          <p:cNvPr id="89" name="Shape 86"/>
          <p:cNvSpPr/>
          <p:nvPr/>
        </p:nvSpPr>
        <p:spPr>
          <a:xfrm>
            <a:off x="9875520" y="4487624"/>
            <a:ext cx="149629" cy="28593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 flipV="1">
            <a:off x="10025149" y="4331206"/>
            <a:ext cx="149629" cy="18501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0174778" y="4331206"/>
            <a:ext cx="149629" cy="82414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V="1">
            <a:off x="10324407" y="4361481"/>
            <a:ext cx="149629" cy="52139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10474036" y="4361481"/>
            <a:ext cx="149629" cy="85778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 flipV="1">
            <a:off x="10623665" y="4245429"/>
            <a:ext cx="149629" cy="201830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10773295" y="4245429"/>
            <a:ext cx="149629" cy="240514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 flipV="1">
            <a:off x="10922924" y="4480896"/>
            <a:ext cx="149629" cy="5046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11072553" y="4480896"/>
            <a:ext cx="149629" cy="33638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11222182" y="4379982"/>
            <a:ext cx="149629" cy="134553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11371811" y="4379982"/>
            <a:ext cx="149629" cy="5046"/>
          </a:xfrm>
          <a:prstGeom prst="line">
            <a:avLst/>
          </a:prstGeom>
          <a:noFill/>
          <a:ln w="25400">
            <a:solidFill>
              <a:srgbClr val="1F2A5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548640" y="5349240"/>
            <a:ext cx="3611880" cy="6400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52"/>
                </a:solidFill>
              </a:rPr>
              <a:t>7 de 7  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Celdas con datos sobre la PI global</a:t>
            </a:r>
            <a:endParaRPr lang="en-US" sz="2200" dirty="0"/>
          </a:p>
        </p:txBody>
      </p:sp>
      <p:sp>
        <p:nvSpPr>
          <p:cNvPr id="101" name="Text 98"/>
          <p:cNvSpPr txBox="1"/>
          <p:nvPr/>
        </p:nvSpPr>
        <p:spPr>
          <a:xfrm>
            <a:off x="4251960" y="5349240"/>
            <a:ext cx="3611880" cy="6400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52"/>
                </a:solidFill>
              </a:rPr>
              <a:t>8,500  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Clientes en la zona de alerta (último mes)</a:t>
            </a:r>
            <a:endParaRPr lang="en-US" sz="2200" dirty="0"/>
          </a:p>
        </p:txBody>
      </p:sp>
      <p:sp>
        <p:nvSpPr>
          <p:cNvPr id="102" name="Text 99"/>
          <p:cNvSpPr txBox="1"/>
          <p:nvPr/>
        </p:nvSpPr>
        <p:spPr>
          <a:xfrm>
            <a:off x="7955280" y="5349240"/>
            <a:ext cx="3611880" cy="640080"/>
          </a:xfrm>
          <a:prstGeom prst="rect">
            <a:avLst/>
          </a:prstGeom>
          <a:solidFill>
            <a:srgbClr val="F2F4F9"/>
          </a:solidFill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52"/>
                </a:solidFill>
              </a:rPr>
              <a:t>12 de 12  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Meses sobre la PI global (celda mayor)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 · Persistencia por mes frente a la PI global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326880" y="3657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7E0"/>
          </a:solidFill>
          <a:ln w="15875">
            <a:solidFill>
              <a:srgbClr val="F2B01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326880" y="3657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52"/>
                </a:solidFill>
              </a:rPr>
              <a:t>HISTORIAL ILUSTRATIVO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· perfil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Dic-24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Crítico ·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·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8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9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6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·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F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C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760720"/>
            <a:ext cx="1188720" cy="365760"/>
          </a:xfrm>
          <a:prstGeom prst="rect">
            <a:avLst/>
          </a:prstGeom>
          <a:solidFill>
            <a:srgbClr val="E4F2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&lt; 1×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1828800" y="5760720"/>
            <a:ext cx="1188720" cy="365760"/>
          </a:xfrm>
          <a:prstGeom prst="rect">
            <a:avLst/>
          </a:prstGeom>
          <a:solidFill>
            <a:srgbClr val="FFF1C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1× a 2×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3108960" y="5760720"/>
            <a:ext cx="1188720" cy="365760"/>
          </a:xfrm>
          <a:prstGeom prst="rect">
            <a:avLst/>
          </a:prstGeom>
          <a:solidFill>
            <a:srgbClr val="F8C9A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6"/>
                </a:solidFill>
              </a:rPr>
              <a:t>2× a 3×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389120" y="5760720"/>
            <a:ext cx="1188720" cy="365760"/>
          </a:xfrm>
          <a:prstGeom prst="rect">
            <a:avLst/>
          </a:prstGeom>
          <a:solidFill>
            <a:srgbClr val="E5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≥ 3×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852160" y="5760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90"/>
                </a:solidFill>
              </a:rPr>
              <a:t>Valor = pérdida incurrida de la celda ÷ PI global del perfil. Se reporta cuando supera 1×.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3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cruce segmentación y perfil</dc:title>
  <dc:subject>Maqueta</dc:subject>
  <dc:creator>Riesgo de Crédito</dc:creator>
  <cp:lastModifiedBy>Riesgo de Crédito</cp:lastModifiedBy>
  <cp:revision>1</cp:revision>
  <dcterms:created xsi:type="dcterms:W3CDTF">2026-10-16T04:35:12Z</dcterms:created>
  <dcterms:modified xsi:type="dcterms:W3CDTF">2026-10-16T04:35:12Z</dcterms:modified>
</cp:coreProperties>
</file>