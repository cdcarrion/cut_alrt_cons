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ortada" id="{2fc054ae-d3d8-d22c-9766-28e03b85de3a}">
          <p14:sldIdLst>
            <p14:sldId id="256"/>
          </p14:sldIdLst>
        </p14:section>
        <p14:section name="Resumen" id="{e759fc77-8647-ce6d-21dc-2a406cce51fe}">
          <p14:sldIdLst>
            <p14:sldId id="257"/>
          </p14:sldIdLst>
        </p14:section>
        <p14:section name="Contexto" id="{12bfdeaf-5d9c-3799-1773-2f53d28f5114}">
          <p14:sldIdLst>
            <p14:sldId id="258"/>
          </p14:sldIdLst>
        </p14:section>
        <p14:section name="Resultados" id="{8a548772-73ea-b318-0269-fb45607526cc}">
          <p14:sldIdLst>
            <p14:sldId id="259"/>
            <p14:sldId id="260"/>
          </p14:sldIdLst>
        </p14:section>
        <p14:section name="Comparativo" id="{4369cb6c-34ca-652e-9b5a-a7a82ebef4a6}">
          <p14:sldIdLst>
            <p14:sldId id="261"/>
          </p14:sldIdLst>
        </p14:section>
        <p14:section name="Cierre" id="{21c3e42d-2bf6-cea2-6991-c6569897e113}">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Fecha de corte</c:v>
                </c:pt>
              </c:strCache>
            </c:strRef>
          </c:tx>
          <c:spPr>
            <a:solidFill>
              <a:srgbClr val="1F2A52"/>
            </a:solidFill>
            <a:effectLst/>
          </c:spPr>
          <c:invertIfNegative val="0"/>
          <c:dLbls>
            <c:numFmt formatCode="0.0&quot;%&quot;" sourceLinked="0"/>
            <c:txPr>
              <a:bodyPr/>
              <a:lstStyle/>
              <a:p>
                <a:pPr>
                  <a:defRPr b="0" i="0" strike="noStrike" sz="1100" u="none">
                    <a:solidFill>
                      <a:srgbClr val="1A1F36"/>
                    </a:solidFill>
                    <a:latin typeface="+mn-lt"/>
                  </a:defRPr>
                </a:pPr>
              </a:p>
            </c:txPr>
            <c:showLegendKey val="0"/>
            <c:showVal val="1"/>
            <c:showCatName val="0"/>
            <c:showSerName val="0"/>
            <c:showPercent val="0"/>
            <c:showBubbleSize val="0"/>
            <c:showLeaderLines val="0"/>
          </c:dLbls>
          <c:cat>
            <c:multiLvlStrRef>
              <c:f>Sheet1!$A$2:$A$6</c:f>
              <c:multiLvlStrCache>
                <c:ptCount val="5"/>
                <c:lvl>
                  <c:pt idx="0">
                    <c:v>Crítico</c:v>
                  </c:pt>
                  <c:pt idx="1">
                    <c:v>Alto</c:v>
                  </c:pt>
                  <c:pt idx="2">
                    <c:v>Potencial</c:v>
                  </c:pt>
                  <c:pt idx="3">
                    <c:v>Medio</c:v>
                  </c:pt>
                  <c:pt idx="4">
                    <c:v>Bajo</c:v>
                  </c:pt>
                </c:lvl>
              </c:multiLvlStrCache>
            </c:multiLvlStrRef>
          </c:cat>
          <c:val>
            <c:numRef>
              <c:f>Sheet1!$B$2:$B$6</c:f>
              <c:numCache>
                <c:formatCode>General</c:formatCode>
                <c:ptCount val="5"/>
                <c:pt idx="0">
                  <c:v>45.2</c:v>
                </c:pt>
                <c:pt idx="1">
                  <c:v>12.5</c:v>
                </c:pt>
                <c:pt idx="2">
                  <c:v>5.9</c:v>
                </c:pt>
                <c:pt idx="3">
                  <c:v>4.3</c:v>
                </c:pt>
                <c:pt idx="4">
                  <c:v>2.1</c:v>
                </c:pt>
              </c:numCache>
            </c:numRef>
          </c:val>
        </c:ser>
        <c:ser>
          <c:idx val="1"/>
          <c:order val="1"/>
          <c:tx>
            <c:strRef>
              <c:f>Sheet1!$C$1</c:f>
              <c:strCache>
                <c:ptCount val="1"/>
                <c:pt idx="0">
                  <c:v>Promedio 6M</c:v>
                </c:pt>
              </c:strCache>
            </c:strRef>
          </c:tx>
          <c:spPr>
            <a:solidFill>
              <a:srgbClr val="F2B01E"/>
            </a:solidFill>
            <a:effectLst/>
          </c:spPr>
          <c:invertIfNegative val="0"/>
          <c:dLbls>
            <c:numFmt formatCode="0.0&quot;%&quot;" sourceLinked="0"/>
            <c:txPr>
              <a:bodyPr/>
              <a:lstStyle/>
              <a:p>
                <a:pPr>
                  <a:defRPr b="0" i="0" strike="noStrike" sz="1100" u="none">
                    <a:solidFill>
                      <a:srgbClr val="1A1F36"/>
                    </a:solidFill>
                    <a:latin typeface="+mn-lt"/>
                  </a:defRPr>
                </a:pPr>
              </a:p>
            </c:txPr>
            <c:showLegendKey val="0"/>
            <c:showVal val="1"/>
            <c:showCatName val="0"/>
            <c:showSerName val="0"/>
            <c:showPercent val="0"/>
            <c:showBubbleSize val="0"/>
            <c:showLeaderLines val="0"/>
          </c:dLbls>
          <c:cat>
            <c:multiLvlStrRef>
              <c:f>Sheet1!$A$2:$A$6</c:f>
              <c:multiLvlStrCache>
                <c:ptCount val="5"/>
                <c:lvl>
                  <c:pt idx="0">
                    <c:v>Crítico</c:v>
                  </c:pt>
                  <c:pt idx="1">
                    <c:v>Alto</c:v>
                  </c:pt>
                  <c:pt idx="2">
                    <c:v>Potencial</c:v>
                  </c:pt>
                  <c:pt idx="3">
                    <c:v>Medio</c:v>
                  </c:pt>
                  <c:pt idx="4">
                    <c:v>Bajo</c:v>
                  </c:pt>
                </c:lvl>
              </c:multiLvlStrCache>
            </c:multiLvlStrRef>
          </c:cat>
          <c:val>
            <c:numRef>
              <c:f>Sheet1!$C$2:$C$6</c:f>
              <c:numCache>
                <c:formatCode>General</c:formatCode>
                <c:ptCount val="5"/>
                <c:pt idx="0">
                  <c:v>28</c:v>
                </c:pt>
                <c:pt idx="1">
                  <c:v>5.9</c:v>
                </c:pt>
                <c:pt idx="2">
                  <c:v>3.2</c:v>
                </c:pt>
                <c:pt idx="3">
                  <c:v>2.1</c:v>
                </c:pt>
                <c:pt idx="4">
                  <c:v>1.4</c:v>
                </c:pt>
              </c:numCache>
            </c:numRef>
          </c:val>
        </c:ser>
        <c:dLbls>
          <c:numFmt formatCode="0.0&quot;%&quot;" sourceLinked="0"/>
          <c:txPr>
            <a:bodyPr/>
            <a:lstStyle/>
            <a:p>
              <a:pPr>
                <a:defRPr b="0" i="0" strike="noStrike" sz="1100" u="none">
                  <a:solidFill>
                    <a:srgbClr val="1A1F3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A1F36"/>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5DAE6"/>
              </a:solidFill>
              <a:prstDash val="solid"/>
              <a:round/>
            </a:ln>
          </c:spPr>
        </c:majorGridlines>
        <c:title>
          <c:tx>
            <c:rich>
              <a:bodyPr/>
              <a:lstStyle/>
              <a:p>
                <a:pPr>
                  <a:defRPr sz="1100" b="0" i="0" u="none" strike="noStrike">
                    <a:solidFill>
                      <a:srgbClr val="6B7390"/>
                    </a:solidFill>
                    <a:latin typeface="Arial"/>
                  </a:defRPr>
                </a:pPr>
                <a:r>
                  <a:rPr sz="1100" b="0" i="0" u="none" strike="noStrike">
                    <a:solidFill>
                      <a:srgbClr val="6B7390"/>
                    </a:solidFill>
                    <a:latin typeface="Arial"/>
                  </a:rPr>
                  <a:t>Tasa de evento (y)</a:t>
                </a:r>
              </a:p>
            </c:rich>
          </c:tx>
          <c:layout/>
          <c:overlay val="0"/>
        </c:title>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390"/>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Fecha de corte</c:v>
                </c:pt>
              </c:strCache>
            </c:strRef>
          </c:tx>
          <c:spPr>
            <a:solidFill>
              <a:srgbClr val="1F2A52"/>
            </a:solidFill>
            <a:effectLst/>
          </c:spPr>
          <c:invertIfNegative val="0"/>
          <c:dLbls>
            <c:numFmt formatCode="0.0&quot;%&quot;" sourceLinked="0"/>
            <c:txPr>
              <a:bodyPr/>
              <a:lstStyle/>
              <a:p>
                <a:pPr>
                  <a:defRPr b="0" i="0" strike="noStrike" sz="1100" u="none">
                    <a:solidFill>
                      <a:srgbClr val="1A1F36"/>
                    </a:solidFill>
                    <a:latin typeface="+mn-lt"/>
                  </a:defRPr>
                </a:pPr>
              </a:p>
            </c:txPr>
            <c:showLegendKey val="0"/>
            <c:showVal val="1"/>
            <c:showCatName val="0"/>
            <c:showSerName val="0"/>
            <c:showPercent val="0"/>
            <c:showBubbleSize val="0"/>
            <c:showLeaderLines val="0"/>
          </c:dLbls>
          <c:cat>
            <c:multiLvlStrRef>
              <c:f>Sheet1!$A$2:$A$6</c:f>
              <c:multiLvlStrCache>
                <c:ptCount val="5"/>
                <c:lvl>
                  <c:pt idx="0">
                    <c:v>Crítico</c:v>
                  </c:pt>
                  <c:pt idx="1">
                    <c:v>Alto</c:v>
                  </c:pt>
                  <c:pt idx="2">
                    <c:v>Potencial</c:v>
                  </c:pt>
                  <c:pt idx="3">
                    <c:v>Medio</c:v>
                  </c:pt>
                  <c:pt idx="4">
                    <c:v>Bajo</c:v>
                  </c:pt>
                </c:lvl>
              </c:multiLvlStrCache>
            </c:multiLvlStrRef>
          </c:cat>
          <c:val>
            <c:numRef>
              <c:f>Sheet1!$B$2:$B$6</c:f>
              <c:numCache>
                <c:formatCode>General</c:formatCode>
                <c:ptCount val="5"/>
                <c:pt idx="0">
                  <c:v>19.1</c:v>
                </c:pt>
                <c:pt idx="1">
                  <c:v>6.9</c:v>
                </c:pt>
                <c:pt idx="2">
                  <c:v>4.8</c:v>
                </c:pt>
                <c:pt idx="3">
                  <c:v>2.8</c:v>
                </c:pt>
                <c:pt idx="4">
                  <c:v>1.7</c:v>
                </c:pt>
              </c:numCache>
            </c:numRef>
          </c:val>
        </c:ser>
        <c:ser>
          <c:idx val="1"/>
          <c:order val="1"/>
          <c:tx>
            <c:strRef>
              <c:f>Sheet1!$C$1</c:f>
              <c:strCache>
                <c:ptCount val="1"/>
                <c:pt idx="0">
                  <c:v>Promedio 6M</c:v>
                </c:pt>
              </c:strCache>
            </c:strRef>
          </c:tx>
          <c:spPr>
            <a:solidFill>
              <a:srgbClr val="F2B01E"/>
            </a:solidFill>
            <a:effectLst/>
          </c:spPr>
          <c:invertIfNegative val="0"/>
          <c:dLbls>
            <c:numFmt formatCode="0.0&quot;%&quot;" sourceLinked="0"/>
            <c:txPr>
              <a:bodyPr/>
              <a:lstStyle/>
              <a:p>
                <a:pPr>
                  <a:defRPr b="0" i="0" strike="noStrike" sz="1100" u="none">
                    <a:solidFill>
                      <a:srgbClr val="1A1F36"/>
                    </a:solidFill>
                    <a:latin typeface="+mn-lt"/>
                  </a:defRPr>
                </a:pPr>
              </a:p>
            </c:txPr>
            <c:showLegendKey val="0"/>
            <c:showVal val="1"/>
            <c:showCatName val="0"/>
            <c:showSerName val="0"/>
            <c:showPercent val="0"/>
            <c:showBubbleSize val="0"/>
            <c:showLeaderLines val="0"/>
          </c:dLbls>
          <c:cat>
            <c:multiLvlStrRef>
              <c:f>Sheet1!$A$2:$A$6</c:f>
              <c:multiLvlStrCache>
                <c:ptCount val="5"/>
                <c:lvl>
                  <c:pt idx="0">
                    <c:v>Crítico</c:v>
                  </c:pt>
                  <c:pt idx="1">
                    <c:v>Alto</c:v>
                  </c:pt>
                  <c:pt idx="2">
                    <c:v>Potencial</c:v>
                  </c:pt>
                  <c:pt idx="3">
                    <c:v>Medio</c:v>
                  </c:pt>
                  <c:pt idx="4">
                    <c:v>Bajo</c:v>
                  </c:pt>
                </c:lvl>
              </c:multiLvlStrCache>
            </c:multiLvlStrRef>
          </c:cat>
          <c:val>
            <c:numRef>
              <c:f>Sheet1!$C$2:$C$6</c:f>
              <c:numCache>
                <c:formatCode>General</c:formatCode>
                <c:ptCount val="5"/>
                <c:pt idx="0">
                  <c:v>20</c:v>
                </c:pt>
                <c:pt idx="1">
                  <c:v>8.4</c:v>
                </c:pt>
                <c:pt idx="2">
                  <c:v>5.2</c:v>
                </c:pt>
                <c:pt idx="3">
                  <c:v>3</c:v>
                </c:pt>
                <c:pt idx="4">
                  <c:v>1.1</c:v>
                </c:pt>
              </c:numCache>
            </c:numRef>
          </c:val>
        </c:ser>
        <c:dLbls>
          <c:numFmt formatCode="0.0&quot;%&quot;" sourceLinked="0"/>
          <c:txPr>
            <a:bodyPr/>
            <a:lstStyle/>
            <a:p>
              <a:pPr>
                <a:defRPr b="0" i="0" strike="noStrike" sz="1100" u="none">
                  <a:solidFill>
                    <a:srgbClr val="1A1F3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A1F36"/>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5DAE6"/>
              </a:solidFill>
              <a:prstDash val="solid"/>
              <a:round/>
            </a:ln>
          </c:spPr>
        </c:majorGridlines>
        <c:title>
          <c:tx>
            <c:rich>
              <a:bodyPr/>
              <a:lstStyle/>
              <a:p>
                <a:pPr>
                  <a:defRPr sz="1100" b="0" i="0" u="none" strike="noStrike">
                    <a:solidFill>
                      <a:srgbClr val="6B7390"/>
                    </a:solidFill>
                    <a:latin typeface="Arial"/>
                  </a:defRPr>
                </a:pPr>
                <a:r>
                  <a:rPr sz="1100" b="0" i="0" u="none" strike="noStrike">
                    <a:solidFill>
                      <a:srgbClr val="6B7390"/>
                    </a:solidFill>
                    <a:latin typeface="Arial"/>
                  </a:rPr>
                  <a:t>Tasa de evento (y)</a:t>
                </a:r>
              </a:p>
            </c:rich>
          </c:tx>
          <c:layout/>
          <c:overlay val="0"/>
        </c:title>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390"/>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ejecutiva de la comparación entre usar el saldo a la fecha de corte y el promedio de los últimos 6 meses para segmentar clientes.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Mensaje principal: en ambos segmentos el saldo al corte discrimina igual o mejor. El promedio 6M se justifica por estabilidad frente a diciembre, pero eso todavía no está demostrado con los mismos meses.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problema que motivó el análisis es el efecto de diciembre. Importante aclarar que la comparación aún no es entre iguales: el corte usa solo enero.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la separación entre niveles se mantiene, pero 6M pierde algo de orden entre perfiles.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el 6M separa menos y reparte la población de forma menos útil para decidir.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Todos los indicadores favorecen al corte, salvo que el 6M reduce el peso de Sin Perfil en 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decisión sobre la ventana depende de demostrar la estabilidad en diciembre con los mismos meses.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rgbClr val="1F2A5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011680"/>
            <a:ext cx="10424160" cy="14630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822960" y="3657600"/>
            <a:ext cx="10424160" cy="1097280"/>
          </a:xfrm>
          <a:prstGeom prst="rect">
            <a:avLst/>
          </a:prstGeom>
          <a:noFill/>
          <a:ln/>
        </p:spPr>
        <p:txBody>
          <a:bodyPr wrap="square" rtlCol="0"/>
          <a:lstStyle>
            <a:lvl1pPr algn="l" indent="0" marL="0">
              <a:buNone/>
              <a:defRPr lang="en-US" sz="2000" dirty="0">
                <a:solidFill>
                  <a:schemeClr val="accent1"/>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p:nvPr/>
        </p:nvSpPr>
        <p:spPr>
          <a:xfrm>
            <a:off x="548640" y="6400800"/>
            <a:ext cx="9144000" cy="274320"/>
          </a:xfrm>
          <a:prstGeom prst="rect">
            <a:avLst/>
          </a:prstGeom>
          <a:noFill/>
          <a:ln/>
        </p:spPr>
        <p:txBody>
          <a:bodyPr wrap="square" lIns="0" tIns="0" rIns="0" bIns="0" rtlCol="0" anchor="ctr"/>
          <a:lstStyle/>
          <a:p>
            <a:pPr indent="0" marL="0">
              <a:buNone/>
            </a:pPr>
            <a:r>
              <a:rPr lang="en-US" sz="1000" dirty="0">
                <a:solidFill>
                  <a:srgbClr val="6B7390"/>
                </a:solidFill>
              </a:rPr>
              <a:t>Banco Pichincha · Riesgo de Crédito · Segmentación por saldo en cuentas del pasivo</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90"/>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9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822960" y="2011680"/>
            <a:ext cx="10424160" cy="1463040"/>
          </a:xfrm>
          <a:prstGeom prst="rect">
            <a:avLst/>
          </a:prstGeom>
          <a:noFill/>
          <a:ln/>
        </p:spPr>
        <p:txBody>
          <a:bodyPr wrap="square" rtlCol="0" anchor="b"/>
          <a:lstStyle/>
          <a:p>
            <a:pPr algn="l" indent="0" marL="0">
              <a:buNone/>
            </a:pPr>
            <a:r>
              <a:rPr lang="en-US" sz="4000" b="1" dirty="0">
                <a:solidFill>
                  <a:schemeClr val="bg1"/>
                </a:solidFill>
              </a:rPr>
              <a:t>Saldo en cuentas del pasivo: fecha de corte vs. promedio 6 meses</a:t>
            </a:r>
            <a:endParaRPr lang="en-US" sz="4000" dirty="0"/>
          </a:p>
        </p:txBody>
      </p:sp>
      <p:sp>
        <p:nvSpPr>
          <p:cNvPr id="3" name="Text 0"/>
          <p:cNvSpPr/>
          <p:nvPr>
            <p:ph idx="101" type="body" hasCustomPrompt="1"/>
          </p:nvPr>
        </p:nvSpPr>
        <p:spPr>
          <a:xfrm>
            <a:off x="822960" y="3657600"/>
            <a:ext cx="10424160" cy="1097280"/>
          </a:xfrm>
          <a:prstGeom prst="rect">
            <a:avLst/>
          </a:prstGeom>
          <a:noFill/>
          <a:ln/>
        </p:spPr>
        <p:txBody>
          <a:bodyPr wrap="square" rtlCol="0" anchor="t"/>
          <a:lstStyle/>
          <a:p>
            <a:pPr algn="l" indent="0" marL="0">
              <a:buNone/>
            </a:pPr>
            <a:r>
              <a:rPr lang="en-US" sz="2000" dirty="0">
                <a:solidFill>
                  <a:schemeClr val="accent1"/>
                </a:solidFill>
              </a:rPr>
              <a:t>Resumen ejecutivo · Segmentación de clientes con y sin experiencia · Riesgo de Crédito</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3000" b="1" dirty="0">
                <a:solidFill>
                  <a:schemeClr val="tx2"/>
                </a:solidFill>
              </a:rPr>
              <a:t>El promedio 6M no ordena mejor el riesgo que el corte</a:t>
            </a:r>
            <a:endParaRPr lang="en-US" sz="3000" dirty="0"/>
          </a:p>
        </p:txBody>
      </p:sp>
      <p:sp>
        <p:nvSpPr>
          <p:cNvPr id="4" name="Shape 1"/>
          <p:cNvSpPr/>
          <p:nvPr/>
        </p:nvSpPr>
        <p:spPr>
          <a:xfrm>
            <a:off x="548640" y="1371600"/>
            <a:ext cx="2606040" cy="1737360"/>
          </a:xfrm>
          <a:prstGeom prst="roundRect">
            <a:avLst>
              <a:gd name="adj" fmla="val 4211"/>
            </a:avLst>
          </a:prstGeom>
          <a:solidFill>
            <a:srgbClr val="F2F4F9"/>
          </a:solidFill>
          <a:ln w="12700">
            <a:solidFill>
              <a:srgbClr val="F2F4F9"/>
            </a:solidFill>
            <a:prstDash val="solid"/>
          </a:ln>
        </p:spPr>
      </p:sp>
      <p:sp>
        <p:nvSpPr>
          <p:cNvPr id="5" name="Text 2"/>
          <p:cNvSpPr txBox="1"/>
          <p:nvPr/>
        </p:nvSpPr>
        <p:spPr>
          <a:xfrm>
            <a:off x="731520" y="1508760"/>
            <a:ext cx="2240280" cy="781812"/>
          </a:xfrm>
          <a:prstGeom prst="rect">
            <a:avLst/>
          </a:prstGeom>
          <a:noFill/>
          <a:ln/>
        </p:spPr>
        <p:txBody>
          <a:bodyPr wrap="square" lIns="0" tIns="0" rIns="0" bIns="0" rtlCol="0" anchor="ctr"/>
          <a:lstStyle/>
          <a:p>
            <a:pPr indent="0" marL="0">
              <a:buNone/>
            </a:pPr>
            <a:r>
              <a:rPr lang="en-US" sz="2600" b="1" dirty="0">
                <a:solidFill>
                  <a:srgbClr val="1F2A52"/>
                </a:solidFill>
              </a:rPr>
              <a:t>0.365 → 0.334</a:t>
            </a:r>
            <a:endParaRPr lang="en-US" sz="2600" dirty="0"/>
          </a:p>
        </p:txBody>
      </p:sp>
      <p:sp>
        <p:nvSpPr>
          <p:cNvPr id="6" name="Text 3"/>
          <p:cNvSpPr txBox="1"/>
          <p:nvPr/>
        </p:nvSpPr>
        <p:spPr>
          <a:xfrm>
            <a:off x="731520" y="2379269"/>
            <a:ext cx="2240280" cy="312725"/>
          </a:xfrm>
          <a:prstGeom prst="rect">
            <a:avLst/>
          </a:prstGeom>
          <a:noFill/>
          <a:ln/>
        </p:spPr>
        <p:txBody>
          <a:bodyPr wrap="square" lIns="0" tIns="0" rIns="0" bIns="0" rtlCol="0" anchor="t"/>
          <a:lstStyle/>
          <a:p>
            <a:pPr indent="0" marL="0">
              <a:buNone/>
            </a:pPr>
            <a:r>
              <a:rPr lang="en-US" sz="1400" b="1" dirty="0">
                <a:solidFill>
                  <a:srgbClr val="1A1F36"/>
                </a:solidFill>
              </a:rPr>
              <a:t>GINI en prueba · CE</a:t>
            </a:r>
            <a:endParaRPr lang="en-US" sz="1400" dirty="0"/>
          </a:p>
        </p:txBody>
      </p:sp>
      <p:sp>
        <p:nvSpPr>
          <p:cNvPr id="7" name="Text 4"/>
          <p:cNvSpPr txBox="1"/>
          <p:nvPr/>
        </p:nvSpPr>
        <p:spPr>
          <a:xfrm>
            <a:off x="731520" y="2691994"/>
            <a:ext cx="2240280" cy="347472"/>
          </a:xfrm>
          <a:prstGeom prst="rect">
            <a:avLst/>
          </a:prstGeom>
          <a:noFill/>
          <a:ln/>
        </p:spPr>
        <p:txBody>
          <a:bodyPr wrap="square" lIns="0" tIns="0" rIns="0" bIns="0" rtlCol="0" anchor="t"/>
          <a:lstStyle/>
          <a:p>
            <a:pPr indent="0" marL="0">
              <a:buNone/>
            </a:pPr>
            <a:r>
              <a:rPr lang="en-US" sz="1100" dirty="0">
                <a:solidFill>
                  <a:srgbClr val="6B7390"/>
                </a:solidFill>
              </a:rPr>
              <a:t>promedio por periodo · corte → 6M</a:t>
            </a:r>
            <a:endParaRPr lang="en-US" sz="1100" dirty="0"/>
          </a:p>
        </p:txBody>
      </p:sp>
      <p:sp>
        <p:nvSpPr>
          <p:cNvPr id="8" name="Shape 5"/>
          <p:cNvSpPr/>
          <p:nvPr/>
        </p:nvSpPr>
        <p:spPr>
          <a:xfrm>
            <a:off x="3367735" y="1371600"/>
            <a:ext cx="2606040" cy="1737360"/>
          </a:xfrm>
          <a:prstGeom prst="roundRect">
            <a:avLst>
              <a:gd name="adj" fmla="val 4211"/>
            </a:avLst>
          </a:prstGeom>
          <a:solidFill>
            <a:srgbClr val="F2F4F9"/>
          </a:solidFill>
          <a:ln w="12700">
            <a:solidFill>
              <a:srgbClr val="F2F4F9"/>
            </a:solidFill>
            <a:prstDash val="solid"/>
          </a:ln>
        </p:spPr>
      </p:sp>
      <p:sp>
        <p:nvSpPr>
          <p:cNvPr id="9" name="Text 6"/>
          <p:cNvSpPr txBox="1"/>
          <p:nvPr/>
        </p:nvSpPr>
        <p:spPr>
          <a:xfrm>
            <a:off x="3550615" y="1508760"/>
            <a:ext cx="2240280" cy="781812"/>
          </a:xfrm>
          <a:prstGeom prst="rect">
            <a:avLst/>
          </a:prstGeom>
          <a:noFill/>
          <a:ln/>
        </p:spPr>
        <p:txBody>
          <a:bodyPr wrap="square" lIns="0" tIns="0" rIns="0" bIns="0" rtlCol="0" anchor="ctr"/>
          <a:lstStyle/>
          <a:p>
            <a:pPr indent="0" marL="0">
              <a:buNone/>
            </a:pPr>
            <a:r>
              <a:rPr lang="en-US" sz="2600" b="1" dirty="0">
                <a:solidFill>
                  <a:srgbClr val="1F2A52"/>
                </a:solidFill>
              </a:rPr>
              <a:t>0.311 → 0.274</a:t>
            </a:r>
            <a:endParaRPr lang="en-US" sz="2600" dirty="0"/>
          </a:p>
        </p:txBody>
      </p:sp>
      <p:sp>
        <p:nvSpPr>
          <p:cNvPr id="10" name="Text 7"/>
          <p:cNvSpPr txBox="1"/>
          <p:nvPr/>
        </p:nvSpPr>
        <p:spPr>
          <a:xfrm>
            <a:off x="3550615" y="2379269"/>
            <a:ext cx="2240280" cy="312725"/>
          </a:xfrm>
          <a:prstGeom prst="rect">
            <a:avLst/>
          </a:prstGeom>
          <a:noFill/>
          <a:ln/>
        </p:spPr>
        <p:txBody>
          <a:bodyPr wrap="square" lIns="0" tIns="0" rIns="0" bIns="0" rtlCol="0" anchor="t"/>
          <a:lstStyle/>
          <a:p>
            <a:pPr indent="0" marL="0">
              <a:buNone/>
            </a:pPr>
            <a:r>
              <a:rPr lang="en-US" sz="1400" b="1" dirty="0">
                <a:solidFill>
                  <a:srgbClr val="1A1F36"/>
                </a:solidFill>
              </a:rPr>
              <a:t>GINI en prueba · SE</a:t>
            </a:r>
            <a:endParaRPr lang="en-US" sz="1400" dirty="0"/>
          </a:p>
        </p:txBody>
      </p:sp>
      <p:sp>
        <p:nvSpPr>
          <p:cNvPr id="11" name="Text 8"/>
          <p:cNvSpPr txBox="1"/>
          <p:nvPr/>
        </p:nvSpPr>
        <p:spPr>
          <a:xfrm>
            <a:off x="3550615" y="2691994"/>
            <a:ext cx="2240280" cy="347472"/>
          </a:xfrm>
          <a:prstGeom prst="rect">
            <a:avLst/>
          </a:prstGeom>
          <a:noFill/>
          <a:ln/>
        </p:spPr>
        <p:txBody>
          <a:bodyPr wrap="square" lIns="0" tIns="0" rIns="0" bIns="0" rtlCol="0" anchor="t"/>
          <a:lstStyle/>
          <a:p>
            <a:pPr indent="0" marL="0">
              <a:buNone/>
            </a:pPr>
            <a:r>
              <a:rPr lang="en-US" sz="1100" dirty="0">
                <a:solidFill>
                  <a:srgbClr val="6B7390"/>
                </a:solidFill>
              </a:rPr>
              <a:t>promedio por periodo · corte → 6M</a:t>
            </a:r>
            <a:endParaRPr lang="en-US" sz="1100" dirty="0"/>
          </a:p>
        </p:txBody>
      </p:sp>
      <p:sp>
        <p:nvSpPr>
          <p:cNvPr id="12" name="Shape 9"/>
          <p:cNvSpPr/>
          <p:nvPr/>
        </p:nvSpPr>
        <p:spPr>
          <a:xfrm>
            <a:off x="6186830" y="1371600"/>
            <a:ext cx="2606040" cy="1737360"/>
          </a:xfrm>
          <a:prstGeom prst="roundRect">
            <a:avLst>
              <a:gd name="adj" fmla="val 4211"/>
            </a:avLst>
          </a:prstGeom>
          <a:solidFill>
            <a:srgbClr val="F2F4F9"/>
          </a:solidFill>
          <a:ln w="12700">
            <a:solidFill>
              <a:srgbClr val="F2F4F9"/>
            </a:solidFill>
            <a:prstDash val="solid"/>
          </a:ln>
        </p:spPr>
      </p:sp>
      <p:sp>
        <p:nvSpPr>
          <p:cNvPr id="13" name="Text 10"/>
          <p:cNvSpPr txBox="1"/>
          <p:nvPr/>
        </p:nvSpPr>
        <p:spPr>
          <a:xfrm>
            <a:off x="6369710" y="1508760"/>
            <a:ext cx="2240280" cy="781812"/>
          </a:xfrm>
          <a:prstGeom prst="rect">
            <a:avLst/>
          </a:prstGeom>
          <a:noFill/>
          <a:ln/>
        </p:spPr>
        <p:txBody>
          <a:bodyPr wrap="square" lIns="0" tIns="0" rIns="0" bIns="0" rtlCol="0" anchor="ctr"/>
          <a:lstStyle/>
          <a:p>
            <a:pPr indent="0" marL="0">
              <a:buNone/>
            </a:pPr>
            <a:r>
              <a:rPr lang="en-US" sz="2600" b="1" dirty="0">
                <a:solidFill>
                  <a:srgbClr val="1F2A52"/>
                </a:solidFill>
              </a:rPr>
              <a:t>0.165 → 0.071</a:t>
            </a:r>
            <a:endParaRPr lang="en-US" sz="2600" dirty="0"/>
          </a:p>
        </p:txBody>
      </p:sp>
      <p:sp>
        <p:nvSpPr>
          <p:cNvPr id="14" name="Text 11"/>
          <p:cNvSpPr txBox="1"/>
          <p:nvPr/>
        </p:nvSpPr>
        <p:spPr>
          <a:xfrm>
            <a:off x="6369710" y="2379269"/>
            <a:ext cx="2240280" cy="312725"/>
          </a:xfrm>
          <a:prstGeom prst="rect">
            <a:avLst/>
          </a:prstGeom>
          <a:noFill/>
          <a:ln/>
        </p:spPr>
        <p:txBody>
          <a:bodyPr wrap="square" lIns="0" tIns="0" rIns="0" bIns="0" rtlCol="0" anchor="t"/>
          <a:lstStyle/>
          <a:p>
            <a:pPr indent="0" marL="0">
              <a:buNone/>
            </a:pPr>
            <a:r>
              <a:rPr lang="en-US" sz="1400" b="1" dirty="0">
                <a:solidFill>
                  <a:srgbClr val="1A1F36"/>
                </a:solidFill>
              </a:rPr>
              <a:t>IV del saldo · CE</a:t>
            </a:r>
            <a:endParaRPr lang="en-US" sz="1400" dirty="0"/>
          </a:p>
        </p:txBody>
      </p:sp>
      <p:sp>
        <p:nvSpPr>
          <p:cNvPr id="15" name="Text 12"/>
          <p:cNvSpPr txBox="1"/>
          <p:nvPr/>
        </p:nvSpPr>
        <p:spPr>
          <a:xfrm>
            <a:off x="6369710" y="2691994"/>
            <a:ext cx="2240280" cy="347472"/>
          </a:xfrm>
          <a:prstGeom prst="rect">
            <a:avLst/>
          </a:prstGeom>
          <a:noFill/>
          <a:ln/>
        </p:spPr>
        <p:txBody>
          <a:bodyPr wrap="square" lIns="0" tIns="0" rIns="0" bIns="0" rtlCol="0" anchor="t"/>
          <a:lstStyle/>
          <a:p>
            <a:pPr indent="0" marL="0">
              <a:buNone/>
            </a:pPr>
            <a:r>
              <a:rPr lang="en-US" sz="1100" dirty="0">
                <a:solidFill>
                  <a:srgbClr val="6B7390"/>
                </a:solidFill>
              </a:rPr>
              <a:t>corte → promedio 6M</a:t>
            </a:r>
            <a:endParaRPr lang="en-US" sz="1100" dirty="0"/>
          </a:p>
        </p:txBody>
      </p:sp>
      <p:sp>
        <p:nvSpPr>
          <p:cNvPr id="16" name="Shape 13"/>
          <p:cNvSpPr/>
          <p:nvPr/>
        </p:nvSpPr>
        <p:spPr>
          <a:xfrm>
            <a:off x="9005926" y="1371600"/>
            <a:ext cx="2606040" cy="1737360"/>
          </a:xfrm>
          <a:prstGeom prst="roundRect">
            <a:avLst>
              <a:gd name="adj" fmla="val 4211"/>
            </a:avLst>
          </a:prstGeom>
          <a:solidFill>
            <a:srgbClr val="F2F4F9"/>
          </a:solidFill>
          <a:ln w="12700">
            <a:solidFill>
              <a:srgbClr val="F2F4F9"/>
            </a:solidFill>
            <a:prstDash val="solid"/>
          </a:ln>
        </p:spPr>
      </p:sp>
      <p:sp>
        <p:nvSpPr>
          <p:cNvPr id="17" name="Text 14"/>
          <p:cNvSpPr txBox="1"/>
          <p:nvPr/>
        </p:nvSpPr>
        <p:spPr>
          <a:xfrm>
            <a:off x="9188806" y="1508760"/>
            <a:ext cx="2240280" cy="781812"/>
          </a:xfrm>
          <a:prstGeom prst="rect">
            <a:avLst/>
          </a:prstGeom>
          <a:noFill/>
          <a:ln/>
        </p:spPr>
        <p:txBody>
          <a:bodyPr wrap="square" lIns="0" tIns="0" rIns="0" bIns="0" rtlCol="0" anchor="ctr"/>
          <a:lstStyle/>
          <a:p>
            <a:pPr indent="0" marL="0">
              <a:buNone/>
            </a:pPr>
            <a:r>
              <a:rPr lang="en-US" sz="2600" b="1" dirty="0">
                <a:solidFill>
                  <a:srgbClr val="1F2A52"/>
                </a:solidFill>
              </a:rPr>
              <a:t>0.287 → 0.248</a:t>
            </a:r>
            <a:endParaRPr lang="en-US" sz="2600" dirty="0"/>
          </a:p>
        </p:txBody>
      </p:sp>
      <p:sp>
        <p:nvSpPr>
          <p:cNvPr id="18" name="Text 15"/>
          <p:cNvSpPr txBox="1"/>
          <p:nvPr/>
        </p:nvSpPr>
        <p:spPr>
          <a:xfrm>
            <a:off x="9188806" y="2379269"/>
            <a:ext cx="2240280" cy="312725"/>
          </a:xfrm>
          <a:prstGeom prst="rect">
            <a:avLst/>
          </a:prstGeom>
          <a:noFill/>
          <a:ln/>
        </p:spPr>
        <p:txBody>
          <a:bodyPr wrap="square" lIns="0" tIns="0" rIns="0" bIns="0" rtlCol="0" anchor="t"/>
          <a:lstStyle/>
          <a:p>
            <a:pPr indent="0" marL="0">
              <a:buNone/>
            </a:pPr>
            <a:r>
              <a:rPr lang="en-US" sz="1400" b="1" dirty="0">
                <a:solidFill>
                  <a:srgbClr val="1A1F36"/>
                </a:solidFill>
              </a:rPr>
              <a:t>IV del saldo · SE</a:t>
            </a:r>
            <a:endParaRPr lang="en-US" sz="1400" dirty="0"/>
          </a:p>
        </p:txBody>
      </p:sp>
      <p:sp>
        <p:nvSpPr>
          <p:cNvPr id="19" name="Text 16"/>
          <p:cNvSpPr txBox="1"/>
          <p:nvPr/>
        </p:nvSpPr>
        <p:spPr>
          <a:xfrm>
            <a:off x="9188806" y="2691994"/>
            <a:ext cx="2240280" cy="347472"/>
          </a:xfrm>
          <a:prstGeom prst="rect">
            <a:avLst/>
          </a:prstGeom>
          <a:noFill/>
          <a:ln/>
        </p:spPr>
        <p:txBody>
          <a:bodyPr wrap="square" lIns="0" tIns="0" rIns="0" bIns="0" rtlCol="0" anchor="t"/>
          <a:lstStyle/>
          <a:p>
            <a:pPr indent="0" marL="0">
              <a:buNone/>
            </a:pPr>
            <a:r>
              <a:rPr lang="en-US" sz="1100" dirty="0">
                <a:solidFill>
                  <a:srgbClr val="6B7390"/>
                </a:solidFill>
              </a:rPr>
              <a:t>corte → promedio 6M</a:t>
            </a:r>
            <a:endParaRPr lang="en-US" sz="1100" dirty="0"/>
          </a:p>
        </p:txBody>
      </p:sp>
      <p:sp>
        <p:nvSpPr>
          <p:cNvPr id="20" name="Shape 17"/>
          <p:cNvSpPr/>
          <p:nvPr/>
        </p:nvSpPr>
        <p:spPr>
          <a:xfrm>
            <a:off x="548640" y="3429000"/>
            <a:ext cx="11064240" cy="1417320"/>
          </a:xfrm>
          <a:prstGeom prst="roundRect">
            <a:avLst>
              <a:gd name="adj" fmla="val 5161"/>
            </a:avLst>
          </a:prstGeom>
          <a:solidFill>
            <a:srgbClr val="FFF7E0"/>
          </a:solidFill>
          <a:ln w="15875">
            <a:solidFill>
              <a:srgbClr val="F2B01E"/>
            </a:solidFill>
            <a:prstDash val="solid"/>
          </a:ln>
        </p:spPr>
      </p:sp>
      <p:sp>
        <p:nvSpPr>
          <p:cNvPr id="21" name="Text 18"/>
          <p:cNvSpPr txBox="1"/>
          <p:nvPr/>
        </p:nvSpPr>
        <p:spPr>
          <a:xfrm>
            <a:off x="777240" y="3538728"/>
            <a:ext cx="10607040" cy="365760"/>
          </a:xfrm>
          <a:prstGeom prst="rect">
            <a:avLst/>
          </a:prstGeom>
          <a:noFill/>
          <a:ln/>
        </p:spPr>
        <p:txBody>
          <a:bodyPr wrap="square" lIns="0" tIns="0" rIns="0" bIns="0" rtlCol="0" anchor="ctr"/>
          <a:lstStyle/>
          <a:p>
            <a:pPr indent="0" marL="0">
              <a:buNone/>
            </a:pPr>
            <a:r>
              <a:rPr lang="en-US" sz="1600" b="1" dirty="0">
                <a:solidFill>
                  <a:srgbClr val="1F2A52"/>
                </a:solidFill>
              </a:rPr>
              <a:t>Lectura</a:t>
            </a:r>
            <a:endParaRPr lang="en-US" sz="1600" dirty="0"/>
          </a:p>
        </p:txBody>
      </p:sp>
      <p:sp>
        <p:nvSpPr>
          <p:cNvPr id="22" name="Text 19"/>
          <p:cNvSpPr txBox="1"/>
          <p:nvPr/>
        </p:nvSpPr>
        <p:spPr>
          <a:xfrm>
            <a:off x="777240" y="3931920"/>
            <a:ext cx="10607040" cy="822960"/>
          </a:xfrm>
          <a:prstGeom prst="rect">
            <a:avLst/>
          </a:prstGeom>
          <a:noFill/>
          <a:ln/>
        </p:spPr>
        <p:txBody>
          <a:bodyPr wrap="square" lIns="0" tIns="0" rIns="0" bIns="0" rtlCol="0" anchor="t"/>
          <a:lstStyle/>
          <a:p>
            <a:pPr indent="0" marL="0">
              <a:buNone/>
            </a:pPr>
            <a:r>
              <a:rPr lang="en-US" sz="1400" dirty="0">
                <a:solidFill>
                  <a:srgbClr val="1A1F36"/>
                </a:solidFill>
              </a:rPr>
              <a:t>El saldo a la fecha de corte discrimina igual o mejor que el promedio de 6 meses en CE y en SE. El 6M se justifica solo si aporta estabilidad frente al efecto de diciembre, y eso aún falta demostrarlo con los mismos meses.</a:t>
            </a:r>
            <a:endParaRPr lang="en-US" sz="1400" dirty="0"/>
          </a:p>
        </p:txBody>
      </p:sp>
      <p:sp>
        <p:nvSpPr>
          <p:cNvPr id="23" name="Shape 20"/>
          <p:cNvSpPr/>
          <p:nvPr/>
        </p:nvSpPr>
        <p:spPr>
          <a:xfrm>
            <a:off x="548640" y="5074920"/>
            <a:ext cx="11064240" cy="1051560"/>
          </a:xfrm>
          <a:prstGeom prst="roundRect">
            <a:avLst>
              <a:gd name="adj" fmla="val 6957"/>
            </a:avLst>
          </a:prstGeom>
          <a:solidFill>
            <a:srgbClr val="1F2A52"/>
          </a:solidFill>
          <a:ln w="12700">
            <a:solidFill>
              <a:srgbClr val="1F2A52"/>
            </a:solidFill>
            <a:prstDash val="solid"/>
          </a:ln>
        </p:spPr>
      </p:sp>
      <p:sp>
        <p:nvSpPr>
          <p:cNvPr id="24" name="Text 21"/>
          <p:cNvSpPr txBox="1"/>
          <p:nvPr/>
        </p:nvSpPr>
        <p:spPr>
          <a:xfrm>
            <a:off x="777240" y="5120640"/>
            <a:ext cx="10607040" cy="960120"/>
          </a:xfrm>
          <a:prstGeom prst="rect">
            <a:avLst/>
          </a:prstGeom>
          <a:noFill/>
          <a:ln/>
        </p:spPr>
        <p:txBody>
          <a:bodyPr wrap="square" lIns="0" tIns="0" rIns="0" bIns="0" rtlCol="0" anchor="ctr"/>
          <a:lstStyle/>
          <a:p>
            <a:pPr indent="0" marL="0">
              <a:buNone/>
            </a:pPr>
            <a:r>
              <a:rPr lang="en-US" sz="1600" b="1" dirty="0">
                <a:solidFill>
                  <a:srgbClr val="F2B01E"/>
                </a:solidFill>
              </a:rPr>
              <a:t>Recomendación preliminar: </a:t>
            </a:r>
            <a:pPr indent="0" marL="0">
              <a:buNone/>
            </a:pPr>
            <a:r>
              <a:rPr lang="en-US" sz="1600" dirty="0">
                <a:solidFill>
                  <a:srgbClr val="FFFFFF"/>
                </a:solidFill>
              </a:rPr>
              <a:t>mantener el saldo al corte como referencia y evaluar el 6M como alternativa más estable, una vez validado con los mismos meses.</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9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3000" b="1" dirty="0">
                <a:solidFill>
                  <a:schemeClr val="tx2"/>
                </a:solidFill>
              </a:rPr>
              <a:t>Por qué se evalúa el promedio de saldo</a:t>
            </a:r>
            <a:endParaRPr lang="en-US" sz="3000" dirty="0"/>
          </a:p>
        </p:txBody>
      </p:sp>
      <p:sp>
        <p:nvSpPr>
          <p:cNvPr id="4" name="Shape 1"/>
          <p:cNvSpPr/>
          <p:nvPr/>
        </p:nvSpPr>
        <p:spPr>
          <a:xfrm>
            <a:off x="548640" y="1371600"/>
            <a:ext cx="5394960" cy="2743200"/>
          </a:xfrm>
          <a:prstGeom prst="roundRect">
            <a:avLst>
              <a:gd name="adj" fmla="val 2667"/>
            </a:avLst>
          </a:prstGeom>
          <a:solidFill>
            <a:srgbClr val="F2F4F9"/>
          </a:solidFill>
          <a:ln w="12700">
            <a:solidFill>
              <a:srgbClr val="F2F4F9"/>
            </a:solidFill>
            <a:prstDash val="solid"/>
          </a:ln>
        </p:spPr>
      </p:sp>
      <p:sp>
        <p:nvSpPr>
          <p:cNvPr id="5" name="Text 2"/>
          <p:cNvSpPr txBox="1"/>
          <p:nvPr/>
        </p:nvSpPr>
        <p:spPr>
          <a:xfrm>
            <a:off x="777240" y="1481328"/>
            <a:ext cx="4937760" cy="365760"/>
          </a:xfrm>
          <a:prstGeom prst="rect">
            <a:avLst/>
          </a:prstGeom>
          <a:noFill/>
          <a:ln/>
        </p:spPr>
        <p:txBody>
          <a:bodyPr wrap="square" lIns="0" tIns="0" rIns="0" bIns="0" rtlCol="0" anchor="ctr"/>
          <a:lstStyle/>
          <a:p>
            <a:pPr indent="0" marL="0">
              <a:buNone/>
            </a:pPr>
            <a:r>
              <a:rPr lang="en-US" sz="1800" b="1" dirty="0">
                <a:solidFill>
                  <a:srgbClr val="1F2A52"/>
                </a:solidFill>
              </a:rPr>
              <a:t>El problema</a:t>
            </a:r>
            <a:endParaRPr lang="en-US" sz="1800" dirty="0"/>
          </a:p>
        </p:txBody>
      </p:sp>
      <p:sp>
        <p:nvSpPr>
          <p:cNvPr id="6" name="Text 3"/>
          <p:cNvSpPr txBox="1"/>
          <p:nvPr/>
        </p:nvSpPr>
        <p:spPr>
          <a:xfrm>
            <a:off x="777240" y="1965960"/>
            <a:ext cx="4937760" cy="201168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1A1F36"/>
                </a:solidFill>
              </a:rPr>
              <a:t>En diciembre el saldo al corte es mayor.</a:t>
            </a:r>
            <a:endParaRPr lang="en-US" sz="1700" dirty="0"/>
          </a:p>
          <a:p>
            <a:pPr marL="342900" indent="-342900">
              <a:spcAft>
                <a:spcPts val="800"/>
              </a:spcAft>
              <a:buSzPct val="100000"/>
              <a:buChar char="•"/>
            </a:pPr>
            <a:r>
              <a:rPr lang="en-US" sz="1700" dirty="0">
                <a:solidFill>
                  <a:srgbClr val="1A1F36"/>
                </a:solidFill>
              </a:rPr>
              <a:t>Con más saldo, menos clientes caen en grupos de riesgo y se observan menos malos.</a:t>
            </a:r>
            <a:endParaRPr lang="en-US" sz="1700" dirty="0"/>
          </a:p>
          <a:p>
            <a:pPr marL="342900" indent="-342900">
              <a:spcAft>
                <a:spcPts val="800"/>
              </a:spcAft>
              <a:buSzPct val="100000"/>
              <a:buChar char="•"/>
            </a:pPr>
            <a:r>
              <a:rPr lang="en-US" sz="1700" dirty="0">
                <a:solidFill>
                  <a:srgbClr val="1A1F36"/>
                </a:solidFill>
              </a:rPr>
              <a:t>Eso distorsiona la lectura de la segmentación de ese mes.</a:t>
            </a:r>
            <a:endParaRPr lang="en-US" sz="1700" dirty="0"/>
          </a:p>
        </p:txBody>
      </p:sp>
      <p:sp>
        <p:nvSpPr>
          <p:cNvPr id="7" name="Shape 4"/>
          <p:cNvSpPr/>
          <p:nvPr/>
        </p:nvSpPr>
        <p:spPr>
          <a:xfrm>
            <a:off x="6217920" y="1371600"/>
            <a:ext cx="5394960" cy="2743200"/>
          </a:xfrm>
          <a:prstGeom prst="roundRect">
            <a:avLst>
              <a:gd name="adj" fmla="val 2667"/>
            </a:avLst>
          </a:prstGeom>
          <a:solidFill>
            <a:srgbClr val="F2F4F9"/>
          </a:solidFill>
          <a:ln w="12700">
            <a:solidFill>
              <a:srgbClr val="F2F4F9"/>
            </a:solidFill>
            <a:prstDash val="solid"/>
          </a:ln>
        </p:spPr>
      </p:sp>
      <p:sp>
        <p:nvSpPr>
          <p:cNvPr id="8" name="Text 5"/>
          <p:cNvSpPr txBox="1"/>
          <p:nvPr/>
        </p:nvSpPr>
        <p:spPr>
          <a:xfrm>
            <a:off x="6446520" y="1481328"/>
            <a:ext cx="4937760" cy="365760"/>
          </a:xfrm>
          <a:prstGeom prst="rect">
            <a:avLst/>
          </a:prstGeom>
          <a:noFill/>
          <a:ln/>
        </p:spPr>
        <p:txBody>
          <a:bodyPr wrap="square" lIns="0" tIns="0" rIns="0" bIns="0" rtlCol="0" anchor="ctr"/>
          <a:lstStyle/>
          <a:p>
            <a:pPr indent="0" marL="0">
              <a:buNone/>
            </a:pPr>
            <a:r>
              <a:rPr lang="en-US" sz="1800" b="1" dirty="0">
                <a:solidFill>
                  <a:srgbClr val="1F2A52"/>
                </a:solidFill>
              </a:rPr>
              <a:t>Qué se probó</a:t>
            </a:r>
            <a:endParaRPr lang="en-US" sz="1800" dirty="0"/>
          </a:p>
        </p:txBody>
      </p:sp>
      <p:sp>
        <p:nvSpPr>
          <p:cNvPr id="9" name="Text 6"/>
          <p:cNvSpPr txBox="1"/>
          <p:nvPr/>
        </p:nvSpPr>
        <p:spPr>
          <a:xfrm>
            <a:off x="6446520" y="1965960"/>
            <a:ext cx="4937760" cy="201168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1A1F36"/>
                </a:solidFill>
              </a:rPr>
              <a:t>Saldo al corte, promedio 3M y promedio 6M, combinados con el score de buró.</a:t>
            </a:r>
            <a:endParaRPr lang="en-US" sz="1700" dirty="0"/>
          </a:p>
          <a:p>
            <a:pPr marL="342900" indent="-342900">
              <a:spcAft>
                <a:spcPts val="800"/>
              </a:spcAft>
              <a:buSzPct val="100000"/>
              <a:buChar char="•"/>
            </a:pPr>
            <a:r>
              <a:rPr lang="en-US" sz="1700" dirty="0">
                <a:solidFill>
                  <a:srgbClr val="1A1F36"/>
                </a:solidFill>
              </a:rPr>
              <a:t>Árbol de decisión sobre cada combinación, para CE y SE.</a:t>
            </a:r>
            <a:endParaRPr lang="en-US" sz="1700" dirty="0"/>
          </a:p>
          <a:p>
            <a:pPr marL="342900" indent="-342900">
              <a:spcAft>
                <a:spcPts val="800"/>
              </a:spcAft>
              <a:buSzPct val="100000"/>
              <a:buChar char="•"/>
            </a:pPr>
            <a:r>
              <a:rPr lang="en-US" sz="1700" dirty="0">
                <a:solidFill>
                  <a:srgbClr val="1A1F36"/>
                </a:solidFill>
              </a:rPr>
              <a:t>El promedio 12M se descartó: tiene el IV más bajo entre las ventanas de saldo.</a:t>
            </a:r>
            <a:endParaRPr lang="en-US" sz="1700" dirty="0"/>
          </a:p>
        </p:txBody>
      </p:sp>
      <p:sp>
        <p:nvSpPr>
          <p:cNvPr id="10" name="Shape 7"/>
          <p:cNvSpPr/>
          <p:nvPr/>
        </p:nvSpPr>
        <p:spPr>
          <a:xfrm>
            <a:off x="548640" y="4389120"/>
            <a:ext cx="11064240" cy="1600200"/>
          </a:xfrm>
          <a:prstGeom prst="roundRect">
            <a:avLst>
              <a:gd name="adj" fmla="val 4571"/>
            </a:avLst>
          </a:prstGeom>
          <a:solidFill>
            <a:srgbClr val="FFF7E0"/>
          </a:solidFill>
          <a:ln w="15875">
            <a:solidFill>
              <a:srgbClr val="F2B01E"/>
            </a:solidFill>
            <a:prstDash val="solid"/>
          </a:ln>
        </p:spPr>
      </p:sp>
      <p:sp>
        <p:nvSpPr>
          <p:cNvPr id="11" name="Text 8"/>
          <p:cNvSpPr txBox="1"/>
          <p:nvPr/>
        </p:nvSpPr>
        <p:spPr>
          <a:xfrm>
            <a:off x="777240" y="4498848"/>
            <a:ext cx="10607040" cy="365760"/>
          </a:xfrm>
          <a:prstGeom prst="rect">
            <a:avLst/>
          </a:prstGeom>
          <a:noFill/>
          <a:ln/>
        </p:spPr>
        <p:txBody>
          <a:bodyPr wrap="square" lIns="0" tIns="0" rIns="0" bIns="0" rtlCol="0" anchor="ctr"/>
          <a:lstStyle/>
          <a:p>
            <a:pPr indent="0" marL="0">
              <a:buNone/>
            </a:pPr>
            <a:r>
              <a:rPr lang="en-US" sz="1600" b="1" dirty="0">
                <a:solidFill>
                  <a:srgbClr val="1F2A52"/>
                </a:solidFill>
              </a:rPr>
              <a:t>Nota importante</a:t>
            </a:r>
            <a:endParaRPr lang="en-US" sz="1600" dirty="0"/>
          </a:p>
        </p:txBody>
      </p:sp>
      <p:sp>
        <p:nvSpPr>
          <p:cNvPr id="12" name="Text 9"/>
          <p:cNvSpPr txBox="1"/>
          <p:nvPr/>
        </p:nvSpPr>
        <p:spPr>
          <a:xfrm>
            <a:off x="777240" y="4892040"/>
            <a:ext cx="10607040" cy="1005840"/>
          </a:xfrm>
          <a:prstGeom prst="rect">
            <a:avLst/>
          </a:prstGeom>
          <a:noFill/>
          <a:ln/>
        </p:spPr>
        <p:txBody>
          <a:bodyPr wrap="square" lIns="0" tIns="0" rIns="0" bIns="0" rtlCol="0" anchor="t"/>
          <a:lstStyle/>
          <a:p>
            <a:pPr indent="0" marL="0">
              <a:buNone/>
            </a:pPr>
            <a:r>
              <a:rPr lang="en-US" sz="1400" dirty="0">
                <a:solidFill>
                  <a:srgbClr val="1A1F36"/>
                </a:solidFill>
              </a:rPr>
              <a:t>El análisis de la fecha de corte toma solo enero como referencia. El del promedio 6M agrega varios meses, incluido diciembre, para reducir el impacto de los saltos de ese mes. Mientras no se corra el corte con los mismos meses, la comparación no es entre iguales.</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9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3000" b="1" dirty="0">
                <a:solidFill>
                  <a:schemeClr val="tx2"/>
                </a:solidFill>
              </a:rPr>
              <a:t>Con experiencia: misma separación, más peso en Crítico</a:t>
            </a:r>
            <a:endParaRPr lang="en-US" sz="3000" dirty="0"/>
          </a:p>
        </p:txBody>
      </p:sp>
      <p:graphicFrame>
        <p:nvGraphicFramePr>
          <p:cNvPr id="4" name="Chart 0" descr=""/>
          <p:cNvGraphicFramePr/>
          <p:nvPr/>
        </p:nvGraphicFramePr>
        <p:xfrm>
          <a:off x="457200" y="1325880"/>
          <a:ext cx="6675120" cy="356616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406640" y="1463040"/>
          <a:ext cx="4206240" cy="914400"/>
        </p:xfrm>
        <a:graphic>
          <a:graphicData uri="http://schemas.openxmlformats.org/drawingml/2006/table">
            <a:tbl>
              <a:tblPr/>
              <a:tblGrid>
                <a:gridCol w="1280160"/>
                <a:gridCol w="1463040"/>
                <a:gridCol w="1463040"/>
              </a:tblGrid>
              <a:tr h="384048">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Nivel</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 población corte</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 población 6M</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r>
              <a:tr h="384048">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Crítico</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D64545"/>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25.8%</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35.5%</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84048">
                <a:tc>
                  <a:txBody>
                    <a:bodyPr/>
                    <a:lstStyle/>
                    <a:p>
                      <a:pPr algn="ctr" indent="0" marL="0">
                        <a:buNone/>
                      </a:pPr>
                      <a:r>
                        <a:rPr lang="en-US" sz="1200" b="1" dirty="0">
                          <a:solidFill>
                            <a:srgbClr val="1A1F36"/>
                          </a:solidFill>
                          <a:latin typeface="Calibri" pitchFamily="34" charset="0"/>
                          <a:ea typeface="Calibri" pitchFamily="34" charset="-122"/>
                          <a:cs typeface="Calibri" pitchFamily="34" charset="-120"/>
                        </a:rPr>
                        <a:t>Alto</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EE8A4B"/>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16.7%</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16.3%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84048">
                <a:tc>
                  <a:txBody>
                    <a:bodyPr/>
                    <a:lstStyle/>
                    <a:p>
                      <a:pPr algn="ctr" indent="0" marL="0">
                        <a:buNone/>
                      </a:pPr>
                      <a:r>
                        <a:rPr lang="en-US" sz="1200" b="1" dirty="0">
                          <a:solidFill>
                            <a:srgbClr val="1A1F36"/>
                          </a:solidFill>
                          <a:latin typeface="Calibri" pitchFamily="34" charset="0"/>
                          <a:ea typeface="Calibri" pitchFamily="34" charset="-122"/>
                          <a:cs typeface="Calibri" pitchFamily="34" charset="-120"/>
                        </a:rPr>
                        <a:t>Potencial</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2CF4E"/>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7.2%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11.3%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84048">
                <a:tc>
                  <a:txBody>
                    <a:bodyPr/>
                    <a:lstStyle/>
                    <a:p>
                      <a:pPr algn="ctr" indent="0" marL="0">
                        <a:buNone/>
                      </a:pPr>
                      <a:r>
                        <a:rPr lang="en-US" sz="1200" b="1" dirty="0">
                          <a:solidFill>
                            <a:srgbClr val="1A1F36"/>
                          </a:solidFill>
                          <a:latin typeface="Calibri" pitchFamily="34" charset="0"/>
                          <a:ea typeface="Calibri" pitchFamily="34" charset="-122"/>
                          <a:cs typeface="Calibri" pitchFamily="34" charset="-120"/>
                        </a:rPr>
                        <a:t>Medio</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9CC55B"/>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12.9%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14.0%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84048">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Bajo</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3FA34D"/>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37.4%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22.9%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bl>
          </a:graphicData>
        </a:graphic>
      </p:graphicFrame>
      <p:sp>
        <p:nvSpPr>
          <p:cNvPr id="6" name="Text 1"/>
          <p:cNvSpPr txBox="1"/>
          <p:nvPr/>
        </p:nvSpPr>
        <p:spPr>
          <a:xfrm>
            <a:off x="7406640" y="4023360"/>
            <a:ext cx="4206240" cy="21031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A1F36"/>
                </a:solidFill>
              </a:rPr>
              <a:t>Crítico frente a Bajo: 21 veces en el corte y 20 veces en 6M.</a:t>
            </a:r>
            <a:endParaRPr lang="en-US" sz="1400" dirty="0"/>
          </a:p>
          <a:p>
            <a:pPr marL="342900" indent="-342900">
              <a:spcAft>
                <a:spcPts val="800"/>
              </a:spcAft>
              <a:buSzPct val="100000"/>
              <a:buChar char="•"/>
            </a:pPr>
            <a:r>
              <a:rPr lang="en-US" sz="1400" dirty="0">
                <a:solidFill>
                  <a:srgbClr val="1A1F36"/>
                </a:solidFill>
              </a:rPr>
              <a:t>El 6M envía el 36% de la población a Crítico (corte: 26%).</a:t>
            </a:r>
            <a:endParaRPr lang="en-US" sz="1400" dirty="0"/>
          </a:p>
          <a:p>
            <a:pPr marL="342900" indent="-342900">
              <a:spcAft>
                <a:spcPts val="800"/>
              </a:spcAft>
              <a:buSzPct val="100000"/>
              <a:buChar char="•"/>
            </a:pPr>
            <a:r>
              <a:rPr lang="en-US" sz="1400" dirty="0">
                <a:solidFill>
                  <a:srgbClr val="1A1F36"/>
                </a:solidFill>
              </a:rPr>
              <a:t>Sin Perfil baja de 7.1% a 0.2% de la población.</a:t>
            </a:r>
            <a:endParaRPr lang="en-US" sz="1400" dirty="0"/>
          </a:p>
        </p:txBody>
      </p:sp>
      <p:sp>
        <p:nvSpPr>
          <p:cNvPr id="7" name="Text 2"/>
          <p:cNvSpPr txBox="1"/>
          <p:nvPr/>
        </p:nvSpPr>
        <p:spPr>
          <a:xfrm>
            <a:off x="548640" y="5074920"/>
            <a:ext cx="6583680" cy="822960"/>
          </a:xfrm>
          <a:prstGeom prst="rect">
            <a:avLst/>
          </a:prstGeom>
          <a:noFill/>
          <a:ln/>
        </p:spPr>
        <p:txBody>
          <a:bodyPr wrap="square" lIns="0" tIns="0" rIns="0" bIns="0" rtlCol="0" anchor="t"/>
          <a:lstStyle/>
          <a:p>
            <a:pPr indent="0" marL="0">
              <a:buNone/>
            </a:pPr>
            <a:r>
              <a:rPr lang="en-US" sz="1100" dirty="0">
                <a:solidFill>
                  <a:srgbClr val="6B7390"/>
                </a:solidFill>
              </a:rPr>
              <a:t>y: tasa de evento en la población de producción (clientes con 12 meses de buró). Corte: enero. Promedio 6M: agregado de los meses analizados. Los niveles son los grupos Crítico, Alto, Potencial, Medio y Bajo de cada ventana.</a:t>
            </a:r>
            <a:endParaRPr lang="en-US" sz="11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9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3000" b="1" dirty="0">
                <a:solidFill>
                  <a:schemeClr val="tx2"/>
                </a:solidFill>
              </a:rPr>
              <a:t>Sin experiencia: el 6M concentra la población en Medio</a:t>
            </a:r>
            <a:endParaRPr lang="en-US" sz="3000" dirty="0"/>
          </a:p>
        </p:txBody>
      </p:sp>
      <p:graphicFrame>
        <p:nvGraphicFramePr>
          <p:cNvPr id="4" name="Chart 0" descr=""/>
          <p:cNvGraphicFramePr/>
          <p:nvPr/>
        </p:nvGraphicFramePr>
        <p:xfrm>
          <a:off x="457200" y="1325880"/>
          <a:ext cx="6675120" cy="356616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406640" y="1463040"/>
          <a:ext cx="4206240" cy="914400"/>
        </p:xfrm>
        <a:graphic>
          <a:graphicData uri="http://schemas.openxmlformats.org/drawingml/2006/table">
            <a:tbl>
              <a:tblPr/>
              <a:tblGrid>
                <a:gridCol w="1280160"/>
                <a:gridCol w="1463040"/>
                <a:gridCol w="1463040"/>
              </a:tblGrid>
              <a:tr h="384048">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Nivel</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 población corte</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 población 6M</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r>
              <a:tr h="384048">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Crítico</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D64545"/>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10.3%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7.1%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84048">
                <a:tc>
                  <a:txBody>
                    <a:bodyPr/>
                    <a:lstStyle/>
                    <a:p>
                      <a:pPr algn="ctr" indent="0" marL="0">
                        <a:buNone/>
                      </a:pPr>
                      <a:r>
                        <a:rPr lang="en-US" sz="1200" b="1" dirty="0">
                          <a:solidFill>
                            <a:srgbClr val="1A1F36"/>
                          </a:solidFill>
                          <a:latin typeface="Calibri" pitchFamily="34" charset="0"/>
                          <a:ea typeface="Calibri" pitchFamily="34" charset="-122"/>
                          <a:cs typeface="Calibri" pitchFamily="34" charset="-120"/>
                        </a:rPr>
                        <a:t>Alto</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EE8A4B"/>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10.5%</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8.8%</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84048">
                <a:tc>
                  <a:txBody>
                    <a:bodyPr/>
                    <a:lstStyle/>
                    <a:p>
                      <a:pPr algn="ctr" indent="0" marL="0">
                        <a:buNone/>
                      </a:pPr>
                      <a:r>
                        <a:rPr lang="en-US" sz="1200" b="1" dirty="0">
                          <a:solidFill>
                            <a:srgbClr val="1A1F36"/>
                          </a:solidFill>
                          <a:latin typeface="Calibri" pitchFamily="34" charset="0"/>
                          <a:ea typeface="Calibri" pitchFamily="34" charset="-122"/>
                          <a:cs typeface="Calibri" pitchFamily="34" charset="-120"/>
                        </a:rPr>
                        <a:t>Potencial</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2CF4E"/>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11.1%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14.9%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84048">
                <a:tc>
                  <a:txBody>
                    <a:bodyPr/>
                    <a:lstStyle/>
                    <a:p>
                      <a:pPr algn="ctr" indent="0" marL="0">
                        <a:buNone/>
                      </a:pPr>
                      <a:r>
                        <a:rPr lang="en-US" sz="1200" b="1" dirty="0">
                          <a:solidFill>
                            <a:srgbClr val="1A1F36"/>
                          </a:solidFill>
                          <a:latin typeface="Calibri" pitchFamily="34" charset="0"/>
                          <a:ea typeface="Calibri" pitchFamily="34" charset="-122"/>
                          <a:cs typeface="Calibri" pitchFamily="34" charset="-120"/>
                        </a:rPr>
                        <a:t>Medio</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9CC55B"/>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24.0%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57.6%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84048">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Bajo</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3FA34D"/>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44.1%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11.6%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bl>
          </a:graphicData>
        </a:graphic>
      </p:graphicFrame>
      <p:sp>
        <p:nvSpPr>
          <p:cNvPr id="6" name="Text 1"/>
          <p:cNvSpPr txBox="1"/>
          <p:nvPr/>
        </p:nvSpPr>
        <p:spPr>
          <a:xfrm>
            <a:off x="7406640" y="4023360"/>
            <a:ext cx="4206240" cy="21031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A1F36"/>
                </a:solidFill>
              </a:rPr>
              <a:t>El 6M deja el 58% en Medio y el 12% en Bajo (corte: 24% y 44%).</a:t>
            </a:r>
            <a:endParaRPr lang="en-US" sz="1400" dirty="0"/>
          </a:p>
          <a:p>
            <a:pPr marL="342900" indent="-342900">
              <a:spcAft>
                <a:spcPts val="800"/>
              </a:spcAft>
              <a:buSzPct val="100000"/>
              <a:buChar char="•"/>
            </a:pPr>
            <a:r>
              <a:rPr lang="en-US" sz="1400" dirty="0">
                <a:solidFill>
                  <a:srgbClr val="1A1F36"/>
                </a:solidFill>
              </a:rPr>
              <a:t>El nivel Bajo del 6M es un solo perfil (C_9).</a:t>
            </a:r>
            <a:endParaRPr lang="en-US" sz="1400" dirty="0"/>
          </a:p>
          <a:p>
            <a:pPr marL="342900" indent="-342900">
              <a:spcAft>
                <a:spcPts val="800"/>
              </a:spcAft>
              <a:buSzPct val="100000"/>
              <a:buChar char="•"/>
            </a:pPr>
            <a:r>
              <a:rPr lang="en-US" sz="1400" dirty="0">
                <a:solidFill>
                  <a:srgbClr val="1A1F36"/>
                </a:solidFill>
              </a:rPr>
              <a:t>GINI sobre niveles: 0.41 con 6M y 0.49 con el corte.</a:t>
            </a:r>
            <a:endParaRPr lang="en-US" sz="1400" dirty="0"/>
          </a:p>
        </p:txBody>
      </p:sp>
      <p:sp>
        <p:nvSpPr>
          <p:cNvPr id="7" name="Text 2"/>
          <p:cNvSpPr txBox="1"/>
          <p:nvPr/>
        </p:nvSpPr>
        <p:spPr>
          <a:xfrm>
            <a:off x="548640" y="5074920"/>
            <a:ext cx="6583680" cy="822960"/>
          </a:xfrm>
          <a:prstGeom prst="rect">
            <a:avLst/>
          </a:prstGeom>
          <a:noFill/>
          <a:ln/>
        </p:spPr>
        <p:txBody>
          <a:bodyPr wrap="square" lIns="0" tIns="0" rIns="0" bIns="0" rtlCol="0" anchor="t"/>
          <a:lstStyle/>
          <a:p>
            <a:pPr indent="0" marL="0">
              <a:buNone/>
            </a:pPr>
            <a:r>
              <a:rPr lang="en-US" sz="1100" dirty="0">
                <a:solidFill>
                  <a:srgbClr val="6B7390"/>
                </a:solidFill>
              </a:rPr>
              <a:t>y: tasa de evento en la población de producción (clientes con 12 meses de buró). Corte: enero. Promedio 6M: agregado de los meses analizados. Los niveles son los grupos Crítico, Alto, Potencial, Medio y Bajo de cada ventana.</a:t>
            </a:r>
            <a:endParaRPr lang="en-US" sz="11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9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3000" b="1" dirty="0">
                <a:solidFill>
                  <a:schemeClr val="tx2"/>
                </a:solidFill>
              </a:rPr>
              <a:t>Comparativo de indicadores: corte vs. 6M</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4114800"/>
                <a:gridCol w="1737360"/>
                <a:gridCol w="1737360"/>
                <a:gridCol w="1737360"/>
                <a:gridCol w="1737360"/>
              </a:tblGrid>
              <a:tr h="54864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Indicador</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CE · corte</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CE · 6M</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SE · corte</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SE · 6M</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r>
              <a:tr h="548640">
                <a:tc>
                  <a:txBody>
                    <a:bodyPr/>
                    <a:lstStyle/>
                    <a:p>
                      <a:pPr algn="l" indent="0" marL="0">
                        <a:buNone/>
                      </a:pPr>
                      <a:r>
                        <a:rPr lang="en-US" sz="1300" b="1" dirty="0">
                          <a:solidFill>
                            <a:srgbClr val="1A1F36"/>
                          </a:solidFill>
                          <a:latin typeface="Calibri" pitchFamily="34" charset="0"/>
                          <a:ea typeface="Calibri" pitchFamily="34" charset="-122"/>
                          <a:cs typeface="Calibri" pitchFamily="34" charset="-120"/>
                        </a:rPr>
                        <a:t>IV del saldo</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0.165</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0.071</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0.287</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0.248</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548640">
                <a:tc>
                  <a:txBody>
                    <a:bodyPr/>
                    <a:lstStyle/>
                    <a:p>
                      <a:pPr algn="l" indent="0" marL="0">
                        <a:buNone/>
                      </a:pPr>
                      <a:r>
                        <a:rPr lang="en-US" sz="1300" b="1" dirty="0">
                          <a:solidFill>
                            <a:srgbClr val="1A1F36"/>
                          </a:solidFill>
                          <a:latin typeface="Calibri" pitchFamily="34" charset="0"/>
                          <a:ea typeface="Calibri" pitchFamily="34" charset="-122"/>
                          <a:cs typeface="Calibri" pitchFamily="34" charset="-120"/>
                        </a:rPr>
                        <a:t>GINI en prueba (promedio por periodo)</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0.365</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0.334</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0.311</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0.274</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548640">
                <a:tc>
                  <a:txBody>
                    <a:bodyPr/>
                    <a:lstStyle/>
                    <a:p>
                      <a:pPr algn="l" indent="0" marL="0">
                        <a:buNone/>
                      </a:pPr>
                      <a:r>
                        <a:rPr lang="en-US" sz="1300" b="1" dirty="0">
                          <a:solidFill>
                            <a:srgbClr val="1A1F36"/>
                          </a:solidFill>
                          <a:latin typeface="Calibri" pitchFamily="34" charset="0"/>
                          <a:ea typeface="Calibri" pitchFamily="34" charset="-122"/>
                          <a:cs typeface="Calibri" pitchFamily="34" charset="-120"/>
                        </a:rPr>
                        <a:t>GINI sobre niveles (semáforo)</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0.67</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0.58</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0.49</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0.41</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548640">
                <a:tc>
                  <a:txBody>
                    <a:bodyPr/>
                    <a:lstStyle/>
                    <a:p>
                      <a:pPr algn="l" indent="0" marL="0">
                        <a:buNone/>
                      </a:pPr>
                      <a:r>
                        <a:rPr lang="en-US" sz="1300" b="1" dirty="0">
                          <a:solidFill>
                            <a:srgbClr val="1A1F36"/>
                          </a:solidFill>
                          <a:latin typeface="Calibri" pitchFamily="34" charset="0"/>
                          <a:ea typeface="Calibri" pitchFamily="34" charset="-122"/>
                          <a:cs typeface="Calibri" pitchFamily="34" charset="-120"/>
                        </a:rPr>
                        <a:t>Número de perfiles</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11</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11</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12</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9</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548640">
                <a:tc>
                  <a:txBody>
                    <a:bodyPr/>
                    <a:lstStyle/>
                    <a:p>
                      <a:pPr algn="l" indent="0" marL="0">
                        <a:buNone/>
                      </a:pPr>
                      <a:r>
                        <a:rPr lang="en-US" sz="1300" b="1" dirty="0">
                          <a:solidFill>
                            <a:srgbClr val="1A1F36"/>
                          </a:solidFill>
                          <a:latin typeface="Calibri" pitchFamily="34" charset="0"/>
                          <a:ea typeface="Calibri" pitchFamily="34" charset="-122"/>
                          <a:cs typeface="Calibri" pitchFamily="34" charset="-120"/>
                        </a:rPr>
                        <a:t>Sin Perfil, % de la población</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7.1%</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0.2%</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1.9%</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1.7%</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548640">
                <a:tc>
                  <a:txBody>
                    <a:bodyPr/>
                    <a:lstStyle/>
                    <a:p>
                      <a:pPr algn="l" indent="0" marL="0">
                        <a:buNone/>
                      </a:pPr>
                      <a:r>
                        <a:rPr lang="en-US" sz="1300" b="1" dirty="0">
                          <a:solidFill>
                            <a:srgbClr val="1A1F36"/>
                          </a:solidFill>
                          <a:latin typeface="Calibri" pitchFamily="34" charset="0"/>
                          <a:ea typeface="Calibri" pitchFamily="34" charset="-122"/>
                          <a:cs typeface="Calibri" pitchFamily="34" charset="-120"/>
                        </a:rPr>
                        <a:t>Tasa de evento Crítico / Bajo</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21×</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11×</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19×</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548640" y="5394960"/>
            <a:ext cx="11064240" cy="822960"/>
          </a:xfrm>
          <a:prstGeom prst="rect">
            <a:avLst/>
          </a:prstGeom>
          <a:noFill/>
          <a:ln/>
        </p:spPr>
        <p:txBody>
          <a:bodyPr wrap="square" lIns="0" tIns="0" rIns="0" bIns="0" rtlCol="0" anchor="t"/>
          <a:lstStyle/>
          <a:p>
            <a:pPr indent="0" marL="0">
              <a:buNone/>
            </a:pPr>
            <a:r>
              <a:rPr lang="en-US" sz="1200" dirty="0">
                <a:solidFill>
                  <a:srgbClr val="6B7390"/>
                </a:solidFill>
              </a:rPr>
              <a:t>El corte se mide solo con enero; el 6M, con un agregado de meses. El GINI sobre niveles se calcula con y por nivel en la población de producción y no es comparable con el GINI del árbol. Con menos perfiles (SE, 9 frente a 12) el GINI baja por construcción.</a:t>
            </a:r>
            <a:endParaRPr lang="en-US" sz="1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9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3000" b="1" dirty="0">
                <a:solidFill>
                  <a:schemeClr val="tx2"/>
                </a:solidFill>
              </a:rPr>
              <a:t>Recomendación y próximos pasos</a:t>
            </a:r>
            <a:endParaRPr lang="en-US" sz="3000" dirty="0"/>
          </a:p>
        </p:txBody>
      </p:sp>
      <p:sp>
        <p:nvSpPr>
          <p:cNvPr id="4" name="Shape 1"/>
          <p:cNvSpPr/>
          <p:nvPr/>
        </p:nvSpPr>
        <p:spPr>
          <a:xfrm>
            <a:off x="548640" y="1371600"/>
            <a:ext cx="5394960" cy="4663440"/>
          </a:xfrm>
          <a:prstGeom prst="roundRect">
            <a:avLst>
              <a:gd name="adj" fmla="val 1569"/>
            </a:avLst>
          </a:prstGeom>
          <a:solidFill>
            <a:srgbClr val="1F2A52"/>
          </a:solidFill>
          <a:ln w="12700">
            <a:solidFill>
              <a:srgbClr val="1F2A52"/>
            </a:solidFill>
            <a:prstDash val="solid"/>
          </a:ln>
        </p:spPr>
      </p:sp>
      <p:sp>
        <p:nvSpPr>
          <p:cNvPr id="5" name="Text 2"/>
          <p:cNvSpPr txBox="1"/>
          <p:nvPr/>
        </p:nvSpPr>
        <p:spPr>
          <a:xfrm>
            <a:off x="822960" y="1554480"/>
            <a:ext cx="4846320" cy="457200"/>
          </a:xfrm>
          <a:prstGeom prst="rect">
            <a:avLst/>
          </a:prstGeom>
          <a:noFill/>
          <a:ln/>
        </p:spPr>
        <p:txBody>
          <a:bodyPr wrap="square" lIns="0" tIns="0" rIns="0" bIns="0" rtlCol="0" anchor="ctr"/>
          <a:lstStyle/>
          <a:p>
            <a:pPr indent="0" marL="0">
              <a:buNone/>
            </a:pPr>
            <a:r>
              <a:rPr lang="en-US" sz="2000" b="1" dirty="0">
                <a:solidFill>
                  <a:srgbClr val="F2B01E"/>
                </a:solidFill>
              </a:rPr>
              <a:t>Recomendación preliminar</a:t>
            </a:r>
            <a:endParaRPr lang="en-US" sz="2000" dirty="0"/>
          </a:p>
        </p:txBody>
      </p:sp>
      <p:sp>
        <p:nvSpPr>
          <p:cNvPr id="6" name="Text 3"/>
          <p:cNvSpPr txBox="1"/>
          <p:nvPr/>
        </p:nvSpPr>
        <p:spPr>
          <a:xfrm>
            <a:off x="822960" y="2194560"/>
            <a:ext cx="4846320" cy="356616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FFFFFF"/>
                </a:solidFill>
              </a:rPr>
              <a:t>Mantener el saldo al corte como referencia de desempeño.</a:t>
            </a:r>
            <a:endParaRPr lang="en-US" sz="1800" dirty="0"/>
          </a:p>
          <a:p>
            <a:pPr marL="342900" indent="-342900">
              <a:spcAft>
                <a:spcPts val="1000"/>
              </a:spcAft>
              <a:buSzPct val="100000"/>
              <a:buChar char="•"/>
            </a:pPr>
            <a:r>
              <a:rPr lang="en-US" sz="1800" dirty="0">
                <a:solidFill>
                  <a:srgbClr val="FFFFFF"/>
                </a:solidFill>
              </a:rPr>
              <a:t>Evaluar el promedio 6M como alternativa más estable frente a diciembre.</a:t>
            </a:r>
            <a:endParaRPr lang="en-US" sz="1800" dirty="0"/>
          </a:p>
          <a:p>
            <a:pPr marL="342900" indent="-342900">
              <a:buSzPct val="100000"/>
              <a:buChar char="•"/>
            </a:pPr>
            <a:r>
              <a:rPr lang="en-US" sz="1800" dirty="0">
                <a:solidFill>
                  <a:srgbClr val="FFFFFF"/>
                </a:solidFill>
              </a:rPr>
              <a:t>No adoptar el 6M hasta comprobar la mejora con los mismos meses.</a:t>
            </a:r>
            <a:endParaRPr lang="en-US" sz="1800" dirty="0"/>
          </a:p>
        </p:txBody>
      </p:sp>
      <p:sp>
        <p:nvSpPr>
          <p:cNvPr id="7" name="Shape 4"/>
          <p:cNvSpPr/>
          <p:nvPr/>
        </p:nvSpPr>
        <p:spPr>
          <a:xfrm>
            <a:off x="6217920" y="1371600"/>
            <a:ext cx="5394960" cy="4663440"/>
          </a:xfrm>
          <a:prstGeom prst="roundRect">
            <a:avLst>
              <a:gd name="adj" fmla="val 1569"/>
            </a:avLst>
          </a:prstGeom>
          <a:solidFill>
            <a:srgbClr val="F2F4F9"/>
          </a:solidFill>
          <a:ln w="12700">
            <a:solidFill>
              <a:srgbClr val="F2F4F9"/>
            </a:solidFill>
            <a:prstDash val="solid"/>
          </a:ln>
        </p:spPr>
      </p:sp>
      <p:sp>
        <p:nvSpPr>
          <p:cNvPr id="8" name="Text 5"/>
          <p:cNvSpPr txBox="1"/>
          <p:nvPr/>
        </p:nvSpPr>
        <p:spPr>
          <a:xfrm>
            <a:off x="6446520" y="1554480"/>
            <a:ext cx="4937760" cy="457200"/>
          </a:xfrm>
          <a:prstGeom prst="rect">
            <a:avLst/>
          </a:prstGeom>
          <a:noFill/>
          <a:ln/>
        </p:spPr>
        <p:txBody>
          <a:bodyPr wrap="square" lIns="0" tIns="0" rIns="0" bIns="0" rtlCol="0" anchor="ctr"/>
          <a:lstStyle/>
          <a:p>
            <a:pPr indent="0" marL="0">
              <a:buNone/>
            </a:pPr>
            <a:r>
              <a:rPr lang="en-US" sz="2000" b="1" dirty="0">
                <a:solidFill>
                  <a:srgbClr val="1F2A52"/>
                </a:solidFill>
              </a:rPr>
              <a:t>Próximos pasos</a:t>
            </a:r>
            <a:endParaRPr lang="en-US" sz="2000" dirty="0"/>
          </a:p>
        </p:txBody>
      </p:sp>
      <p:sp>
        <p:nvSpPr>
          <p:cNvPr id="9" name="Shape 6"/>
          <p:cNvSpPr/>
          <p:nvPr/>
        </p:nvSpPr>
        <p:spPr>
          <a:xfrm>
            <a:off x="6446520" y="2194560"/>
            <a:ext cx="457200" cy="457200"/>
          </a:xfrm>
          <a:prstGeom prst="ellipse">
            <a:avLst/>
          </a:prstGeom>
          <a:solidFill>
            <a:srgbClr val="1F2A52"/>
          </a:solidFill>
          <a:ln w="12700">
            <a:solidFill>
              <a:srgbClr val="1F2A52"/>
            </a:solidFill>
            <a:prstDash val="solid"/>
          </a:ln>
        </p:spPr>
      </p:sp>
      <p:sp>
        <p:nvSpPr>
          <p:cNvPr id="10" name="Text 7"/>
          <p:cNvSpPr txBox="1"/>
          <p:nvPr/>
        </p:nvSpPr>
        <p:spPr>
          <a:xfrm>
            <a:off x="6446520" y="21945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1" name="Text 8"/>
          <p:cNvSpPr txBox="1"/>
          <p:nvPr/>
        </p:nvSpPr>
        <p:spPr>
          <a:xfrm>
            <a:off x="7086600" y="2103120"/>
            <a:ext cx="4343400" cy="640080"/>
          </a:xfrm>
          <a:prstGeom prst="rect">
            <a:avLst/>
          </a:prstGeom>
          <a:noFill/>
          <a:ln/>
        </p:spPr>
        <p:txBody>
          <a:bodyPr wrap="square" lIns="0" tIns="0" rIns="0" bIns="0" rtlCol="0" anchor="ctr"/>
          <a:lstStyle/>
          <a:p>
            <a:pPr indent="0" marL="0">
              <a:buNone/>
            </a:pPr>
            <a:r>
              <a:rPr lang="en-US" sz="1700" dirty="0">
                <a:solidFill>
                  <a:srgbClr val="1A1F36"/>
                </a:solidFill>
              </a:rPr>
              <a:t>Correr la segmentación a la fecha de corte con los mismos meses del 6M.</a:t>
            </a:r>
            <a:endParaRPr lang="en-US" sz="1700" dirty="0"/>
          </a:p>
        </p:txBody>
      </p:sp>
      <p:sp>
        <p:nvSpPr>
          <p:cNvPr id="12" name="Shape 9"/>
          <p:cNvSpPr/>
          <p:nvPr/>
        </p:nvSpPr>
        <p:spPr>
          <a:xfrm>
            <a:off x="6446520" y="3108960"/>
            <a:ext cx="457200" cy="457200"/>
          </a:xfrm>
          <a:prstGeom prst="ellipse">
            <a:avLst/>
          </a:prstGeom>
          <a:solidFill>
            <a:srgbClr val="1F2A52"/>
          </a:solidFill>
          <a:ln w="12700">
            <a:solidFill>
              <a:srgbClr val="1F2A52"/>
            </a:solidFill>
            <a:prstDash val="solid"/>
          </a:ln>
        </p:spPr>
      </p:sp>
      <p:sp>
        <p:nvSpPr>
          <p:cNvPr id="13" name="Text 10"/>
          <p:cNvSpPr txBox="1"/>
          <p:nvPr/>
        </p:nvSpPr>
        <p:spPr>
          <a:xfrm>
            <a:off x="6446520" y="31089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4" name="Text 11"/>
          <p:cNvSpPr txBox="1"/>
          <p:nvPr/>
        </p:nvSpPr>
        <p:spPr>
          <a:xfrm>
            <a:off x="7086600" y="3017520"/>
            <a:ext cx="4343400" cy="640080"/>
          </a:xfrm>
          <a:prstGeom prst="rect">
            <a:avLst/>
          </a:prstGeom>
          <a:noFill/>
          <a:ln/>
        </p:spPr>
        <p:txBody>
          <a:bodyPr wrap="square" lIns="0" tIns="0" rIns="0" bIns="0" rtlCol="0" anchor="ctr"/>
          <a:lstStyle/>
          <a:p>
            <a:pPr indent="0" marL="0">
              <a:buNone/>
            </a:pPr>
            <a:r>
              <a:rPr lang="en-US" sz="1700" dirty="0">
                <a:solidFill>
                  <a:srgbClr val="1A1F36"/>
                </a:solidFill>
              </a:rPr>
              <a:t>Comparar la tasa observada por perfil en diciembre frente al resto de meses.</a:t>
            </a:r>
            <a:endParaRPr lang="en-US" sz="1700" dirty="0"/>
          </a:p>
        </p:txBody>
      </p:sp>
      <p:sp>
        <p:nvSpPr>
          <p:cNvPr id="15" name="Shape 12"/>
          <p:cNvSpPr/>
          <p:nvPr/>
        </p:nvSpPr>
        <p:spPr>
          <a:xfrm>
            <a:off x="6446520" y="4023360"/>
            <a:ext cx="457200" cy="457200"/>
          </a:xfrm>
          <a:prstGeom prst="ellipse">
            <a:avLst/>
          </a:prstGeom>
          <a:solidFill>
            <a:srgbClr val="1F2A52"/>
          </a:solidFill>
          <a:ln w="12700">
            <a:solidFill>
              <a:srgbClr val="1F2A52"/>
            </a:solidFill>
            <a:prstDash val="solid"/>
          </a:ln>
        </p:spPr>
      </p:sp>
      <p:sp>
        <p:nvSpPr>
          <p:cNvPr id="16" name="Text 13"/>
          <p:cNvSpPr txBox="1"/>
          <p:nvPr/>
        </p:nvSpPr>
        <p:spPr>
          <a:xfrm>
            <a:off x="6446520" y="40233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7" name="Text 14"/>
          <p:cNvSpPr txBox="1"/>
          <p:nvPr/>
        </p:nvSpPr>
        <p:spPr>
          <a:xfrm>
            <a:off x="7086600" y="3931920"/>
            <a:ext cx="4343400" cy="640080"/>
          </a:xfrm>
          <a:prstGeom prst="rect">
            <a:avLst/>
          </a:prstGeom>
          <a:noFill/>
          <a:ln/>
        </p:spPr>
        <p:txBody>
          <a:bodyPr wrap="square" lIns="0" tIns="0" rIns="0" bIns="0" rtlCol="0" anchor="ctr"/>
          <a:lstStyle/>
          <a:p>
            <a:pPr indent="0" marL="0">
              <a:buNone/>
            </a:pPr>
            <a:r>
              <a:rPr lang="en-US" sz="1700" dirty="0">
                <a:solidFill>
                  <a:srgbClr val="1A1F36"/>
                </a:solidFill>
              </a:rPr>
              <a:t>Revisar por qué Sin Perfil pesa 7% en el corte de CE.</a:t>
            </a:r>
            <a:endParaRPr lang="en-US" sz="1700" dirty="0"/>
          </a:p>
        </p:txBody>
      </p:sp>
      <p:sp>
        <p:nvSpPr>
          <p:cNvPr id="18" name="Shape 15"/>
          <p:cNvSpPr/>
          <p:nvPr/>
        </p:nvSpPr>
        <p:spPr>
          <a:xfrm>
            <a:off x="6446520" y="4937760"/>
            <a:ext cx="457200" cy="457200"/>
          </a:xfrm>
          <a:prstGeom prst="ellipse">
            <a:avLst/>
          </a:prstGeom>
          <a:solidFill>
            <a:srgbClr val="1F2A52"/>
          </a:solidFill>
          <a:ln w="12700">
            <a:solidFill>
              <a:srgbClr val="1F2A52"/>
            </a:solidFill>
            <a:prstDash val="solid"/>
          </a:ln>
        </p:spPr>
      </p:sp>
      <p:sp>
        <p:nvSpPr>
          <p:cNvPr id="19" name="Text 16"/>
          <p:cNvSpPr txBox="1"/>
          <p:nvPr/>
        </p:nvSpPr>
        <p:spPr>
          <a:xfrm>
            <a:off x="6446520" y="49377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0" name="Text 17"/>
          <p:cNvSpPr txBox="1"/>
          <p:nvPr/>
        </p:nvSpPr>
        <p:spPr>
          <a:xfrm>
            <a:off x="7086600" y="4846320"/>
            <a:ext cx="4343400" cy="640080"/>
          </a:xfrm>
          <a:prstGeom prst="rect">
            <a:avLst/>
          </a:prstGeom>
          <a:noFill/>
          <a:ln/>
        </p:spPr>
        <p:txBody>
          <a:bodyPr wrap="square" lIns="0" tIns="0" rIns="0" bIns="0" rtlCol="0" anchor="ctr"/>
          <a:lstStyle/>
          <a:p>
            <a:pPr indent="0" marL="0">
              <a:buNone/>
            </a:pPr>
            <a:r>
              <a:rPr lang="en-US" sz="1700" dirty="0">
                <a:solidFill>
                  <a:srgbClr val="1A1F36"/>
                </a:solidFill>
              </a:rPr>
              <a:t>Decidir la ventana y actualizar las reglas en Rocket.</a:t>
            </a:r>
            <a:endParaRPr lang="en-US" sz="17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90"/>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Riesgo Pichincha">
  <a:themeElements>
    <a:clrScheme name="Riesgo Pichincha">
      <a:dk1>
        <a:srgbClr val="1A1F36"/>
      </a:dk1>
      <a:lt1>
        <a:srgbClr val="FFFFFF"/>
      </a:lt1>
      <a:dk2>
        <a:srgbClr val="1F2A52"/>
      </a:dk2>
      <a:lt2>
        <a:srgbClr val="F2F4F9"/>
      </a:lt2>
      <a:accent1>
        <a:srgbClr val="F2B01E"/>
      </a:accent1>
      <a:accent2>
        <a:srgbClr val="2F4B9A"/>
      </a:accent2>
      <a:accent3>
        <a:srgbClr val="D64545"/>
      </a:accent3>
      <a:accent4>
        <a:srgbClr val="3FA34D"/>
      </a:accent4>
      <a:accent5>
        <a:srgbClr val="EE8A4B"/>
      </a:accent5>
      <a:accent6>
        <a:srgbClr val="8E9AAF"/>
      </a:accent6>
      <a:hlink>
        <a:srgbClr val="2F4B9A"/>
      </a:hlink>
      <a:folHlink>
        <a:srgbClr val="8E9AAF"/>
      </a:folHlink>
    </a:clrScheme>
    <a:fontScheme name="Riesgo Pichincha">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Saldo en cuentas del pasivo: fecha de corte vs. promedio 6 meses</dc:title>
  <dc:subject>Resumen ejecutivo</dc:subject>
  <dc:creator>Riesgo de Crédito</dc:creator>
  <cp:lastModifiedBy>Riesgo de Crédito</cp:lastModifiedBy>
  <cp:revision>1</cp:revision>
  <dcterms:created xsi:type="dcterms:W3CDTF">2026-10-15T12:09:51Z</dcterms:created>
  <dcterms:modified xsi:type="dcterms:W3CDTF">2026-10-15T12:09:51Z</dcterms:modified>
</cp:coreProperties>
</file>