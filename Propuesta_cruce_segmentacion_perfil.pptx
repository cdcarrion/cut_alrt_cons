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puesta" id="{88a04acb-6fd9-73a9-c7d3-d4bd99214ee2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Celda</c:v>
                </c:pt>
              </c:strCache>
            </c:strRef>
          </c:tx>
          <c:spPr>
            <a:solidFill>
              <a:srgbClr val="1F2A52"/>
            </a:solidFill>
            <a:ln w="25400" cap="flat">
              <a:solidFill>
                <a:srgbClr val="1F2A52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2A52"/>
              </a:solidFill>
              <a:ln w="9525" cap="flat">
                <a:solidFill>
                  <a:srgbClr val="1F2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May-24</c:v>
                  </c:pt>
                  <c:pt idx="1">
                    <c:v>Jun-24</c:v>
                  </c:pt>
                  <c:pt idx="2">
                    <c:v>Jul-24</c:v>
                  </c:pt>
                  <c:pt idx="3">
                    <c:v>Ago-24</c:v>
                  </c:pt>
                  <c:pt idx="4">
                    <c:v>Sep-24</c:v>
                  </c:pt>
                  <c:pt idx="5">
                    <c:v>Oct-24</c:v>
                  </c:pt>
                  <c:pt idx="6">
                    <c:v>Nov-24</c:v>
                  </c:pt>
                  <c:pt idx="7">
                    <c:v>Dic-24</c:v>
                  </c:pt>
                  <c:pt idx="8">
                    <c:v>Ene-25</c:v>
                  </c:pt>
                  <c:pt idx="9">
                    <c:v>Feb-25</c:v>
                  </c:pt>
                  <c:pt idx="10">
                    <c:v>Mar-25</c:v>
                  </c:pt>
                  <c:pt idx="11">
                    <c:v>Abr-25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5.33</c:v>
                </c:pt>
                <c:pt idx="1">
                  <c:v>5.43</c:v>
                </c:pt>
                <c:pt idx="2">
                  <c:v>5.63</c:v>
                </c:pt>
                <c:pt idx="3">
                  <c:v>4.89</c:v>
                </c:pt>
                <c:pt idx="4">
                  <c:v>6.59</c:v>
                </c:pt>
                <c:pt idx="5">
                  <c:v>6.94</c:v>
                </c:pt>
                <c:pt idx="6">
                  <c:v>4.92</c:v>
                </c:pt>
                <c:pt idx="7">
                  <c:v>6.6</c:v>
                </c:pt>
                <c:pt idx="8">
                  <c:v>4.97</c:v>
                </c:pt>
                <c:pt idx="9">
                  <c:v>5.26</c:v>
                </c:pt>
                <c:pt idx="10">
                  <c:v>6.78</c:v>
                </c:pt>
                <c:pt idx="11">
                  <c:v>6.02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 global</c:v>
                </c:pt>
              </c:strCache>
            </c:strRef>
          </c:tx>
          <c:spPr>
            <a:solidFill>
              <a:srgbClr val="8E9AAF"/>
            </a:solidFill>
            <a:ln w="25400" cap="flat">
              <a:solidFill>
                <a:srgbClr val="8E9AAF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E9AAF"/>
              </a:solidFill>
              <a:ln w="9525" cap="flat">
                <a:solidFill>
                  <a:srgbClr val="8E9A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May-24</c:v>
                  </c:pt>
                  <c:pt idx="1">
                    <c:v>Jun-24</c:v>
                  </c:pt>
                  <c:pt idx="2">
                    <c:v>Jul-24</c:v>
                  </c:pt>
                  <c:pt idx="3">
                    <c:v>Ago-24</c:v>
                  </c:pt>
                  <c:pt idx="4">
                    <c:v>Sep-24</c:v>
                  </c:pt>
                  <c:pt idx="5">
                    <c:v>Oct-24</c:v>
                  </c:pt>
                  <c:pt idx="6">
                    <c:v>Nov-24</c:v>
                  </c:pt>
                  <c:pt idx="7">
                    <c:v>Dic-24</c:v>
                  </c:pt>
                  <c:pt idx="8">
                    <c:v>Ene-25</c:v>
                  </c:pt>
                  <c:pt idx="9">
                    <c:v>Feb-25</c:v>
                  </c:pt>
                  <c:pt idx="10">
                    <c:v>Mar-25</c:v>
                  </c:pt>
                  <c:pt idx="11">
                    <c:v>Abr-25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1.22</c:v>
                </c:pt>
                <c:pt idx="1">
                  <c:v>1.22</c:v>
                </c:pt>
                <c:pt idx="2">
                  <c:v>1.22</c:v>
                </c:pt>
                <c:pt idx="3">
                  <c:v>1.22</c:v>
                </c:pt>
                <c:pt idx="4">
                  <c:v>1.22</c:v>
                </c:pt>
                <c:pt idx="5">
                  <c:v>1.22</c:v>
                </c:pt>
                <c:pt idx="6">
                  <c:v>1.22</c:v>
                </c:pt>
                <c:pt idx="7">
                  <c:v>1.22</c:v>
                </c:pt>
                <c:pt idx="8">
                  <c:v>1.22</c:v>
                </c:pt>
                <c:pt idx="9">
                  <c:v>1.22</c:v>
                </c:pt>
                <c:pt idx="10">
                  <c:v>1.22</c:v>
                </c:pt>
                <c:pt idx="11">
                  <c:v>1.22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Celda</c:v>
                </c:pt>
              </c:strCache>
            </c:strRef>
          </c:tx>
          <c:spPr>
            <a:solidFill>
              <a:srgbClr val="1F2A52"/>
            </a:solidFill>
            <a:ln w="25400" cap="flat">
              <a:solidFill>
                <a:srgbClr val="1F2A52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2A52"/>
              </a:solidFill>
              <a:ln w="9525" cap="flat">
                <a:solidFill>
                  <a:srgbClr val="1F2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May-24</c:v>
                  </c:pt>
                  <c:pt idx="1">
                    <c:v>Jun-24</c:v>
                  </c:pt>
                  <c:pt idx="2">
                    <c:v>Jul-24</c:v>
                  </c:pt>
                  <c:pt idx="3">
                    <c:v>Ago-24</c:v>
                  </c:pt>
                  <c:pt idx="4">
                    <c:v>Sep-24</c:v>
                  </c:pt>
                  <c:pt idx="5">
                    <c:v>Oct-24</c:v>
                  </c:pt>
                  <c:pt idx="6">
                    <c:v>Nov-24</c:v>
                  </c:pt>
                  <c:pt idx="7">
                    <c:v>Dic-24</c:v>
                  </c:pt>
                  <c:pt idx="8">
                    <c:v>Ene-25</c:v>
                  </c:pt>
                  <c:pt idx="9">
                    <c:v>Feb-25</c:v>
                  </c:pt>
                  <c:pt idx="10">
                    <c:v>Mar-25</c:v>
                  </c:pt>
                  <c:pt idx="11">
                    <c:v>Abr-25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10.24</c:v>
                </c:pt>
                <c:pt idx="1">
                  <c:v>10.68</c:v>
                </c:pt>
                <c:pt idx="2">
                  <c:v>10.66</c:v>
                </c:pt>
                <c:pt idx="3">
                  <c:v>11.48</c:v>
                </c:pt>
                <c:pt idx="4">
                  <c:v>12.1</c:v>
                </c:pt>
                <c:pt idx="5">
                  <c:v>10.85</c:v>
                </c:pt>
                <c:pt idx="6">
                  <c:v>11.28</c:v>
                </c:pt>
                <c:pt idx="7">
                  <c:v>12.23</c:v>
                </c:pt>
                <c:pt idx="8">
                  <c:v>10.89</c:v>
                </c:pt>
                <c:pt idx="9">
                  <c:v>9.52</c:v>
                </c:pt>
                <c:pt idx="10">
                  <c:v>12.56</c:v>
                </c:pt>
                <c:pt idx="11">
                  <c:v>11.39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 global</c:v>
                </c:pt>
              </c:strCache>
            </c:strRef>
          </c:tx>
          <c:spPr>
            <a:solidFill>
              <a:srgbClr val="8E9AAF"/>
            </a:solidFill>
            <a:ln w="25400" cap="flat">
              <a:solidFill>
                <a:srgbClr val="8E9AAF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E9AAF"/>
              </a:solidFill>
              <a:ln w="9525" cap="flat">
                <a:solidFill>
                  <a:srgbClr val="8E9A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May-24</c:v>
                  </c:pt>
                  <c:pt idx="1">
                    <c:v>Jun-24</c:v>
                  </c:pt>
                  <c:pt idx="2">
                    <c:v>Jul-24</c:v>
                  </c:pt>
                  <c:pt idx="3">
                    <c:v>Ago-24</c:v>
                  </c:pt>
                  <c:pt idx="4">
                    <c:v>Sep-24</c:v>
                  </c:pt>
                  <c:pt idx="5">
                    <c:v>Oct-24</c:v>
                  </c:pt>
                  <c:pt idx="6">
                    <c:v>Nov-24</c:v>
                  </c:pt>
                  <c:pt idx="7">
                    <c:v>Dic-24</c:v>
                  </c:pt>
                  <c:pt idx="8">
                    <c:v>Ene-25</c:v>
                  </c:pt>
                  <c:pt idx="9">
                    <c:v>Feb-25</c:v>
                  </c:pt>
                  <c:pt idx="10">
                    <c:v>Mar-25</c:v>
                  </c:pt>
                  <c:pt idx="11">
                    <c:v>Abr-25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Celda</c:v>
                </c:pt>
              </c:strCache>
            </c:strRef>
          </c:tx>
          <c:spPr>
            <a:solidFill>
              <a:srgbClr val="1F2A52"/>
            </a:solidFill>
            <a:ln w="25400" cap="flat">
              <a:solidFill>
                <a:srgbClr val="1F2A52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2A52"/>
              </a:solidFill>
              <a:ln w="9525" cap="flat">
                <a:solidFill>
                  <a:srgbClr val="1F2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May-24</c:v>
                  </c:pt>
                  <c:pt idx="1">
                    <c:v>Jun-24</c:v>
                  </c:pt>
                  <c:pt idx="2">
                    <c:v>Jul-24</c:v>
                  </c:pt>
                  <c:pt idx="3">
                    <c:v>Ago-24</c:v>
                  </c:pt>
                  <c:pt idx="4">
                    <c:v>Sep-24</c:v>
                  </c:pt>
                  <c:pt idx="5">
                    <c:v>Oct-24</c:v>
                  </c:pt>
                  <c:pt idx="6">
                    <c:v>Nov-24</c:v>
                  </c:pt>
                  <c:pt idx="7">
                    <c:v>Dic-24</c:v>
                  </c:pt>
                  <c:pt idx="8">
                    <c:v>Ene-25</c:v>
                  </c:pt>
                  <c:pt idx="9">
                    <c:v>Feb-25</c:v>
                  </c:pt>
                  <c:pt idx="10">
                    <c:v>Mar-25</c:v>
                  </c:pt>
                  <c:pt idx="11">
                    <c:v>Abr-25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4.12</c:v>
                </c:pt>
                <c:pt idx="1">
                  <c:v>2.93</c:v>
                </c:pt>
                <c:pt idx="2">
                  <c:v>3.36</c:v>
                </c:pt>
                <c:pt idx="3">
                  <c:v>3.07</c:v>
                </c:pt>
                <c:pt idx="4">
                  <c:v>3.8</c:v>
                </c:pt>
                <c:pt idx="5">
                  <c:v>2.95</c:v>
                </c:pt>
                <c:pt idx="6">
                  <c:v>3.46</c:v>
                </c:pt>
                <c:pt idx="7">
                  <c:v>4.37</c:v>
                </c:pt>
                <c:pt idx="8">
                  <c:v>4.18</c:v>
                </c:pt>
                <c:pt idx="9">
                  <c:v>4.05</c:v>
                </c:pt>
                <c:pt idx="10">
                  <c:v>4.44</c:v>
                </c:pt>
                <c:pt idx="11">
                  <c:v>3.68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 global</c:v>
                </c:pt>
              </c:strCache>
            </c:strRef>
          </c:tx>
          <c:spPr>
            <a:solidFill>
              <a:srgbClr val="8E9AAF"/>
            </a:solidFill>
            <a:ln w="25400" cap="flat">
              <a:solidFill>
                <a:srgbClr val="8E9AAF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E9AAF"/>
              </a:solidFill>
              <a:ln w="9525" cap="flat">
                <a:solidFill>
                  <a:srgbClr val="8E9A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May-24</c:v>
                  </c:pt>
                  <c:pt idx="1">
                    <c:v>Jun-24</c:v>
                  </c:pt>
                  <c:pt idx="2">
                    <c:v>Jul-24</c:v>
                  </c:pt>
                  <c:pt idx="3">
                    <c:v>Ago-24</c:v>
                  </c:pt>
                  <c:pt idx="4">
                    <c:v>Sep-24</c:v>
                  </c:pt>
                  <c:pt idx="5">
                    <c:v>Oct-24</c:v>
                  </c:pt>
                  <c:pt idx="6">
                    <c:v>Nov-24</c:v>
                  </c:pt>
                  <c:pt idx="7">
                    <c:v>Dic-24</c:v>
                  </c:pt>
                  <c:pt idx="8">
                    <c:v>Ene-25</c:v>
                  </c:pt>
                  <c:pt idx="9">
                    <c:v>Feb-25</c:v>
                  </c:pt>
                  <c:pt idx="10">
                    <c:v>Mar-25</c:v>
                  </c:pt>
                  <c:pt idx="11">
                    <c:v>Abr-25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Celda</c:v>
                </c:pt>
              </c:strCache>
            </c:strRef>
          </c:tx>
          <c:spPr>
            <a:solidFill>
              <a:srgbClr val="1F2A52"/>
            </a:solidFill>
            <a:ln w="25400" cap="flat">
              <a:solidFill>
                <a:srgbClr val="1F2A52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2A52"/>
              </a:solidFill>
              <a:ln w="9525" cap="flat">
                <a:solidFill>
                  <a:srgbClr val="1F2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May-24</c:v>
                  </c:pt>
                  <c:pt idx="1">
                    <c:v>Jun-24</c:v>
                  </c:pt>
                  <c:pt idx="2">
                    <c:v>Jul-24</c:v>
                  </c:pt>
                  <c:pt idx="3">
                    <c:v>Ago-24</c:v>
                  </c:pt>
                  <c:pt idx="4">
                    <c:v>Sep-24</c:v>
                  </c:pt>
                  <c:pt idx="5">
                    <c:v>Oct-24</c:v>
                  </c:pt>
                  <c:pt idx="6">
                    <c:v>Nov-24</c:v>
                  </c:pt>
                  <c:pt idx="7">
                    <c:v>Dic-24</c:v>
                  </c:pt>
                  <c:pt idx="8">
                    <c:v>Ene-25</c:v>
                  </c:pt>
                  <c:pt idx="9">
                    <c:v>Feb-25</c:v>
                  </c:pt>
                  <c:pt idx="10">
                    <c:v>Mar-25</c:v>
                  </c:pt>
                  <c:pt idx="11">
                    <c:v>Abr-25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4.19</c:v>
                </c:pt>
                <c:pt idx="1">
                  <c:v>4.91</c:v>
                </c:pt>
                <c:pt idx="2">
                  <c:v>5.86</c:v>
                </c:pt>
                <c:pt idx="3">
                  <c:v>4.15</c:v>
                </c:pt>
                <c:pt idx="4">
                  <c:v>4.57</c:v>
                </c:pt>
                <c:pt idx="5">
                  <c:v>6.06</c:v>
                </c:pt>
                <c:pt idx="6">
                  <c:v>4.49</c:v>
                </c:pt>
                <c:pt idx="7">
                  <c:v>4.73</c:v>
                </c:pt>
                <c:pt idx="8">
                  <c:v>6.08</c:v>
                </c:pt>
                <c:pt idx="9">
                  <c:v>5.81</c:v>
                </c:pt>
                <c:pt idx="10">
                  <c:v>6.24</c:v>
                </c:pt>
                <c:pt idx="11">
                  <c:v>5.23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 global</c:v>
                </c:pt>
              </c:strCache>
            </c:strRef>
          </c:tx>
          <c:spPr>
            <a:solidFill>
              <a:srgbClr val="8E9AAF"/>
            </a:solidFill>
            <a:ln w="25400" cap="flat">
              <a:solidFill>
                <a:srgbClr val="8E9AAF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E9AAF"/>
              </a:solidFill>
              <a:ln w="9525" cap="flat">
                <a:solidFill>
                  <a:srgbClr val="8E9A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May-24</c:v>
                  </c:pt>
                  <c:pt idx="1">
                    <c:v>Jun-24</c:v>
                  </c:pt>
                  <c:pt idx="2">
                    <c:v>Jul-24</c:v>
                  </c:pt>
                  <c:pt idx="3">
                    <c:v>Ago-24</c:v>
                  </c:pt>
                  <c:pt idx="4">
                    <c:v>Sep-24</c:v>
                  </c:pt>
                  <c:pt idx="5">
                    <c:v>Oct-24</c:v>
                  </c:pt>
                  <c:pt idx="6">
                    <c:v>Nov-24</c:v>
                  </c:pt>
                  <c:pt idx="7">
                    <c:v>Dic-24</c:v>
                  </c:pt>
                  <c:pt idx="8">
                    <c:v>Ene-25</c:v>
                  </c:pt>
                  <c:pt idx="9">
                    <c:v>Feb-25</c:v>
                  </c:pt>
                  <c:pt idx="10">
                    <c:v>Mar-25</c:v>
                  </c:pt>
                  <c:pt idx="11">
                    <c:v>Abr-25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0.56</c:v>
                </c:pt>
                <c:pt idx="1">
                  <c:v>0.56</c:v>
                </c:pt>
                <c:pt idx="2">
                  <c:v>0.56</c:v>
                </c:pt>
                <c:pt idx="3">
                  <c:v>0.56</c:v>
                </c:pt>
                <c:pt idx="4">
                  <c:v>0.56</c:v>
                </c:pt>
                <c:pt idx="5">
                  <c:v>0.56</c:v>
                </c:pt>
                <c:pt idx="6">
                  <c:v>0.56</c:v>
                </c:pt>
                <c:pt idx="7">
                  <c:v>0.56</c:v>
                </c:pt>
                <c:pt idx="8">
                  <c:v>0.56</c:v>
                </c:pt>
                <c:pt idx="9">
                  <c:v>0.56</c:v>
                </c:pt>
                <c:pt idx="10">
                  <c:v>0.56</c:v>
                </c:pt>
                <c:pt idx="11">
                  <c:v>0.56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Celda</c:v>
                </c:pt>
              </c:strCache>
            </c:strRef>
          </c:tx>
          <c:spPr>
            <a:solidFill>
              <a:srgbClr val="1F2A52"/>
            </a:solidFill>
            <a:ln w="25400" cap="flat">
              <a:solidFill>
                <a:srgbClr val="1F2A52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2A52"/>
              </a:solidFill>
              <a:ln w="9525" cap="flat">
                <a:solidFill>
                  <a:srgbClr val="1F2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May-24</c:v>
                  </c:pt>
                  <c:pt idx="1">
                    <c:v>Jun-24</c:v>
                  </c:pt>
                  <c:pt idx="2">
                    <c:v>Jul-24</c:v>
                  </c:pt>
                  <c:pt idx="3">
                    <c:v>Ago-24</c:v>
                  </c:pt>
                  <c:pt idx="4">
                    <c:v>Sep-24</c:v>
                  </c:pt>
                  <c:pt idx="5">
                    <c:v>Oct-24</c:v>
                  </c:pt>
                  <c:pt idx="6">
                    <c:v>Nov-24</c:v>
                  </c:pt>
                  <c:pt idx="7">
                    <c:v>Dic-24</c:v>
                  </c:pt>
                  <c:pt idx="8">
                    <c:v>Ene-25</c:v>
                  </c:pt>
                  <c:pt idx="9">
                    <c:v>Feb-25</c:v>
                  </c:pt>
                  <c:pt idx="10">
                    <c:v>Mar-25</c:v>
                  </c:pt>
                  <c:pt idx="11">
                    <c:v>Abr-25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4.34</c:v>
                </c:pt>
                <c:pt idx="1">
                  <c:v>3.35</c:v>
                </c:pt>
                <c:pt idx="2">
                  <c:v>3.88</c:v>
                </c:pt>
                <c:pt idx="3">
                  <c:v>4.11</c:v>
                </c:pt>
                <c:pt idx="4">
                  <c:v>4.07</c:v>
                </c:pt>
                <c:pt idx="5">
                  <c:v>3.8</c:v>
                </c:pt>
                <c:pt idx="6">
                  <c:v>3.52</c:v>
                </c:pt>
                <c:pt idx="7">
                  <c:v>4.15</c:v>
                </c:pt>
                <c:pt idx="8">
                  <c:v>3.87</c:v>
                </c:pt>
                <c:pt idx="9">
                  <c:v>3.16</c:v>
                </c:pt>
                <c:pt idx="10">
                  <c:v>4.4</c:v>
                </c:pt>
                <c:pt idx="11">
                  <c:v>3.95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 global</c:v>
                </c:pt>
              </c:strCache>
            </c:strRef>
          </c:tx>
          <c:spPr>
            <a:solidFill>
              <a:srgbClr val="8E9AAF"/>
            </a:solidFill>
            <a:ln w="25400" cap="flat">
              <a:solidFill>
                <a:srgbClr val="8E9AAF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E9AAF"/>
              </a:solidFill>
              <a:ln w="9525" cap="flat">
                <a:solidFill>
                  <a:srgbClr val="8E9A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May-24</c:v>
                  </c:pt>
                  <c:pt idx="1">
                    <c:v>Jun-24</c:v>
                  </c:pt>
                  <c:pt idx="2">
                    <c:v>Jul-24</c:v>
                  </c:pt>
                  <c:pt idx="3">
                    <c:v>Ago-24</c:v>
                  </c:pt>
                  <c:pt idx="4">
                    <c:v>Sep-24</c:v>
                  </c:pt>
                  <c:pt idx="5">
                    <c:v>Oct-24</c:v>
                  </c:pt>
                  <c:pt idx="6">
                    <c:v>Nov-24</c:v>
                  </c:pt>
                  <c:pt idx="7">
                    <c:v>Dic-24</c:v>
                  </c:pt>
                  <c:pt idx="8">
                    <c:v>Ene-25</c:v>
                  </c:pt>
                  <c:pt idx="9">
                    <c:v>Feb-25</c:v>
                  </c:pt>
                  <c:pt idx="10">
                    <c:v>Mar-25</c:v>
                  </c:pt>
                  <c:pt idx="11">
                    <c:v>Abr-25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1.22</c:v>
                </c:pt>
                <c:pt idx="1">
                  <c:v>1.22</c:v>
                </c:pt>
                <c:pt idx="2">
                  <c:v>1.22</c:v>
                </c:pt>
                <c:pt idx="3">
                  <c:v>1.22</c:v>
                </c:pt>
                <c:pt idx="4">
                  <c:v>1.22</c:v>
                </c:pt>
                <c:pt idx="5">
                  <c:v>1.22</c:v>
                </c:pt>
                <c:pt idx="6">
                  <c:v>1.22</c:v>
                </c:pt>
                <c:pt idx="7">
                  <c:v>1.22</c:v>
                </c:pt>
                <c:pt idx="8">
                  <c:v>1.22</c:v>
                </c:pt>
                <c:pt idx="9">
                  <c:v>1.22</c:v>
                </c:pt>
                <c:pt idx="10">
                  <c:v>1.22</c:v>
                </c:pt>
                <c:pt idx="11">
                  <c:v>1.22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Celda</c:v>
                </c:pt>
              </c:strCache>
            </c:strRef>
          </c:tx>
          <c:spPr>
            <a:solidFill>
              <a:srgbClr val="1F2A52"/>
            </a:solidFill>
            <a:ln w="25400" cap="flat">
              <a:solidFill>
                <a:srgbClr val="1F2A52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2A52"/>
              </a:solidFill>
              <a:ln w="9525" cap="flat">
                <a:solidFill>
                  <a:srgbClr val="1F2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May-24</c:v>
                  </c:pt>
                  <c:pt idx="1">
                    <c:v>Jun-24</c:v>
                  </c:pt>
                  <c:pt idx="2">
                    <c:v>Jul-24</c:v>
                  </c:pt>
                  <c:pt idx="3">
                    <c:v>Ago-24</c:v>
                  </c:pt>
                  <c:pt idx="4">
                    <c:v>Sep-24</c:v>
                  </c:pt>
                  <c:pt idx="5">
                    <c:v>Oct-24</c:v>
                  </c:pt>
                  <c:pt idx="6">
                    <c:v>Nov-24</c:v>
                  </c:pt>
                  <c:pt idx="7">
                    <c:v>Dic-24</c:v>
                  </c:pt>
                  <c:pt idx="8">
                    <c:v>Ene-25</c:v>
                  </c:pt>
                  <c:pt idx="9">
                    <c:v>Feb-25</c:v>
                  </c:pt>
                  <c:pt idx="10">
                    <c:v>Mar-25</c:v>
                  </c:pt>
                  <c:pt idx="11">
                    <c:v>Abr-25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3.22</c:v>
                </c:pt>
                <c:pt idx="1">
                  <c:v>3.05</c:v>
                </c:pt>
                <c:pt idx="2">
                  <c:v>4.15</c:v>
                </c:pt>
                <c:pt idx="3">
                  <c:v>3.66</c:v>
                </c:pt>
                <c:pt idx="4">
                  <c:v>3.97</c:v>
                </c:pt>
                <c:pt idx="5">
                  <c:v>3.46</c:v>
                </c:pt>
                <c:pt idx="6">
                  <c:v>4.66</c:v>
                </c:pt>
                <c:pt idx="7">
                  <c:v>3.23</c:v>
                </c:pt>
                <c:pt idx="8">
                  <c:v>3.26</c:v>
                </c:pt>
                <c:pt idx="9">
                  <c:v>3.06</c:v>
                </c:pt>
                <c:pt idx="10">
                  <c:v>3.86</c:v>
                </c:pt>
                <c:pt idx="11">
                  <c:v>3.83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 global</c:v>
                </c:pt>
              </c:strCache>
            </c:strRef>
          </c:tx>
          <c:spPr>
            <a:solidFill>
              <a:srgbClr val="8E9AAF"/>
            </a:solidFill>
            <a:ln w="25400" cap="flat">
              <a:solidFill>
                <a:srgbClr val="8E9AAF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E9AAF"/>
              </a:solidFill>
              <a:ln w="9525" cap="flat">
                <a:solidFill>
                  <a:srgbClr val="8E9A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May-24</c:v>
                  </c:pt>
                  <c:pt idx="1">
                    <c:v>Jun-24</c:v>
                  </c:pt>
                  <c:pt idx="2">
                    <c:v>Jul-24</c:v>
                  </c:pt>
                  <c:pt idx="3">
                    <c:v>Ago-24</c:v>
                  </c:pt>
                  <c:pt idx="4">
                    <c:v>Sep-24</c:v>
                  </c:pt>
                  <c:pt idx="5">
                    <c:v>Oct-24</c:v>
                  </c:pt>
                  <c:pt idx="6">
                    <c:v>Nov-24</c:v>
                  </c:pt>
                  <c:pt idx="7">
                    <c:v>Dic-24</c:v>
                  </c:pt>
                  <c:pt idx="8">
                    <c:v>Ene-25</c:v>
                  </c:pt>
                  <c:pt idx="9">
                    <c:v>Feb-25</c:v>
                  </c:pt>
                  <c:pt idx="10">
                    <c:v>Mar-25</c:v>
                  </c:pt>
                  <c:pt idx="11">
                    <c:v>Abr-25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celda de la tabla cruzada muestra el último valor y su historial de 12 meses frente a la PI global del perfil. Historial ilustrativo; el último mes viene de la captura.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fila es una celda de la tabla cruzada, cada columna un mes. El valor es cuántas veces supera la PI global de su perfil. Historial ilustrativo.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4241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57600"/>
            <a:ext cx="10424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0"/>
                </a:solidFill>
              </a:rPr>
              <a:t>Banco Pichincha · Riesgo de Crédito · Segmentación por saldo en cuentas del pasivo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 · Zona de alerta del cruce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326880" y="36576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7E0"/>
          </a:solidFill>
          <a:ln w="15875">
            <a:solidFill>
              <a:srgbClr val="F2B01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326880" y="365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52"/>
                </a:solidFill>
              </a:rPr>
              <a:t>HISTORIAL ILUSTRATIVO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88720" cy="594360"/>
          </a:xfrm>
          <a:prstGeom prst="rect">
            <a:avLst/>
          </a:prstGeom>
          <a:solidFill>
            <a:srgbClr val="1F2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Pérdida incurrida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280160"/>
            <a:ext cx="3291840" cy="594360"/>
          </a:xfrm>
          <a:prstGeom prst="rect">
            <a:avLst/>
          </a:prstGeom>
          <a:solidFill>
            <a:srgbClr val="1F2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AAA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5DAE6"/>
                </a:solidFill>
              </a:rPr>
              <a:t>PI global 0.56%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1280160"/>
            <a:ext cx="3291840" cy="594360"/>
          </a:xfrm>
          <a:prstGeom prst="rect">
            <a:avLst/>
          </a:prstGeom>
          <a:solidFill>
            <a:srgbClr val="1F2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AA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5DAE6"/>
                </a:solidFill>
              </a:rPr>
              <a:t>PI global 1.22%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280160"/>
            <a:ext cx="3291840" cy="594360"/>
          </a:xfrm>
          <a:prstGeom prst="rect">
            <a:avLst/>
          </a:prstGeom>
          <a:solidFill>
            <a:srgbClr val="1F2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5DAE6"/>
                </a:solidFill>
              </a:rPr>
              <a:t>PI global 2.50%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74520"/>
            <a:ext cx="1188720" cy="1097280"/>
          </a:xfrm>
          <a:prstGeom prst="rect">
            <a:avLst/>
          </a:prstGeom>
          <a:solidFill>
            <a:srgbClr val="D64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Crítico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1874520"/>
            <a:ext cx="3291840" cy="1097280"/>
          </a:xfrm>
          <a:prstGeom prst="rect">
            <a:avLst/>
          </a:prstGeom>
          <a:solidFill>
            <a:srgbClr val="F7F8F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0"/>
                </a:solidFill>
              </a:rPr>
              <a:t>Sin base suficiente (3 clientes)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0" y="1874520"/>
            <a:ext cx="3291840" cy="1097280"/>
          </a:xfrm>
          <a:prstGeom prst="rect">
            <a:avLst/>
          </a:prstGeom>
          <a:solidFill>
            <a:srgbClr val="FBE3E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66360" y="1947672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52"/>
                </a:solidFill>
              </a:rPr>
              <a:t>6.02%</a:t>
            </a:r>
            <a:endParaRPr lang="en-US" sz="2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4.9× la PI global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</a:rPr>
              <a:t>431 clientes</a:t>
            </a:r>
            <a:endParaRPr lang="en-US" sz="2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537960" y="1947672"/>
          <a:ext cx="1737360" cy="9509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1"/>
          <p:cNvSpPr/>
          <p:nvPr/>
        </p:nvSpPr>
        <p:spPr>
          <a:xfrm>
            <a:off x="8321040" y="1874520"/>
            <a:ext cx="3291840" cy="1097280"/>
          </a:xfrm>
          <a:prstGeom prst="rect">
            <a:avLst/>
          </a:prstGeom>
          <a:solidFill>
            <a:srgbClr val="FBE3E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458200" y="1947672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52"/>
                </a:solidFill>
              </a:rPr>
              <a:t>11.39%</a:t>
            </a:r>
            <a:endParaRPr lang="en-US" sz="2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4.6× la PI global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</a:rPr>
              <a:t>1,959 clientes</a:t>
            </a:r>
            <a:endParaRPr lang="en-US" sz="2400" dirty="0"/>
          </a:p>
        </p:txBody>
      </p:sp>
      <p:graphicFrame>
        <p:nvGraphicFramePr>
          <p:cNvPr id="17" name="Chart 1" descr=""/>
          <p:cNvGraphicFramePr/>
          <p:nvPr/>
        </p:nvGraphicFramePr>
        <p:xfrm>
          <a:off x="9829800" y="1947672"/>
          <a:ext cx="1737360" cy="9509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548640" y="2971800"/>
            <a:ext cx="1188720" cy="1097280"/>
          </a:xfrm>
          <a:prstGeom prst="rect">
            <a:avLst/>
          </a:prstGeom>
          <a:solidFill>
            <a:srgbClr val="EE8A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Alto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737360" y="2971800"/>
            <a:ext cx="3291840" cy="1097280"/>
          </a:xfrm>
          <a:prstGeom prst="rect">
            <a:avLst/>
          </a:prstGeom>
          <a:solidFill>
            <a:srgbClr val="F7F8F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0"/>
                </a:solidFill>
              </a:rPr>
              <a:t>Sin clientes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0" y="2971800"/>
            <a:ext cx="3291840" cy="1097280"/>
          </a:xfrm>
          <a:prstGeom prst="rect">
            <a:avLst/>
          </a:prstGeom>
          <a:solidFill>
            <a:srgbClr val="F7F8F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0"/>
                </a:solidFill>
              </a:rPr>
              <a:t>Sin clientes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321040" y="2971800"/>
            <a:ext cx="3291840" cy="1097280"/>
          </a:xfrm>
          <a:prstGeom prst="rect">
            <a:avLst/>
          </a:prstGeom>
          <a:solidFill>
            <a:srgbClr val="FFF3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458200" y="3044952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52"/>
                </a:solidFill>
              </a:rPr>
              <a:t>3.68%</a:t>
            </a:r>
            <a:endParaRPr lang="en-US" sz="2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1.5× la PI global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</a:rPr>
              <a:t>3,107 clientes</a:t>
            </a:r>
            <a:endParaRPr lang="en-US" sz="2400" dirty="0"/>
          </a:p>
        </p:txBody>
      </p:sp>
      <p:graphicFrame>
        <p:nvGraphicFramePr>
          <p:cNvPr id="23" name="Chart 2" descr=""/>
          <p:cNvGraphicFramePr/>
          <p:nvPr/>
        </p:nvGraphicFramePr>
        <p:xfrm>
          <a:off x="9829800" y="3044952"/>
          <a:ext cx="1737360" cy="9509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 18"/>
          <p:cNvSpPr txBox="1"/>
          <p:nvPr/>
        </p:nvSpPr>
        <p:spPr>
          <a:xfrm>
            <a:off x="548640" y="4069080"/>
            <a:ext cx="1188720" cy="1097280"/>
          </a:xfrm>
          <a:prstGeom prst="rect">
            <a:avLst/>
          </a:prstGeom>
          <a:solidFill>
            <a:srgbClr val="F2CF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Potencial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1737360" y="4069080"/>
            <a:ext cx="3291840" cy="1097280"/>
          </a:xfrm>
          <a:prstGeom prst="rect">
            <a:avLst/>
          </a:prstGeom>
          <a:solidFill>
            <a:srgbClr val="FBE3E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1874520" y="4142232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52"/>
                </a:solidFill>
              </a:rPr>
              <a:t>5.23%</a:t>
            </a:r>
            <a:endParaRPr lang="en-US" sz="2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9.3× la PI global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</a:rPr>
              <a:t>421 clientes</a:t>
            </a:r>
            <a:endParaRPr lang="en-US" sz="2400" dirty="0"/>
          </a:p>
        </p:txBody>
      </p:sp>
      <p:graphicFrame>
        <p:nvGraphicFramePr>
          <p:cNvPr id="27" name="Chart 3" descr=""/>
          <p:cNvGraphicFramePr/>
          <p:nvPr/>
        </p:nvGraphicFramePr>
        <p:xfrm>
          <a:off x="3246120" y="4142232"/>
          <a:ext cx="1737360" cy="9509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Shape 21"/>
          <p:cNvSpPr/>
          <p:nvPr/>
        </p:nvSpPr>
        <p:spPr>
          <a:xfrm>
            <a:off x="5029200" y="4069080"/>
            <a:ext cx="3291840" cy="1097280"/>
          </a:xfrm>
          <a:prstGeom prst="rect">
            <a:avLst/>
          </a:prstGeom>
          <a:solidFill>
            <a:srgbClr val="FBE3E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5166360" y="4142232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52"/>
                </a:solidFill>
              </a:rPr>
              <a:t>3.95%</a:t>
            </a:r>
            <a:endParaRPr lang="en-US" sz="2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3.2× la PI global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</a:rPr>
              <a:t>1,063 clientes</a:t>
            </a:r>
            <a:endParaRPr lang="en-US" sz="2400" dirty="0"/>
          </a:p>
        </p:txBody>
      </p:sp>
      <p:graphicFrame>
        <p:nvGraphicFramePr>
          <p:cNvPr id="30" name="Chart 4" descr=""/>
          <p:cNvGraphicFramePr/>
          <p:nvPr/>
        </p:nvGraphicFramePr>
        <p:xfrm>
          <a:off x="6537960" y="4142232"/>
          <a:ext cx="1737360" cy="9509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Shape 23"/>
          <p:cNvSpPr/>
          <p:nvPr/>
        </p:nvSpPr>
        <p:spPr>
          <a:xfrm>
            <a:off x="8321040" y="4069080"/>
            <a:ext cx="3291840" cy="1097280"/>
          </a:xfrm>
          <a:prstGeom prst="rect">
            <a:avLst/>
          </a:prstGeom>
          <a:solidFill>
            <a:srgbClr val="FFF3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8458200" y="4142232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52"/>
                </a:solidFill>
              </a:rPr>
              <a:t>3.83%</a:t>
            </a:r>
            <a:endParaRPr lang="en-US" sz="2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1.5× la PI global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</a:rPr>
              <a:t>1,519 clientes</a:t>
            </a:r>
            <a:endParaRPr lang="en-US" sz="2400" dirty="0"/>
          </a:p>
        </p:txBody>
      </p:sp>
      <p:graphicFrame>
        <p:nvGraphicFramePr>
          <p:cNvPr id="33" name="Chart 5" descr=""/>
          <p:cNvGraphicFramePr/>
          <p:nvPr/>
        </p:nvGraphicFramePr>
        <p:xfrm>
          <a:off x="9829800" y="4142232"/>
          <a:ext cx="1737360" cy="9509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4" name="Text 25"/>
          <p:cNvSpPr txBox="1"/>
          <p:nvPr/>
        </p:nvSpPr>
        <p:spPr>
          <a:xfrm>
            <a:off x="548640" y="5349240"/>
            <a:ext cx="3611880" cy="640080"/>
          </a:xfrm>
          <a:prstGeom prst="rect">
            <a:avLst/>
          </a:prstGeom>
          <a:solidFill>
            <a:srgbClr val="F2F4F9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52"/>
                </a:solidFill>
              </a:rPr>
              <a:t>7 de 7  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Celdas con datos sobre la PI global</a:t>
            </a:r>
            <a:endParaRPr lang="en-US" sz="2200" dirty="0"/>
          </a:p>
        </p:txBody>
      </p:sp>
      <p:sp>
        <p:nvSpPr>
          <p:cNvPr id="35" name="Text 26"/>
          <p:cNvSpPr txBox="1"/>
          <p:nvPr/>
        </p:nvSpPr>
        <p:spPr>
          <a:xfrm>
            <a:off x="4251960" y="5349240"/>
            <a:ext cx="3611880" cy="640080"/>
          </a:xfrm>
          <a:prstGeom prst="rect">
            <a:avLst/>
          </a:prstGeom>
          <a:solidFill>
            <a:srgbClr val="F2F4F9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52"/>
                </a:solidFill>
              </a:rPr>
              <a:t>8,500  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Clientes en la zona de alerta (último mes)</a:t>
            </a:r>
            <a:endParaRPr lang="en-US" sz="2200" dirty="0"/>
          </a:p>
        </p:txBody>
      </p:sp>
      <p:sp>
        <p:nvSpPr>
          <p:cNvPr id="36" name="Text 27"/>
          <p:cNvSpPr txBox="1"/>
          <p:nvPr/>
        </p:nvSpPr>
        <p:spPr>
          <a:xfrm>
            <a:off x="7955280" y="5349240"/>
            <a:ext cx="3611880" cy="640080"/>
          </a:xfrm>
          <a:prstGeom prst="rect">
            <a:avLst/>
          </a:prstGeom>
          <a:solidFill>
            <a:srgbClr val="F2F4F9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52"/>
                </a:solidFill>
              </a:rPr>
              <a:t>12 de 12  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Meses sobre la PI global (celda mayor)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 · Persistencia por mes frente a la PI global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326880" y="36576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7E0"/>
          </a:solidFill>
          <a:ln w="15875">
            <a:solidFill>
              <a:srgbClr val="F2B01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326880" y="365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52"/>
                </a:solidFill>
              </a:rPr>
              <a:t>HISTORIAL ILUSTRATIVO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· perfil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Ene-25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Feb-25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Mar-25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Abr-25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 · AA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 ·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·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8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· AAA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· AA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·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760720"/>
            <a:ext cx="1188720" cy="365760"/>
          </a:xfrm>
          <a:prstGeom prst="rect">
            <a:avLst/>
          </a:prstGeom>
          <a:solidFill>
            <a:srgbClr val="E4F2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&lt; 1×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828800" y="5760720"/>
            <a:ext cx="1188720" cy="365760"/>
          </a:xfrm>
          <a:prstGeom prst="rect">
            <a:avLst/>
          </a:prstGeom>
          <a:solidFill>
            <a:srgbClr val="FFF1C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1× a 2×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3108960" y="5760720"/>
            <a:ext cx="1188720" cy="365760"/>
          </a:xfrm>
          <a:prstGeom prst="rect">
            <a:avLst/>
          </a:prstGeom>
          <a:solidFill>
            <a:srgbClr val="F8C9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2× a 3×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389120" y="5760720"/>
            <a:ext cx="1188720" cy="365760"/>
          </a:xfrm>
          <a:prstGeom prst="rect">
            <a:avLst/>
          </a:prstGeom>
          <a:solidFill>
            <a:srgbClr val="E5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≥ 3×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852160" y="57607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0"/>
                </a:solidFill>
              </a:rPr>
              <a:t>Valor = pérdida incurrida de la celda ÷ PI global del perfil. Se reporta cuando supera 1×.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esgo Pichincha">
  <a:themeElements>
    <a:clrScheme name="Riesgo Pichincha">
      <a:dk1>
        <a:srgbClr val="1A1F36"/>
      </a:dk1>
      <a:lt1>
        <a:srgbClr val="FFFFFF"/>
      </a:lt1>
      <a:dk2>
        <a:srgbClr val="1F2A52"/>
      </a:dk2>
      <a:lt2>
        <a:srgbClr val="F2F4F9"/>
      </a:lt2>
      <a:accent1>
        <a:srgbClr val="F2B01E"/>
      </a:accent1>
      <a:accent2>
        <a:srgbClr val="2F4B9A"/>
      </a:accent2>
      <a:accent3>
        <a:srgbClr val="D64545"/>
      </a:accent3>
      <a:accent4>
        <a:srgbClr val="3FA34D"/>
      </a:accent4>
      <a:accent5>
        <a:srgbClr val="EE8A4B"/>
      </a:accent5>
      <a:accent6>
        <a:srgbClr val="8E9AAF"/>
      </a:accent6>
      <a:hlink>
        <a:srgbClr val="2F4B9A"/>
      </a:hlink>
      <a:folHlink>
        <a:srgbClr val="8E9AAF"/>
      </a:folHlink>
    </a:clrScheme>
    <a:fontScheme name="Riesgo Pichinch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cruce segmentación y perfil</dc:title>
  <dc:subject>Maqueta</dc:subject>
  <dc:creator>Riesgo de Crédito</dc:creator>
  <cp:lastModifiedBy>Riesgo de Crédito</cp:lastModifiedBy>
  <cp:revision>1</cp:revision>
  <dcterms:created xsi:type="dcterms:W3CDTF">2026-10-16T04:24:18Z</dcterms:created>
  <dcterms:modified xsi:type="dcterms:W3CDTF">2026-10-16T04:24:18Z</dcterms:modified>
</cp:coreProperties>
</file>