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1E3D"/>
              </a:gs>
              <a:gs pos="100000">
                <a:srgbClr val="16335E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91273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ACTIVIDADES CDCC · BANCO PICHINCHA</a:t>
            </a:r>
            <a:endParaRPr lang="en-US" sz="12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329259"/>
            <a:ext cx="762000" cy="50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2583259"/>
            <a:ext cx="9810750" cy="141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spc="-100" kern="0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Inteligencia artificial en nuestros procesos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12800" y="4173141"/>
            <a:ext cx="817562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Copilot 365 Premium y cuatro oportunidades concretas de automatización para el equipo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24450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Cristian Carrión · Septiembre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6B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VENTAJA 1 · LICENCIAMIENTO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29320"/>
            <a:ext cx="10137775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B1E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Copilot 365 Premium: los modelos más potentes, sin costo extra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2308820"/>
            <a:ext cx="98107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la licencia Premium el equipo elige, dentro de Word, Excel, PowerPoint y Copilot Chat, entre los modelos de IA más avanzados de OpenAI y Anthropic.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977356"/>
            <a:ext cx="5175250" cy="1728391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7750" y="3209131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0B1E3D"/>
          </a:solidFill>
          <a:ln/>
        </p:spPr>
      </p:sp>
      <p:pic>
        <p:nvPicPr>
          <p:cNvPr id="7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9350" y="3310731"/>
            <a:ext cx="203200" cy="20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7750" y="3717131"/>
            <a:ext cx="485305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GPT-5.6 (OpenAI)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47750" y="4047331"/>
            <a:ext cx="485305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modelo por defecto de Copilot: tareas generales, redacción y los flujos que el equipo ya conoce.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00775" y="2977356"/>
            <a:ext cx="5175250" cy="1728391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32550" y="3209131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0B1E3D"/>
          </a:solidFill>
          <a:ln/>
        </p:spPr>
      </p:sp>
      <p:pic>
        <p:nvPicPr>
          <p:cNvPr id="12" name="Image 1" descr="Sta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34150" y="3310731"/>
            <a:ext cx="203200" cy="203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32550" y="3717131"/>
            <a:ext cx="485305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Opus 5 (Anthropic)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32550" y="4047331"/>
            <a:ext cx="485305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Razonamiento complejo, comparación de opciones y planificación multi-paso, sin costo por tokens en Copilot Chat.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12800" y="491212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Incluido, hoy, en: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800" y="5227042"/>
            <a:ext cx="727273" cy="36572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/>
        </p:spPr>
      </p:sp>
      <p:sp>
        <p:nvSpPr>
          <p:cNvPr id="17" name="Text 13"/>
          <p:cNvSpPr/>
          <p:nvPr/>
        </p:nvSpPr>
        <p:spPr>
          <a:xfrm>
            <a:off x="990600" y="5303242"/>
            <a:ext cx="4224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Word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1641673" y="5227042"/>
            <a:ext cx="729456" cy="36572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/>
        </p:spPr>
      </p:sp>
      <p:sp>
        <p:nvSpPr>
          <p:cNvPr id="19" name="Text 15"/>
          <p:cNvSpPr/>
          <p:nvPr/>
        </p:nvSpPr>
        <p:spPr>
          <a:xfrm>
            <a:off x="1819473" y="5303242"/>
            <a:ext cx="4246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Excel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472730" y="5227042"/>
            <a:ext cx="1158875" cy="36572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/>
        </p:spPr>
      </p:sp>
      <p:sp>
        <p:nvSpPr>
          <p:cNvPr id="21" name="Text 17"/>
          <p:cNvSpPr/>
          <p:nvPr/>
        </p:nvSpPr>
        <p:spPr>
          <a:xfrm>
            <a:off x="2650530" y="5303242"/>
            <a:ext cx="8540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733205" y="5227042"/>
            <a:ext cx="1212751" cy="36572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/>
        </p:spPr>
      </p:sp>
      <p:sp>
        <p:nvSpPr>
          <p:cNvPr id="23" name="Text 19"/>
          <p:cNvSpPr/>
          <p:nvPr/>
        </p:nvSpPr>
        <p:spPr>
          <a:xfrm>
            <a:off x="3911005" y="5303242"/>
            <a:ext cx="907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Copilot Chat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047555" y="5227042"/>
            <a:ext cx="1418233" cy="36572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/>
        </p:spPr>
      </p:sp>
      <p:sp>
        <p:nvSpPr>
          <p:cNvPr id="25" name="Text 21"/>
          <p:cNvSpPr/>
          <p:nvPr/>
        </p:nvSpPr>
        <p:spPr>
          <a:xfrm>
            <a:off x="5225355" y="5303242"/>
            <a:ext cx="11134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Copilot Cowork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12800" y="6238280"/>
            <a:ext cx="36898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Microsoft 365 Copilot — Model Choice, 2026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1065966" y="6238280"/>
            <a:ext cx="3640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/ 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6B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VENTAJA 2 · MONITOREO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03920"/>
            <a:ext cx="1046480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B1E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Alertas tempranas en una sola vista por cliente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790601"/>
            <a:ext cx="98107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Buscar por cédula o nombre y ver, de un vistazo, el perfil en Empresas, PES y Consumo — con su estabilidad frente al mes anterior.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433737"/>
            <a:ext cx="10560050" cy="2673152"/>
          </a:xfrm>
          <a:prstGeom prst="roundRect">
            <a:avLst>
              <a:gd name="adj" fmla="val 5582"/>
            </a:avLst>
          </a:prstGeom>
          <a:solidFill>
            <a:srgbClr val="F2F4F7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325" y="2694087"/>
            <a:ext cx="10039350" cy="676870"/>
          </a:xfrm>
          <a:prstGeom prst="roundRect">
            <a:avLst>
              <a:gd name="adj" fmla="val 1454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7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2700" y="2943523"/>
            <a:ext cx="177800" cy="17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62100" y="2916932"/>
            <a:ext cx="21357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Cédula o nombre del cliente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012859" y="2836962"/>
            <a:ext cx="896441" cy="391120"/>
          </a:xfrm>
          <a:prstGeom prst="roundRect">
            <a:avLst>
              <a:gd name="adj" fmla="val 19483"/>
            </a:avLst>
          </a:prstGeom>
          <a:solidFill>
            <a:srgbClr val="0B1E3D"/>
          </a:solidFill>
          <a:ln/>
        </p:spPr>
      </p:sp>
      <p:sp>
        <p:nvSpPr>
          <p:cNvPr id="10" name="Text 7"/>
          <p:cNvSpPr/>
          <p:nvPr/>
        </p:nvSpPr>
        <p:spPr>
          <a:xfrm>
            <a:off x="10216059" y="2925862"/>
            <a:ext cx="5408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Buscar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76325" y="3555107"/>
            <a:ext cx="3240584" cy="1291431"/>
          </a:xfrm>
          <a:prstGeom prst="roundRect">
            <a:avLst>
              <a:gd name="adj" fmla="val 762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257300" y="3736082"/>
            <a:ext cx="296499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Alertas Empresas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257300" y="4035723"/>
            <a:ext cx="733524" cy="314920"/>
          </a:xfrm>
          <a:prstGeom prst="roundRect">
            <a:avLst>
              <a:gd name="adj" fmla="val 50000"/>
            </a:avLst>
          </a:prstGeom>
          <a:solidFill>
            <a:srgbClr val="FDF3D8"/>
          </a:solidFill>
          <a:ln/>
        </p:spPr>
      </p:sp>
      <p:sp>
        <p:nvSpPr>
          <p:cNvPr id="14" name="Text 11"/>
          <p:cNvSpPr/>
          <p:nvPr/>
        </p:nvSpPr>
        <p:spPr>
          <a:xfrm>
            <a:off x="1409700" y="4086523"/>
            <a:ext cx="4795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61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Medio</a:t>
            </a:r>
            <a:endParaRPr lang="en-US" sz="1200" dirty="0"/>
          </a:p>
        </p:txBody>
      </p:sp>
      <p:pic>
        <p:nvPicPr>
          <p:cNvPr id="15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57300" y="4476353"/>
            <a:ext cx="165100" cy="1651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85900" y="4452243"/>
            <a:ext cx="16897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Estable vs. mes anterior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475659" y="3555107"/>
            <a:ext cx="3240683" cy="1291431"/>
          </a:xfrm>
          <a:prstGeom prst="roundRect">
            <a:avLst>
              <a:gd name="adj" fmla="val 762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656634" y="3736082"/>
            <a:ext cx="296509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Alertas PES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656634" y="4035723"/>
            <a:ext cx="593527" cy="314920"/>
          </a:xfrm>
          <a:prstGeom prst="roundRect">
            <a:avLst>
              <a:gd name="adj" fmla="val 50000"/>
            </a:avLst>
          </a:prstGeom>
          <a:solidFill>
            <a:srgbClr val="FBE3D0"/>
          </a:solidFill>
          <a:ln/>
        </p:spPr>
      </p:sp>
      <p:sp>
        <p:nvSpPr>
          <p:cNvPr id="20" name="Text 16"/>
          <p:cNvSpPr/>
          <p:nvPr/>
        </p:nvSpPr>
        <p:spPr>
          <a:xfrm>
            <a:off x="4809034" y="4086523"/>
            <a:ext cx="3395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3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Alto</a:t>
            </a:r>
            <a:endParaRPr lang="en-US" sz="1200" dirty="0"/>
          </a:p>
        </p:txBody>
      </p:sp>
      <p:pic>
        <p:nvPicPr>
          <p:cNvPr id="21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56634" y="4476353"/>
            <a:ext cx="165100" cy="1651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85234" y="4452243"/>
            <a:ext cx="15577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Subió un nivel vs. julio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875091" y="3555107"/>
            <a:ext cx="3240584" cy="1291431"/>
          </a:xfrm>
          <a:prstGeom prst="roundRect">
            <a:avLst>
              <a:gd name="adj" fmla="val 762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056066" y="3736082"/>
            <a:ext cx="296499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Alertas Consumo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056066" y="4035723"/>
            <a:ext cx="618827" cy="314920"/>
          </a:xfrm>
          <a:prstGeom prst="roundRect">
            <a:avLst>
              <a:gd name="adj" fmla="val 50000"/>
            </a:avLst>
          </a:prstGeom>
          <a:solidFill>
            <a:srgbClr val="DCF5E3"/>
          </a:solidFill>
          <a:ln/>
        </p:spPr>
      </p:sp>
      <p:sp>
        <p:nvSpPr>
          <p:cNvPr id="26" name="Text 21"/>
          <p:cNvSpPr/>
          <p:nvPr/>
        </p:nvSpPr>
        <p:spPr>
          <a:xfrm>
            <a:off x="8208466" y="4086523"/>
            <a:ext cx="3648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7A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Bajo</a:t>
            </a:r>
            <a:endParaRPr lang="en-US" sz="1200" dirty="0"/>
          </a:p>
        </p:txBody>
      </p:sp>
      <p:pic>
        <p:nvPicPr>
          <p:cNvPr id="27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6066" y="4476353"/>
            <a:ext cx="165100" cy="1651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284666" y="4452243"/>
            <a:ext cx="16897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Estable vs. mes anterior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812800" y="5287863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Diseño ilustrativo — no corresponde a datos reales de clientes.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12800" y="6238280"/>
            <a:ext cx="16841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CDCC · Banco Pichincha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1065966" y="6238280"/>
            <a:ext cx="3640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/ 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6B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VENTAJA 3 · AGENT MODE EN EXCEL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03920"/>
            <a:ext cx="10464800" cy="843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B1E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Menos tiempo actualizando tableros, más tiempo interpretando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2199481"/>
            <a:ext cx="1013777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Mode planifica y ejecuta tareas de varios pasos dentro del libro: refresca tablas y gráficos con el nuevo corte.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611537"/>
            <a:ext cx="5175250" cy="1895872"/>
          </a:xfrm>
          <a:prstGeom prst="roundRect">
            <a:avLst>
              <a:gd name="adj" fmla="val 653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750" y="2843312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2F4F7"/>
          </a:solidFill>
          <a:ln/>
        </p:spPr>
      </p:sp>
      <p:pic>
        <p:nvPicPr>
          <p:cNvPr id="7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36650" y="2932212"/>
            <a:ext cx="177800" cy="17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4950" y="2914452"/>
            <a:ext cx="17843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Hoy: proceso manual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47750" y="3300512"/>
            <a:ext cx="4853051" cy="1000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Copiar el nuevo corte a cada tabla</a:t>
            </a:r>
            <a:endParaRPr lang="en-US" sz="1200" dirty="0"/>
          </a:p>
          <a:p>
            <a:pPr algn="l"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Rehacer los gráficos uno por uno</a:t>
            </a:r>
            <a:endParaRPr lang="en-US" sz="1200" dirty="0"/>
          </a:p>
          <a:p>
            <a:pPr algn="l"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Revisar que cuadren los porcentajes</a:t>
            </a:r>
            <a:endParaRPr lang="en-US" sz="1200" dirty="0"/>
          </a:p>
          <a:p>
            <a:pPr algn="l"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Repetir por cada tablero: Preciso, Micro, PES...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00775" y="2611537"/>
            <a:ext cx="5175250" cy="1895872"/>
          </a:xfrm>
          <a:prstGeom prst="roundRect">
            <a:avLst>
              <a:gd name="adj" fmla="val 6531"/>
            </a:avLst>
          </a:prstGeom>
          <a:solidFill>
            <a:srgbClr val="FEF8E7"/>
          </a:solidFill>
          <a:ln w="6350">
            <a:solidFill>
              <a:srgbClr val="F2B70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32550" y="2843312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0B1E3D"/>
          </a:solidFill>
          <a:ln/>
        </p:spPr>
      </p:sp>
      <p:pic>
        <p:nvPicPr>
          <p:cNvPr id="12" name="Image 1" descr="Light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21450" y="2932212"/>
            <a:ext cx="177800" cy="177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89750" y="2914452"/>
            <a:ext cx="13903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Agent Mode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32550" y="3300512"/>
            <a:ext cx="4853051" cy="1000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Cargar la base con el nuevo corte</a:t>
            </a:r>
            <a:endParaRPr lang="en-US" sz="1200" dirty="0"/>
          </a:p>
          <a:p>
            <a:pPr algn="l"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Mode refresca tablas y gráficos</a:t>
            </a:r>
            <a:endParaRPr lang="en-US" sz="1200" dirty="0"/>
          </a:p>
          <a:p>
            <a:pPr algn="l"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equipo valida el resultado</a:t>
            </a:r>
            <a:endParaRPr lang="en-US" sz="1200" dirty="0"/>
          </a:p>
          <a:p>
            <a:pPr algn="l" marL="342900" indent="-3429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Mismo tiempo, más tableros cubiertos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12800" y="468838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Aplicable hoy en: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800" y="5003304"/>
            <a:ext cx="4053086" cy="391120"/>
          </a:xfrm>
          <a:prstGeom prst="roundRect">
            <a:avLst>
              <a:gd name="adj" fmla="val 19483"/>
            </a:avLst>
          </a:prstGeom>
          <a:solidFill>
            <a:srgbClr val="F2F4F7"/>
          </a:solidFill>
          <a:ln/>
        </p:spPr>
      </p:sp>
      <p:sp>
        <p:nvSpPr>
          <p:cNvPr id="17" name="Text 13"/>
          <p:cNvSpPr/>
          <p:nvPr/>
        </p:nvSpPr>
        <p:spPr>
          <a:xfrm>
            <a:off x="990600" y="5092204"/>
            <a:ext cx="38084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Monitoreo del Perfil de Riesgo — Preciso · Micro · PES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967486" y="5003304"/>
            <a:ext cx="3578423" cy="391120"/>
          </a:xfrm>
          <a:prstGeom prst="roundRect">
            <a:avLst>
              <a:gd name="adj" fmla="val 19483"/>
            </a:avLst>
          </a:prstGeom>
          <a:solidFill>
            <a:srgbClr val="F2F4F7"/>
          </a:solidFill>
          <a:ln/>
        </p:spPr>
      </p:sp>
      <p:sp>
        <p:nvSpPr>
          <p:cNvPr id="19" name="Text 15"/>
          <p:cNvSpPr/>
          <p:nvPr/>
        </p:nvSpPr>
        <p:spPr>
          <a:xfrm>
            <a:off x="5145286" y="5092204"/>
            <a:ext cx="33195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Comparación entre corridas — Cartera vencida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12800" y="6238280"/>
            <a:ext cx="16841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CDCC · Banco Pichincha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065966" y="6238280"/>
            <a:ext cx="3640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/ 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6B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VENTAJA 4 · ANÁLISIS DE DETERIORO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80120"/>
            <a:ext cx="1046480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B1E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justificar caso por caso a entender el patrón agregado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943001"/>
            <a:ext cx="1013777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plataforma en Python toma las bases de información y entrega un resumen visual agregado; el equipo se enfoca en interpretar.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6775" y="2431256"/>
            <a:ext cx="2343150" cy="1621631"/>
          </a:xfrm>
          <a:prstGeom prst="roundRect">
            <a:avLst>
              <a:gd name="adj" fmla="val 7636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35150" y="2637631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0B1E3D"/>
          </a:solidFill>
          <a:ln/>
        </p:spPr>
      </p:sp>
      <p:pic>
        <p:nvPicPr>
          <p:cNvPr id="7" name="Image 0" descr="Databa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36750" y="2739231"/>
            <a:ext cx="203200" cy="20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79153" y="3132931"/>
            <a:ext cx="111839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Archivos base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44194" y="3419872"/>
            <a:ext cx="19883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Bases de clientes con deterioro de perfil</a:t>
            </a:r>
            <a:endParaRPr lang="en-US" sz="1200" dirty="0"/>
          </a:p>
        </p:txBody>
      </p:sp>
      <p:pic>
        <p:nvPicPr>
          <p:cNvPr id="10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13100" y="3172222"/>
            <a:ext cx="355600" cy="1397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71875" y="2431256"/>
            <a:ext cx="2343150" cy="1621631"/>
          </a:xfrm>
          <a:prstGeom prst="roundRect">
            <a:avLst>
              <a:gd name="adj" fmla="val 7636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40250" y="2637631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0B1E3D"/>
          </a:solidFill>
          <a:ln/>
        </p:spPr>
      </p:sp>
      <p:pic>
        <p:nvPicPr>
          <p:cNvPr id="13" name="Image 2" descr="Setting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41850" y="2739231"/>
            <a:ext cx="203200" cy="203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44466" y="3132931"/>
            <a:ext cx="119786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Procesamiento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749294" y="3419872"/>
            <a:ext cx="19883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agrupa variables comunes al deterioro</a:t>
            </a:r>
            <a:endParaRPr lang="en-US" sz="1200" dirty="0"/>
          </a:p>
        </p:txBody>
      </p:sp>
      <p:pic>
        <p:nvPicPr>
          <p:cNvPr id="16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18200" y="3172222"/>
            <a:ext cx="355600" cy="1397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76975" y="2431256"/>
            <a:ext cx="2343150" cy="1621631"/>
          </a:xfrm>
          <a:prstGeom prst="roundRect">
            <a:avLst>
              <a:gd name="adj" fmla="val 7636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245350" y="2637631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0B1E3D"/>
          </a:solidFill>
          <a:ln/>
        </p:spPr>
      </p:sp>
      <p:pic>
        <p:nvPicPr>
          <p:cNvPr id="19" name="Image 4" descr="Char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46950" y="2739231"/>
            <a:ext cx="203200" cy="203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40853" y="3132931"/>
            <a:ext cx="181529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Visualización agregada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454394" y="3419872"/>
            <a:ext cx="19883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Patrones del grupo, no expedientes uno a uno</a:t>
            </a:r>
            <a:endParaRPr lang="en-US" sz="1200" dirty="0"/>
          </a:p>
        </p:txBody>
      </p:sp>
      <p:pic>
        <p:nvPicPr>
          <p:cNvPr id="22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23300" y="3172222"/>
            <a:ext cx="355600" cy="1397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982075" y="2431256"/>
            <a:ext cx="2343150" cy="1621631"/>
          </a:xfrm>
          <a:prstGeom prst="roundRect">
            <a:avLst>
              <a:gd name="adj" fmla="val 7636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950450" y="2637631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0B1E3D"/>
          </a:solidFill>
          <a:ln/>
        </p:spPr>
      </p:sp>
      <p:pic>
        <p:nvPicPr>
          <p:cNvPr id="25" name="Image 6" descr="Users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052050" y="2739231"/>
            <a:ext cx="203200" cy="203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571038" y="3132931"/>
            <a:ext cx="116522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Interpretación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9159494" y="3419872"/>
            <a:ext cx="19883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equipo concluye y redacta el hallazgo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654304" y="4310063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plataforma organiza la información — el equipo decide qué significa.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812800" y="6238280"/>
            <a:ext cx="16841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CDCC · Banco Pichincha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11065966" y="6238280"/>
            <a:ext cx="3640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/ 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1E3D"/>
              </a:gs>
              <a:gs pos="100000">
                <a:srgbClr val="16335E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6866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220474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¿Por dónde empezamos?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800" y="30123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6" name="Text 4"/>
          <p:cNvSpPr/>
          <p:nvPr/>
        </p:nvSpPr>
        <p:spPr>
          <a:xfrm>
            <a:off x="937220" y="3065760"/>
            <a:ext cx="1575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0800" y="3065760"/>
            <a:ext cx="395853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9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Activar Copilot Premium para el equipo de CDCC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35457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9" name="Text 7"/>
          <p:cNvSpPr/>
          <p:nvPr/>
        </p:nvSpPr>
        <p:spPr>
          <a:xfrm>
            <a:off x="937220" y="3599160"/>
            <a:ext cx="1575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0800" y="3599160"/>
            <a:ext cx="397223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9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Definir el alcance del piloto de alertas unificadas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40791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12" name="Text 10"/>
          <p:cNvSpPr/>
          <p:nvPr/>
        </p:nvSpPr>
        <p:spPr>
          <a:xfrm>
            <a:off x="937220" y="4132560"/>
            <a:ext cx="1575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0800" y="4132560"/>
            <a:ext cx="381147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9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Probar Agent Mode en un tablero mensual real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800" y="46125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20" y="4665960"/>
            <a:ext cx="1575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0800" y="4665960"/>
            <a:ext cx="527746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9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Explorar un primer prototipo en Python para el análisis agregado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6841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CDCC · Banco Pichincha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065966" y="6238280"/>
            <a:ext cx="3640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/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en Nuestros Procesos — CDCC</dc:title>
  <dc:subject>PptxGenJS Presentation</dc:subject>
  <dc:creator>PptxGenJS</dc:creator>
  <cp:lastModifiedBy>PptxGenJS</cp:lastModifiedBy>
  <cp:revision>1</cp:revision>
  <dcterms:created xsi:type="dcterms:W3CDTF">2026-09-21T05:07:18Z</dcterms:created>
  <dcterms:modified xsi:type="dcterms:W3CDTF">2026-09-21T05:07:18Z</dcterms:modified>
</cp:coreProperties>
</file>