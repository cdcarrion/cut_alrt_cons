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B1E3D"/>
              </a:gs>
              <a:gs pos="100000">
                <a:srgbClr val="16335E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1913185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ACTIVIDADES CDCC · BANCO PICHINCHA</a:t>
            </a:r>
            <a:endParaRPr lang="en-US" sz="1200" dirty="0"/>
          </a:p>
        </p:txBody>
      </p:sp>
      <p:pic>
        <p:nvPicPr>
          <p:cNvPr id="4" name="Image 0" descr="line">    </p:cNvPr>
          <p:cNvPicPr>
            <a:picLocks noChangeAspect="1"/>
          </p:cNvPicPr>
          <p:nvPr/>
        </p:nvPicPr>
        <p:blipFill>
          <a:blip r:embed="rId1"/>
          <a:srcRect l="-1136" r="-1136" t="0" b="0"/>
          <a:stretch/>
        </p:blipFill>
        <p:spPr>
          <a:xfrm>
            <a:off x="812800" y="2329744"/>
            <a:ext cx="762000" cy="4967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2800" y="2582616"/>
            <a:ext cx="9810750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60"/>
              </a:lnSpc>
              <a:buNone/>
            </a:pPr>
            <a:r>
              <a:rPr lang="en-US" sz="5200" b="1" spc="-100" kern="0" dirty="0">
                <a:solidFill>
                  <a:srgbClr val="FBFBF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Inteligencia artificial en nuestros procesos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812800" y="4172656"/>
            <a:ext cx="817562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D3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Copilot 365 Premium y cuatro oportunidades concretas de automatización para el equipo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2800" y="6238240"/>
            <a:ext cx="23922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FA0B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Cristian Carrión · Septiembre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6B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VENTAJA 1 · LICENCIAMIENTO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29360"/>
            <a:ext cx="10137775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0B1E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Copilot 365 Premium: los modelos más potentes, sin costo extra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2308860"/>
            <a:ext cx="981075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 la licencia Premium el equipo elige, dentro de Word, Excel, PowerPoint y Copilot Chat, entre los modelos de IA más avanzados de OpenAI y Anthropic.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977515"/>
            <a:ext cx="5175250" cy="1724801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5916" y="3207456"/>
            <a:ext cx="406400" cy="406400"/>
          </a:xfrm>
          <a:prstGeom prst="roundRect">
            <a:avLst>
              <a:gd name="adj" fmla="val 25000"/>
            </a:avLst>
          </a:prstGeom>
          <a:solidFill>
            <a:srgbClr val="0B1E3D"/>
          </a:solidFill>
          <a:ln/>
        </p:spPr>
      </p:sp>
      <p:pic>
        <p:nvPicPr>
          <p:cNvPr id="7" name="Image 0" descr="Light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47516" y="3309056"/>
            <a:ext cx="203200" cy="20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45916" y="3715456"/>
            <a:ext cx="485683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GPT-5.6 (OpenAI)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45916" y="4045656"/>
            <a:ext cx="485683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modelo por defecto de Copilot: tareas generales, redacción y los flujos que el equipo ya conoce.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00775" y="2977515"/>
            <a:ext cx="5175250" cy="1724801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0716" y="3207456"/>
            <a:ext cx="406400" cy="406400"/>
          </a:xfrm>
          <a:prstGeom prst="roundRect">
            <a:avLst>
              <a:gd name="adj" fmla="val 25000"/>
            </a:avLst>
          </a:prstGeom>
          <a:solidFill>
            <a:srgbClr val="0B1E3D"/>
          </a:solidFill>
          <a:ln/>
        </p:spPr>
      </p:sp>
      <p:pic>
        <p:nvPicPr>
          <p:cNvPr id="12" name="Image 1" descr="Sta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2316" y="3309056"/>
            <a:ext cx="203200" cy="203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30716" y="3715456"/>
            <a:ext cx="485683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Claude Opus 5 (Anthropic)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430716" y="4045656"/>
            <a:ext cx="485683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Razonamiento complejo, comparación de opciones y planificación multi-paso, sin costo por tokens en Copilot Chat.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812800" y="490869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Incluido, hoy, en: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2800" y="5223652"/>
            <a:ext cx="712294" cy="36576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</p:sp>
      <p:sp>
        <p:nvSpPr>
          <p:cNvPr id="17" name="Text 13"/>
          <p:cNvSpPr/>
          <p:nvPr/>
        </p:nvSpPr>
        <p:spPr>
          <a:xfrm>
            <a:off x="990600" y="5299852"/>
            <a:ext cx="40749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Word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1626694" y="5223652"/>
            <a:ext cx="716915" cy="36576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</p:sp>
      <p:sp>
        <p:nvSpPr>
          <p:cNvPr id="19" name="Text 15"/>
          <p:cNvSpPr/>
          <p:nvPr/>
        </p:nvSpPr>
        <p:spPr>
          <a:xfrm>
            <a:off x="1804494" y="5299852"/>
            <a:ext cx="41211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Excel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2445209" y="5223652"/>
            <a:ext cx="1144199" cy="36576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</p:sp>
      <p:sp>
        <p:nvSpPr>
          <p:cNvPr id="21" name="Text 17"/>
          <p:cNvSpPr/>
          <p:nvPr/>
        </p:nvSpPr>
        <p:spPr>
          <a:xfrm>
            <a:off x="2623009" y="5299852"/>
            <a:ext cx="83939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PowerPoint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3691008" y="5223652"/>
            <a:ext cx="1197081" cy="36576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</p:sp>
      <p:sp>
        <p:nvSpPr>
          <p:cNvPr id="23" name="Text 19"/>
          <p:cNvSpPr/>
          <p:nvPr/>
        </p:nvSpPr>
        <p:spPr>
          <a:xfrm>
            <a:off x="3868808" y="5299852"/>
            <a:ext cx="89228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Copilot Chat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4989689" y="5223652"/>
            <a:ext cx="1398905" cy="36576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</p:sp>
      <p:sp>
        <p:nvSpPr>
          <p:cNvPr id="25" name="Text 21"/>
          <p:cNvSpPr/>
          <p:nvPr/>
        </p:nvSpPr>
        <p:spPr>
          <a:xfrm>
            <a:off x="5167489" y="5299852"/>
            <a:ext cx="109410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Copilot Cowork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812800" y="6238241"/>
            <a:ext cx="3648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B98A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Fuente: Microsoft 365 Copilot — Model Choice, 2026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11069391" y="6238241"/>
            <a:ext cx="36060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B98A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/ 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6B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VENTAJA 2 · MONITOREO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03961"/>
            <a:ext cx="10464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dirty="0">
                <a:solidFill>
                  <a:srgbClr val="0B1E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Alertas tempranas en una sola vista por cliente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1790700"/>
            <a:ext cx="981075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Buscar por cédula o nombre y ver, de un vistazo, el perfil en Empresas, PES y Consumo — con su estabilidad frente al mes anterior.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5975" y="2202816"/>
            <a:ext cx="10560050" cy="2662343"/>
          </a:xfrm>
          <a:prstGeom prst="roundRect">
            <a:avLst>
              <a:gd name="adj" fmla="val 5605"/>
            </a:avLst>
          </a:prstGeom>
          <a:solidFill>
            <a:srgbClr val="F2F4F7"/>
          </a:solidFill>
          <a:ln w="6350">
            <a:solidFill>
              <a:srgbClr val="E3E6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4491" y="2461330"/>
            <a:ext cx="10043019" cy="673241"/>
          </a:xfrm>
          <a:prstGeom prst="roundRect">
            <a:avLst>
              <a:gd name="adj" fmla="val 14620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</p:spPr>
      </p:sp>
      <p:pic>
        <p:nvPicPr>
          <p:cNvPr id="7" name="Image 0" descr="Search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79031" y="2709052"/>
            <a:ext cx="177800" cy="177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8431" y="2682382"/>
            <a:ext cx="2100409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8B98A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Cédula o nombre del cliente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030213" y="2602371"/>
            <a:ext cx="882756" cy="391160"/>
          </a:xfrm>
          <a:prstGeom prst="roundRect">
            <a:avLst>
              <a:gd name="adj" fmla="val 19481"/>
            </a:avLst>
          </a:prstGeom>
          <a:solidFill>
            <a:srgbClr val="0B1E3D"/>
          </a:solidFill>
          <a:ln/>
        </p:spPr>
      </p:sp>
      <p:sp>
        <p:nvSpPr>
          <p:cNvPr id="10" name="Text 7"/>
          <p:cNvSpPr/>
          <p:nvPr/>
        </p:nvSpPr>
        <p:spPr>
          <a:xfrm>
            <a:off x="10233413" y="2691271"/>
            <a:ext cx="52715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Buscar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074491" y="3318721"/>
            <a:ext cx="3241816" cy="1287921"/>
          </a:xfrm>
          <a:prstGeom prst="roundRect">
            <a:avLst>
              <a:gd name="adj" fmla="val 7642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253631" y="3497862"/>
            <a:ext cx="2970041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Alertas Empresas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253631" y="3797582"/>
            <a:ext cx="731802" cy="314960"/>
          </a:xfrm>
          <a:prstGeom prst="roundRect">
            <a:avLst>
              <a:gd name="adj" fmla="val 50000"/>
            </a:avLst>
          </a:prstGeom>
          <a:solidFill>
            <a:srgbClr val="FDF3D8"/>
          </a:solidFill>
          <a:ln/>
        </p:spPr>
      </p:sp>
      <p:sp>
        <p:nvSpPr>
          <p:cNvPr id="14" name="Text 11"/>
          <p:cNvSpPr/>
          <p:nvPr/>
        </p:nvSpPr>
        <p:spPr>
          <a:xfrm>
            <a:off x="1406031" y="3848382"/>
            <a:ext cx="47780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8A61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Medio</a:t>
            </a:r>
            <a:endParaRPr lang="en-US" sz="1200" dirty="0"/>
          </a:p>
        </p:txBody>
      </p:sp>
      <p:pic>
        <p:nvPicPr>
          <p:cNvPr id="15" name="Image 1" descr="CheckCircl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253631" y="4238273"/>
            <a:ext cx="165100" cy="1651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482231" y="4214143"/>
            <a:ext cx="167647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Estable vs. mes anterior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475057" y="3318721"/>
            <a:ext cx="3241852" cy="1287921"/>
          </a:xfrm>
          <a:prstGeom prst="roundRect">
            <a:avLst>
              <a:gd name="adj" fmla="val 7642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4654197" y="3497862"/>
            <a:ext cx="2970077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Alertas PES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654197" y="3797582"/>
            <a:ext cx="581695" cy="314960"/>
          </a:xfrm>
          <a:prstGeom prst="roundRect">
            <a:avLst>
              <a:gd name="adj" fmla="val 50000"/>
            </a:avLst>
          </a:prstGeom>
          <a:solidFill>
            <a:srgbClr val="FBE3D0"/>
          </a:solidFill>
          <a:ln/>
        </p:spPr>
      </p:sp>
      <p:sp>
        <p:nvSpPr>
          <p:cNvPr id="20" name="Text 16"/>
          <p:cNvSpPr/>
          <p:nvPr/>
        </p:nvSpPr>
        <p:spPr>
          <a:xfrm>
            <a:off x="4806597" y="3848382"/>
            <a:ext cx="32769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4530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Alto</a:t>
            </a:r>
            <a:endParaRPr lang="en-US" sz="1200" dirty="0"/>
          </a:p>
        </p:txBody>
      </p:sp>
      <p:pic>
        <p:nvPicPr>
          <p:cNvPr id="21" name="Image 2" descr="Warni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54197" y="4238273"/>
            <a:ext cx="165100" cy="1651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882797" y="4214143"/>
            <a:ext cx="154036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Subió un nivel vs. julio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7875658" y="3318721"/>
            <a:ext cx="3241852" cy="1287921"/>
          </a:xfrm>
          <a:prstGeom prst="roundRect">
            <a:avLst>
              <a:gd name="adj" fmla="val 7642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8054799" y="3497862"/>
            <a:ext cx="2970077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Alertas Consumo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8054799" y="3797582"/>
            <a:ext cx="608577" cy="314960"/>
          </a:xfrm>
          <a:prstGeom prst="roundRect">
            <a:avLst>
              <a:gd name="adj" fmla="val 50000"/>
            </a:avLst>
          </a:prstGeom>
          <a:solidFill>
            <a:srgbClr val="DCF5E3"/>
          </a:solidFill>
          <a:ln/>
        </p:spPr>
      </p:sp>
      <p:sp>
        <p:nvSpPr>
          <p:cNvPr id="26" name="Text 21"/>
          <p:cNvSpPr/>
          <p:nvPr/>
        </p:nvSpPr>
        <p:spPr>
          <a:xfrm>
            <a:off x="8207199" y="3848382"/>
            <a:ext cx="35457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7A4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Bajo</a:t>
            </a:r>
            <a:endParaRPr lang="en-US" sz="1200" dirty="0"/>
          </a:p>
        </p:txBody>
      </p:sp>
      <p:pic>
        <p:nvPicPr>
          <p:cNvPr id="27" name="Image 3" descr="CheckCirc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054799" y="4238273"/>
            <a:ext cx="165100" cy="1651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283399" y="4214143"/>
            <a:ext cx="167647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Estable vs. mes anterior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812800" y="5046134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B98A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Diseño ilustrativo — no corresponde a datos reales de clientes.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812800" y="6238241"/>
            <a:ext cx="169506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B98A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CDCC · Banco Pichincha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11069391" y="6238241"/>
            <a:ext cx="36060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B98A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/ 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6B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VENTAJA 3 · AGENT MODE EN EXCEL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53161"/>
            <a:ext cx="10464800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dirty="0">
                <a:solidFill>
                  <a:srgbClr val="0B1E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Menos tiempo actualizando tableros, más tiempo interpretando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12800" y="1659891"/>
            <a:ext cx="1046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Así se vería: Agent Mode toma el nuevo corte y refresca las pestañas del tablero — el equipo solo valida.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15975" y="2012316"/>
            <a:ext cx="10560050" cy="2765213"/>
          </a:xfrm>
          <a:prstGeom prst="roundRect">
            <a:avLst>
              <a:gd name="adj" fmla="val 5397"/>
            </a:avLst>
          </a:prstGeom>
          <a:solidFill>
            <a:srgbClr val="F2F4F7"/>
          </a:solidFill>
          <a:ln w="6350">
            <a:solidFill>
              <a:srgbClr val="E3E6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3691" y="2220030"/>
            <a:ext cx="875171" cy="368441"/>
          </a:xfrm>
          <a:prstGeom prst="roundRect">
            <a:avLst>
              <a:gd name="adj" fmla="val 16373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02831" y="2297571"/>
            <a:ext cx="56769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Preciso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981412" y="2220030"/>
            <a:ext cx="749688" cy="368441"/>
          </a:xfrm>
          <a:prstGeom prst="roundRect">
            <a:avLst>
              <a:gd name="adj" fmla="val 16373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60552" y="2297571"/>
            <a:ext cx="44220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Micro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10475" y="2221371"/>
            <a:ext cx="632354" cy="365760"/>
          </a:xfrm>
          <a:prstGeom prst="roundRect">
            <a:avLst>
              <a:gd name="adj" fmla="val 17361"/>
            </a:avLst>
          </a:prstGeom>
          <a:solidFill>
            <a:srgbClr val="0B1E3D"/>
          </a:solidFill>
          <a:ln/>
        </p:spPr>
      </p:sp>
      <p:sp>
        <p:nvSpPr>
          <p:cNvPr id="11" name="Text 9"/>
          <p:cNvSpPr/>
          <p:nvPr/>
        </p:nvSpPr>
        <p:spPr>
          <a:xfrm>
            <a:off x="2988275" y="2297571"/>
            <a:ext cx="32755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23691" y="2911052"/>
            <a:ext cx="4440484" cy="1469531"/>
          </a:xfrm>
          <a:prstGeom prst="roundRect">
            <a:avLst>
              <a:gd name="adj" fmla="val 6698"/>
            </a:avLst>
          </a:prstGeom>
          <a:solidFill>
            <a:srgbClr val="FFFFFF">
              <a:alpha val="60000"/>
            </a:srgbClr>
          </a:solidFill>
          <a:ln w="6350">
            <a:solidFill>
              <a:srgbClr val="E3E6E4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28231" y="3115593"/>
            <a:ext cx="415234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50" kern="0" dirty="0">
                <a:solidFill>
                  <a:srgbClr val="8B98AC">
                    <a:alpha val="60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ANTES · CORTE JUL-2026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28231" y="3392453"/>
            <a:ext cx="415234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A99">
                    <a:alpha val="60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Ratio 30 · perfil Rechazado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28231" y="3669312"/>
            <a:ext cx="4152346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8B98AC">
                    <a:alpha val="60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26,3%</a:t>
            </a:r>
            <a:endParaRPr lang="en-US" sz="3800" dirty="0"/>
          </a:p>
        </p:txBody>
      </p:sp>
      <p:pic>
        <p:nvPicPr>
          <p:cNvPr id="16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18200" y="3202587"/>
            <a:ext cx="355600" cy="1397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5892800" y="3405787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0B1E3D"/>
          </a:solidFill>
          <a:ln/>
        </p:spPr>
      </p:sp>
      <p:pic>
        <p:nvPicPr>
          <p:cNvPr id="18" name="Image 1" descr="Lightni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00750" y="3513737"/>
            <a:ext cx="190500" cy="1905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654569" y="3875687"/>
            <a:ext cx="88282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Agent Mode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727825" y="2721821"/>
            <a:ext cx="4440484" cy="1847991"/>
          </a:xfrm>
          <a:prstGeom prst="roundRect">
            <a:avLst>
              <a:gd name="adj" fmla="val 5326"/>
            </a:avLst>
          </a:prstGeom>
          <a:solidFill>
            <a:srgbClr val="FFFFFF"/>
          </a:solidFill>
          <a:ln w="6350">
            <a:solidFill>
              <a:srgbClr val="F2B705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6932366" y="2926362"/>
            <a:ext cx="415234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50" kern="0" dirty="0">
                <a:solidFill>
                  <a:srgbClr val="8A61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DESPUÉS · CORTE AGO-2026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932366" y="3203223"/>
            <a:ext cx="415234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Ratio 30 · perfil Rechazado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6932366" y="3480082"/>
            <a:ext cx="4152346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27,3%</a:t>
            </a:r>
            <a:endParaRPr lang="en-US" sz="3800" dirty="0"/>
          </a:p>
        </p:txBody>
      </p:sp>
      <p:sp>
        <p:nvSpPr>
          <p:cNvPr id="24" name="Shape 20"/>
          <p:cNvSpPr/>
          <p:nvPr/>
        </p:nvSpPr>
        <p:spPr>
          <a:xfrm>
            <a:off x="6932366" y="4050312"/>
            <a:ext cx="2073169" cy="314960"/>
          </a:xfrm>
          <a:prstGeom prst="roundRect">
            <a:avLst>
              <a:gd name="adj" fmla="val 50000"/>
            </a:avLst>
          </a:prstGeom>
          <a:solidFill>
            <a:srgbClr val="DCF5E3"/>
          </a:solidFill>
          <a:ln/>
        </p:spPr>
      </p:sp>
      <p:sp>
        <p:nvSpPr>
          <p:cNvPr id="25" name="Text 21"/>
          <p:cNvSpPr/>
          <p:nvPr/>
        </p:nvSpPr>
        <p:spPr>
          <a:xfrm>
            <a:off x="7072066" y="4101112"/>
            <a:ext cx="184758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7A4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Generado por Agent Mode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812800" y="4907704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Aplicable hoy en: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812800" y="5197264"/>
            <a:ext cx="4019197" cy="391160"/>
          </a:xfrm>
          <a:prstGeom prst="roundRect">
            <a:avLst>
              <a:gd name="adj" fmla="val 19481"/>
            </a:avLst>
          </a:prstGeom>
          <a:solidFill>
            <a:srgbClr val="F2F4F7"/>
          </a:solidFill>
          <a:ln/>
        </p:spPr>
      </p:sp>
      <p:sp>
        <p:nvSpPr>
          <p:cNvPr id="28" name="Text 24"/>
          <p:cNvSpPr/>
          <p:nvPr/>
        </p:nvSpPr>
        <p:spPr>
          <a:xfrm>
            <a:off x="990600" y="5286164"/>
            <a:ext cx="377350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Monitoreo del Perfil de Riesgo — Preciso · Micro · PES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4933597" y="5197264"/>
            <a:ext cx="3514831" cy="391160"/>
          </a:xfrm>
          <a:prstGeom prst="roundRect">
            <a:avLst>
              <a:gd name="adj" fmla="val 19481"/>
            </a:avLst>
          </a:prstGeom>
          <a:solidFill>
            <a:srgbClr val="F2F4F7"/>
          </a:solidFill>
          <a:ln/>
        </p:spPr>
      </p:sp>
      <p:sp>
        <p:nvSpPr>
          <p:cNvPr id="30" name="Text 26"/>
          <p:cNvSpPr/>
          <p:nvPr/>
        </p:nvSpPr>
        <p:spPr>
          <a:xfrm>
            <a:off x="5111397" y="5286164"/>
            <a:ext cx="325400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Comparación entre corridas — Cartera vencida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812800" y="6238239"/>
            <a:ext cx="169506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B98A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CDCC · Banco Pichincha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11069391" y="6238239"/>
            <a:ext cx="36060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B98A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/ 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6B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VENTAJA 4 · MONITOREO DE PERFIL INDIVIDUAL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53161"/>
            <a:ext cx="10464800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dirty="0">
                <a:solidFill>
                  <a:srgbClr val="0B1E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justificar caso por caso a entender el patrón agregado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12800" y="1659889"/>
            <a:ext cx="1046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Cargas las bases de clientes deteriorados y la plataforma entrega un resumen visual agregado — tú interpretas el hallazgo.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15975" y="2012314"/>
            <a:ext cx="10560050" cy="2965732"/>
          </a:xfrm>
          <a:prstGeom prst="roundRect">
            <a:avLst>
              <a:gd name="adj" fmla="val 5032"/>
            </a:avLst>
          </a:prstGeom>
          <a:solidFill>
            <a:srgbClr val="F2F4F7"/>
          </a:solidFill>
          <a:ln w="6350">
            <a:solidFill>
              <a:srgbClr val="E3E6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0516" y="2216857"/>
            <a:ext cx="1045549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Archivos de entrada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23691" y="2509593"/>
            <a:ext cx="2924951" cy="368441"/>
          </a:xfrm>
          <a:prstGeom prst="roundRect">
            <a:avLst>
              <a:gd name="adj" fmla="val 16373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</p:spPr>
      </p:sp>
      <p:pic>
        <p:nvPicPr>
          <p:cNvPr id="8" name="Image 0" descr="Databa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52031" y="2604911"/>
            <a:ext cx="177800" cy="177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93331" y="2587132"/>
            <a:ext cx="249977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clientes_deteriorados_ago2026.xlsx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031192" y="2509593"/>
            <a:ext cx="1755140" cy="368441"/>
          </a:xfrm>
          <a:prstGeom prst="roundRect">
            <a:avLst>
              <a:gd name="adj" fmla="val 16373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</p:spPr>
      </p:sp>
      <p:pic>
        <p:nvPicPr>
          <p:cNvPr id="11" name="Image 1" descr="Databas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59532" y="2604911"/>
            <a:ext cx="177800" cy="177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00832" y="2587132"/>
            <a:ext cx="130795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variables_buro.csv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868882" y="2509593"/>
            <a:ext cx="1724872" cy="368441"/>
          </a:xfrm>
          <a:prstGeom prst="roundRect">
            <a:avLst>
              <a:gd name="adj" fmla="val 16373"/>
            </a:avLst>
          </a:prstGeom>
          <a:solidFill>
            <a:srgbClr val="FFFFFF"/>
          </a:solidFill>
          <a:ln w="6350">
            <a:solidFill>
              <a:srgbClr val="E3E6E4"/>
            </a:solidFill>
            <a:prstDash val="solid"/>
          </a:ln>
        </p:spPr>
      </p:sp>
      <p:pic>
        <p:nvPicPr>
          <p:cNvPr id="14" name="Image 2" descr="Databas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97222" y="2604911"/>
            <a:ext cx="177800" cy="1778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38522" y="2587132"/>
            <a:ext cx="127769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score_interno.xlsx</a:t>
            </a:r>
            <a:endParaRPr lang="en-US" sz="1200" dirty="0"/>
          </a:p>
        </p:txBody>
      </p:sp>
      <p:pic>
        <p:nvPicPr>
          <p:cNvPr id="16" name="Image 3" descr="arrow-down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146162" y="3008207"/>
            <a:ext cx="139700" cy="2540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387462" y="3028528"/>
            <a:ext cx="376809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IA agrupa las variables más comunes del deterioro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020516" y="3389207"/>
            <a:ext cx="1045549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Resumen agregado — variables más frecuentes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1020516" y="3691468"/>
            <a:ext cx="27470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Vive con familiares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789116" y="3691468"/>
            <a:ext cx="5080000" cy="152400"/>
          </a:xfrm>
          <a:prstGeom prst="roundRect">
            <a:avLst>
              <a:gd name="adj" fmla="val 33333"/>
            </a:avLst>
          </a:prstGeom>
          <a:solidFill>
            <a:srgbClr val="E3E6E4"/>
          </a:solidFill>
          <a:ln/>
        </p:spPr>
      </p:sp>
      <p:sp>
        <p:nvSpPr>
          <p:cNvPr id="21" name="Shape 15"/>
          <p:cNvSpPr/>
          <p:nvPr/>
        </p:nvSpPr>
        <p:spPr>
          <a:xfrm>
            <a:off x="3789116" y="3691468"/>
            <a:ext cx="3098800" cy="152400"/>
          </a:xfrm>
          <a:prstGeom prst="roundRect">
            <a:avLst>
              <a:gd name="adj" fmla="val 33333"/>
            </a:avLst>
          </a:prstGeom>
          <a:solidFill>
            <a:srgbClr val="0B1E3D"/>
          </a:solidFill>
          <a:ln/>
        </p:spPr>
      </p:sp>
      <p:sp>
        <p:nvSpPr>
          <p:cNvPr id="22" name="Text 16"/>
          <p:cNvSpPr/>
          <p:nvPr/>
        </p:nvSpPr>
        <p:spPr>
          <a:xfrm>
            <a:off x="8919916" y="3691468"/>
            <a:ext cx="558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61%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1020516" y="3981028"/>
            <a:ext cx="27470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Mora reciente en otro comercio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3789116" y="3981028"/>
            <a:ext cx="5080000" cy="152400"/>
          </a:xfrm>
          <a:prstGeom prst="roundRect">
            <a:avLst>
              <a:gd name="adj" fmla="val 33333"/>
            </a:avLst>
          </a:prstGeom>
          <a:solidFill>
            <a:srgbClr val="E3E6E4"/>
          </a:solidFill>
          <a:ln/>
        </p:spPr>
      </p:sp>
      <p:sp>
        <p:nvSpPr>
          <p:cNvPr id="25" name="Shape 19"/>
          <p:cNvSpPr/>
          <p:nvPr/>
        </p:nvSpPr>
        <p:spPr>
          <a:xfrm>
            <a:off x="3789116" y="3981028"/>
            <a:ext cx="2438400" cy="152400"/>
          </a:xfrm>
          <a:prstGeom prst="roundRect">
            <a:avLst>
              <a:gd name="adj" fmla="val 33333"/>
            </a:avLst>
          </a:prstGeom>
          <a:solidFill>
            <a:srgbClr val="0B1E3D"/>
          </a:solidFill>
          <a:ln/>
        </p:spPr>
      </p:sp>
      <p:sp>
        <p:nvSpPr>
          <p:cNvPr id="26" name="Text 20"/>
          <p:cNvSpPr/>
          <p:nvPr/>
        </p:nvSpPr>
        <p:spPr>
          <a:xfrm>
            <a:off x="8919916" y="3981028"/>
            <a:ext cx="558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48%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1020516" y="4270589"/>
            <a:ext cx="27470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Saldo bajo en cuentas del pasivo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3789116" y="4270589"/>
            <a:ext cx="5080000" cy="152400"/>
          </a:xfrm>
          <a:prstGeom prst="roundRect">
            <a:avLst>
              <a:gd name="adj" fmla="val 33333"/>
            </a:avLst>
          </a:prstGeom>
          <a:solidFill>
            <a:srgbClr val="E3E6E4"/>
          </a:solidFill>
          <a:ln/>
        </p:spPr>
      </p:sp>
      <p:sp>
        <p:nvSpPr>
          <p:cNvPr id="29" name="Shape 23"/>
          <p:cNvSpPr/>
          <p:nvPr/>
        </p:nvSpPr>
        <p:spPr>
          <a:xfrm>
            <a:off x="3789116" y="4270589"/>
            <a:ext cx="1981200" cy="152400"/>
          </a:xfrm>
          <a:prstGeom prst="roundRect">
            <a:avLst>
              <a:gd name="adj" fmla="val 33333"/>
            </a:avLst>
          </a:prstGeom>
          <a:solidFill>
            <a:srgbClr val="0B1E3D"/>
          </a:solidFill>
          <a:ln/>
        </p:spPr>
      </p:sp>
      <p:sp>
        <p:nvSpPr>
          <p:cNvPr id="30" name="Text 24"/>
          <p:cNvSpPr/>
          <p:nvPr/>
        </p:nvSpPr>
        <p:spPr>
          <a:xfrm>
            <a:off x="8919916" y="4270589"/>
            <a:ext cx="558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39%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1020516" y="4560146"/>
            <a:ext cx="27470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53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Estado civil soltero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3789116" y="4560146"/>
            <a:ext cx="5080000" cy="152400"/>
          </a:xfrm>
          <a:prstGeom prst="roundRect">
            <a:avLst>
              <a:gd name="adj" fmla="val 33333"/>
            </a:avLst>
          </a:prstGeom>
          <a:solidFill>
            <a:srgbClr val="E3E6E4"/>
          </a:solidFill>
          <a:ln/>
        </p:spPr>
      </p:sp>
      <p:sp>
        <p:nvSpPr>
          <p:cNvPr id="33" name="Shape 27"/>
          <p:cNvSpPr/>
          <p:nvPr/>
        </p:nvSpPr>
        <p:spPr>
          <a:xfrm>
            <a:off x="3789116" y="4560146"/>
            <a:ext cx="1676400" cy="152400"/>
          </a:xfrm>
          <a:prstGeom prst="roundRect">
            <a:avLst>
              <a:gd name="adj" fmla="val 33333"/>
            </a:avLst>
          </a:prstGeom>
          <a:solidFill>
            <a:srgbClr val="0B1E3D"/>
          </a:solidFill>
          <a:ln/>
        </p:spPr>
      </p:sp>
      <p:sp>
        <p:nvSpPr>
          <p:cNvPr id="34" name="Text 28"/>
          <p:cNvSpPr/>
          <p:nvPr/>
        </p:nvSpPr>
        <p:spPr>
          <a:xfrm>
            <a:off x="8919916" y="4560146"/>
            <a:ext cx="558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33%</a:t>
            </a:r>
            <a:endParaRPr lang="en-US" sz="1200" dirty="0"/>
          </a:p>
        </p:txBody>
      </p:sp>
      <p:sp>
        <p:nvSpPr>
          <p:cNvPr id="35" name="Text 29"/>
          <p:cNvSpPr/>
          <p:nvPr/>
        </p:nvSpPr>
        <p:spPr>
          <a:xfrm>
            <a:off x="812800" y="510822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B98A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Diseño y cifras ilustrativas — no corresponden a datos reales de clientes.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812800" y="6238239"/>
            <a:ext cx="169506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B98A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CDCC · Banco Pichincha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11069391" y="6238239"/>
            <a:ext cx="36060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B98A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/ 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B1E3D"/>
              </a:gs>
              <a:gs pos="100000">
                <a:srgbClr val="16335E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168656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PRÓXIMOS PASOS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12800" y="2204721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FBFBF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¿Por dónde empezamos?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12800" y="3012439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</p:sp>
      <p:sp>
        <p:nvSpPr>
          <p:cNvPr id="6" name="Text 4"/>
          <p:cNvSpPr/>
          <p:nvPr/>
        </p:nvSpPr>
        <p:spPr>
          <a:xfrm>
            <a:off x="939588" y="3065782"/>
            <a:ext cx="152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20800" y="3065782"/>
            <a:ext cx="39407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4E9F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Activar Copilot Premium para el equipo de CDCC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3545839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</p:sp>
      <p:sp>
        <p:nvSpPr>
          <p:cNvPr id="9" name="Text 7"/>
          <p:cNvSpPr/>
          <p:nvPr/>
        </p:nvSpPr>
        <p:spPr>
          <a:xfrm>
            <a:off x="939588" y="3599182"/>
            <a:ext cx="152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20800" y="3599182"/>
            <a:ext cx="39269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4E9F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Definir el alcance del piloto de alertas unificadas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4079239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</p:sp>
      <p:sp>
        <p:nvSpPr>
          <p:cNvPr id="12" name="Text 10"/>
          <p:cNvSpPr/>
          <p:nvPr/>
        </p:nvSpPr>
        <p:spPr>
          <a:xfrm>
            <a:off x="939588" y="4132582"/>
            <a:ext cx="152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20800" y="4132582"/>
            <a:ext cx="37770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4E9F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Probar Agent Mode en un tablero mensual real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2800" y="4612642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</p:sp>
      <p:sp>
        <p:nvSpPr>
          <p:cNvPr id="15" name="Text 13"/>
          <p:cNvSpPr/>
          <p:nvPr/>
        </p:nvSpPr>
        <p:spPr>
          <a:xfrm>
            <a:off x="939588" y="4665982"/>
            <a:ext cx="152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B1E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20800" y="4665982"/>
            <a:ext cx="52122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4E9F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Explorar un primer prototipo en Python para el análisis agregado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42"/>
            <a:ext cx="169506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FA0B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CDCC · Banco Pichincha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069391" y="6238242"/>
            <a:ext cx="36060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FA0B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/ 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 en Nuestros Procesos — CDCC</dc:title>
  <dc:subject>PptxGenJS Presentation</dc:subject>
  <dc:creator>PptxGenJS</dc:creator>
  <cp:lastModifiedBy>PptxGenJS</cp:lastModifiedBy>
  <cp:revision>1</cp:revision>
  <dcterms:created xsi:type="dcterms:W3CDTF">2026-09-21T05:24:27Z</dcterms:created>
  <dcterms:modified xsi:type="dcterms:W3CDTF">2026-09-21T05:24:27Z</dcterms:modified>
</cp:coreProperties>
</file>